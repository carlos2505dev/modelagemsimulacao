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51" r:id="rId1"/>
  </p:sldMasterIdLst>
  <p:notesMasterIdLst>
    <p:notesMasterId r:id="rId21"/>
  </p:notesMasterIdLst>
  <p:sldIdLst>
    <p:sldId id="270" r:id="rId2"/>
    <p:sldId id="370" r:id="rId3"/>
    <p:sldId id="392" r:id="rId4"/>
    <p:sldId id="395" r:id="rId5"/>
    <p:sldId id="396" r:id="rId6"/>
    <p:sldId id="404" r:id="rId7"/>
    <p:sldId id="397" r:id="rId8"/>
    <p:sldId id="403" r:id="rId9"/>
    <p:sldId id="398" r:id="rId10"/>
    <p:sldId id="376" r:id="rId11"/>
    <p:sldId id="378" r:id="rId12"/>
    <p:sldId id="373" r:id="rId13"/>
    <p:sldId id="375" r:id="rId14"/>
    <p:sldId id="377" r:id="rId15"/>
    <p:sldId id="380" r:id="rId16"/>
    <p:sldId id="381" r:id="rId17"/>
    <p:sldId id="382" r:id="rId18"/>
    <p:sldId id="383" r:id="rId19"/>
    <p:sldId id="38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99"/>
    <a:srgbClr val="FF99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65" autoAdjust="0"/>
    <p:restoredTop sz="91571" autoAdjust="0"/>
  </p:normalViewPr>
  <p:slideViewPr>
    <p:cSldViewPr>
      <p:cViewPr varScale="1">
        <p:scale>
          <a:sx n="75" d="100"/>
          <a:sy n="75" d="100"/>
        </p:scale>
        <p:origin x="123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6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8-22T12:00:15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11733 13047 0,'24'0'62,"1"0"-46,0 0 0,0 50-1,0-25 1,-25 24 0,24 1-1,-24 0 1,25-1-1,-25-24 1,0 25 15,25-26-15,-25 1 0,0 0-1,0 0-15,0 0 31,25-1 173,24-24-189,-24-49 1,25 24-1,-25-25 1,-1 1 0,1-1 15,0 1-15,-25 24-1,50-25 1,-50 0-16,49 1 15,-24-1 1,0 25 31,0 1-31,-25-1-1,0 0 1,-50 0 93,25 25-109</inkml:trace>
  <inkml:trace contextRef="#ctx0" brushRef="#br0" timeOffset="1579.23">11832 14312 0,'25'0'79,"-25"25"-48,0 25-16,0-25 1,0 24 0,0 1-1,0-25 1,0-1-16,0 1 16,0 0-1,0 25 1,0-26-1,0 1 1,0 0 15,0 0 16,0 0 63,0-1-79,0 1 16,24 74-32,1-24 1,-25-26 0,0-24-16,0-50 218,-49-24-202,24-26-16</inkml:trace>
  <inkml:trace contextRef="#ctx0" brushRef="#br0" timeOffset="2941.98">11881 14287 0,'0'25'32,"25"-25"-17,0 25 1,49-25 15,-24 0-15,0 0-1,-26 0 1,1 0 15,25 0-15</inkml:trace>
  <inkml:trace contextRef="#ctx0" brushRef="#br0" timeOffset="3912.72">11857 14610 0,'0'25'62,"24"-25"-31,51 0-15,-1 0 0,-24 0-1,-25 0 1,-1 0-1,1 0 79,50 25-63,-50-25 1,-50 0 77</inkml:trace>
  <inkml:trace contextRef="#ctx0" brushRef="#br0" timeOffset="6028.99">11633 15825 0,'0'0'0,"25"0"32,0 25-1,0 0-16,-25 0-15,25-25 16,-25 25-16,0-1 16,24 26-1,-24-25 17,25 24 46,0-49-47,25-24 266,-1-26-282,1-49 1,-25 24 0,24 26-1,-24-1 1,-25 25 0,25 1 30,0-51-30,-1 75 15,-48-49 172</inkml:trace>
  <inkml:trace contextRef="#ctx0" brushRef="#br0" timeOffset="8006.14">11757 16718 0,'25'0'63,"-25"25"-1,0 0-46,0 0 15,0 0-15,25 24 15,-25-24 0,0 0-15,0 0-1,0-1 1,0 1 15,0 0 1,0 0-1,0 0-16,0-1 1,0 1 15,0 25 1,0-25 30,0-1 32,0 1-79,0 0 110,0 0 110,0-50-220,0 0-15</inkml:trace>
  <inkml:trace contextRef="#ctx0" brushRef="#br0" timeOffset="9078.66">11807 16743 0,'0'0'0,"25"0"32,24 0-1,26 0 0,-50 0-15,24 0-1,1-25 1,-25 25 15,-1 0-15,1 0 0,0 0-1,0 0 1,0 0 15,24 0-15,-24 0-1,0 0 79,-25-24-63,-50-26-15,1 50-16</inkml:trace>
  <inkml:trace contextRef="#ctx0" brushRef="#br0" timeOffset="10212.39">11807 17066 0,'25'0'31,"24"0"16,-24 0-32,25 24 1,-25-24 15,-1 0-15,1 0-1,0 0 1,0 0 0,24 0-1,-24 0-15,0 0 16,0 0 78,0 0 31,-75-49-110,-24-1 1</inkml:trace>
  <inkml:trace contextRef="#ctx0" brushRef="#br0" timeOffset="13845.62">9996 13122 0,'0'24'78,"0"1"-62,25 25 0,0 24-1,0-74-15,-25 25 32,25 25-17,-25-1 63,49 1-46,-24-25 46,-25 0-47,25-1-15,-25 1-1,25-25 188,24-99-171,1 0-1,-50 74-16,49 0 1,-49 0 15,0-49 16,0 49-31,0 0 15,25 0 0,-25-24-15,0 24 109,0 0-109</inkml:trace>
  <inkml:trace contextRef="#ctx0" brushRef="#br0" timeOffset="15389.29">9947 14312 0,'49'0'15,"-24"50"1,-25 0-16,25-50 16,-25 49-1,25-24 1,-25 0-16,25 24 15,-1 51 1,1-100 0,-25 49 15,0-24 16,50-75 187,-1-24-218,-24 0-16,25 24 15,-25 0-15,24 1 16,-24-51 0,25 76-16,-50-26 15,24 25 1</inkml:trace>
  <inkml:trace contextRef="#ctx0" brushRef="#br0" timeOffset="16900.32">9996 15627 0,'0'25'78,"0"24"-46,0 26-1,0 49 0,0-50 0,0-49-15,0 0 46,0 24-30,0-24-1,25 25 141,-50-75 109</inkml:trace>
  <inkml:trace contextRef="#ctx0" brushRef="#br0" timeOffset="17928.09">10021 15701 0,'25'0'15,"0"0"17,0 0-17,24 0 17,-24 0-17,25 0 1,-26 0-1,1 0 1,0 0 0,0 0 93,-25-24 16</inkml:trace>
  <inkml:trace contextRef="#ctx0" brushRef="#br0" timeOffset="19157.09">10021 15999 0,'25'0'47,"49"0"-16,-49 0-15,0 0-1,25 0 1,-26 0 31,26 25-32,-25-25 79</inkml:trace>
  <inkml:trace contextRef="#ctx0" brushRef="#br0" timeOffset="20598.72">10071 16818 0,'0'0'0,"49"49"62,-49 1-31,0 24 1,25-24-1,-25-25-16,0-1 1,0 26 0,0-25-1,0 24 1</inkml:trace>
  <inkml:trace contextRef="#ctx0" brushRef="#br0" timeOffset="21661.29">10145 16842 0,'25'0'31,"0"0"0,24 0 0,100-49 1,-124 49-17,0 0 1,0 0-16,-1 0 15,1-25 235,-50 25-234,25-25-16</inkml:trace>
  <inkml:trace contextRef="#ctx0" brushRef="#br0" timeOffset="23261.75">10170 17115 0,'25'0'125,"24"0"-79,1 0-30,-25 0 31,0 0-16,-1 0 32,1 0-32,0 0 16,0 0-32,0 0-15,-25-25 235,-25 1-220</inkml:trace>
  <inkml:trace contextRef="#ctx0" brushRef="#br0" timeOffset="24844.85">10170 17190 0,'0'24'109,"0"1"-77,0 0 108,0 0-93,0 0 125,0-1 203,-25-24-359,0 0-1</inkml:trace>
  <inkml:trace contextRef="#ctx0" brushRef="#br0" timeOffset="29733.83">13816 12948 0,'0'0'0,"0"25"78,0 24-31,0-24-16,0 0-15,0 25 0,0-26 15,0 1-15,0 25 15,0-25 0,0 0-15,0-1-1,0 1 1,0 0-16,0 0 16,0 0 15,0-1-16,0 1 17,0 0 77,0 0-62</inkml:trace>
  <inkml:trace contextRef="#ctx0" brushRef="#br0" timeOffset="30757.38">13841 12874 0,'25'0'32,"24"0"-17,1 0 1,0 0 0,-26 0-1,51 24 1,-26-24-1,1 0-15,74 0 16,-99 0 0,0 0-1</inkml:trace>
  <inkml:trace contextRef="#ctx0" brushRef="#br0" timeOffset="31612.43">13866 13196 0,'49'25'31,"51"-25"1,-51 25-1,-24 0-16,0-25-15,0 0 16,-1 0 0,1 0-1,0 0 1</inkml:trace>
  <inkml:trace contextRef="#ctx0" brushRef="#br0" timeOffset="33534.11">13692 14461 0,'25'0'63,"0"50"-48,-25-25-15,49 24 16,1 1-1,0 24 1,-50-24 0,24-25 15,1-1 63,25-24 156,-25-99-219,-1 50-31,1 24 31,0-50-15,-25 51-16,25-1 15,-25-25-15,25 25 16,-25 1-16,24-26 16,-24 25-1,0 0-15</inkml:trace>
  <inkml:trace contextRef="#ctx0" brushRef="#br0" timeOffset="36346.55">13717 15577 0,'0'0'0,"25"50"47,-25-25-16,0 0-15,0 24 0,0-24-1,0 25 1,0-26 0,0 1-1,0 0 16,0 25 1,0-26 30,0 1-46,0 0-1,0 0 1,0 0 109,0-1-94,0 1 32,0-50 140,0 1-203</inkml:trace>
  <inkml:trace contextRef="#ctx0" brushRef="#br0" timeOffset="37455.48">13767 15528 0,'0'25'31,"49"-25"-16,1 0 1,-25 0 0,24 0-1,50 0 1,-74 0 0,25 0-1,-25 0 1,24 0 15,-24 0-15,-50 0 140,0 0-156</inkml:trace>
  <inkml:trace contextRef="#ctx0" brushRef="#br0" timeOffset="38611.61">13717 15801 0,'0'24'31,"50"-24"-15,-1 0-1,-24 0 1,0 0 15,24 0 1,-24 0-17,25 0 1,-25 0 46,24 0-46,1 25 0,-25-25-1,-1 0 1,-48 0 93</inkml:trace>
  <inkml:trace contextRef="#ctx0" brushRef="#br0" timeOffset="40293.85">13618 16793 0,'25'0'63,"-1"49"-48,1 1 1,0-25 15,0 0-31,0 24 31,-25-24 1,49 25-17,-49-26 1,25-24 0,-25 50-1,25-50 282,-25-50-250,49-49-16,-49 50-15,50-1-1,-50 25 1,0 0 0,0 1 15,50 24 31,-1-124-46,26 24 0,-26 26-1,-49 49 17,0 0 155,0 1-171</inkml:trace>
  <inkml:trace contextRef="#ctx0" brushRef="#br0" timeOffset="43782.35">15726 13072 0,'0'50'31,"0"-26"-15,0 1-1,0 0 1,0 0 0,0 25 46,0-26-31,0 1-31,0 0 32,0 0-17,0 0 1,0-1-1,0 1 64,0 0-64,0 0 1,0 0 93</inkml:trace>
  <inkml:trace contextRef="#ctx0" brushRef="#br0" timeOffset="44883.91">15776 13072 0,'25'0'16,"-1"0"0,26 0 46,0 0 1,-26 0-32,1 0 94</inkml:trace>
  <inkml:trace contextRef="#ctx0" brushRef="#br0" timeOffset="45720.63">15751 13419 0,'50'0'31,"24"0"0,0 0 0,-49 0-15,50 0 0,-26 0 15,-49 50 110,-25-50-141</inkml:trace>
  <inkml:trace contextRef="#ctx0" brushRef="#br0" timeOffset="46659.68">15701 14436 0,'0'75'16,"0"-26"0,25-24-1,-25 0 1,0 0-1,0 0 1,0-1 15,0 1 1,0 25-17,0-25 1,0 24-1,0-24 17,0 0 15,0 0-32,0 24 1</inkml:trace>
  <inkml:trace contextRef="#ctx0" brushRef="#br0" timeOffset="47518.66">15776 14436 0,'25'0'32,"-1"0"-17,26 0 1,-25 0-1,49 0 1,-24 0 0,-1 0-1,-24 0 1</inkml:trace>
  <inkml:trace contextRef="#ctx0" brushRef="#br0" timeOffset="48643.14">15751 14784 0,'50'0'78,"-26"0"-63,1 0-15,0 0 16,0 0 0,24 0-16,-49-25 15,25 25 16,0 0 126,99 0-110,-25-25-32,-124 25 141</inkml:trace>
  <inkml:trace contextRef="#ctx0" brushRef="#br0" timeOffset="50117.42">15652 15652 0,'0'25'47,"74"49"-16,-49-24-31,25 24 31,-50-49-15,0 0 0,24 24-1,1 1 1,0-1 0,-25-24 15,25-50 172,-25-49-187,49-50-1,-24 50 1,0 24-16,0-24 31,0 49-15,-25 0-16,0 0 15,74-99 142,-74 99-142,0 1 1,0-1-1</inkml:trace>
  <inkml:trace contextRef="#ctx0" brushRef="#br0" timeOffset="51662.57">15701 16966 0,'0'0'0,"25"50"16,0 0-1,0-1-15,0-24 32,-1 0-17,-24 0 1,0-1 31,50-24 359,24-124-375,1 0 1,-75 100-17,49-26 1,-24 25-1,0-49 110,0 49-109,-25 0 0,0-24 93,-50-1-93</inkml:trace>
  <inkml:trace contextRef="#ctx0" brushRef="#br0" timeOffset="57318.78">15776 13469 0,'-25'0'250,"25"25"266,0 0-470,0-1 48,0 1-47,25 0 47,-25 0-47,0 0-32,0-1 142,0 1-48,0 0-62</inkml:trace>
  <inkml:trace contextRef="#ctx0" brushRef="#br0" timeOffset="66325.7">17760 12973 0,'0'25'188,"0"-1"-172,0 1 15,25 25-16,0-1 1,0-24 0,-25 0-1,24 25 17,-24-1 14,25-49-30,0 50 47,-25 0 124,0-26-156,0 1-15,25 0 0,-25 0 234,49-50-235,-49-25 16,0 26-15,25-1-16,-25 0 31,25 0-15,-25 0 0,0-24 15,25 24 0,-25 0-15,0 0-1,25 0 95,-1-24-95,1 49 1,-25-25 0,0 0 46,0-24 204,-25 49-251,1 0 1</inkml:trace>
  <inkml:trace contextRef="#ctx0" brushRef="#br0" timeOffset="69642.53">17859 14362 0,'0'50'125,"0"-26"-109,0 1-1,0 0 1,0 0-16,0 0 16,0-1-1,0 26 1,0-25 0,0 0 15,0 24 0,0-24 47,0 0-47,0 24-15,0-24 0,0 0 93</inkml:trace>
  <inkml:trace contextRef="#ctx0" brushRef="#br0" timeOffset="70612.64">17859 14436 0,'25'0'31,"50"0"0,-51 0-15,26-24-1,0 24 1,-1 0 0,-24 0-1</inkml:trace>
  <inkml:trace contextRef="#ctx0" brushRef="#br0" timeOffset="71468.69">17909 14660 0,'0'0'16,"25"0"0,0 0-1,-1 0-15,1 0 32,74 0-17,-24 0-15,24 0 16,-25 0-1,-49 0 1</inkml:trace>
  <inkml:trace contextRef="#ctx0" brushRef="#br0" timeOffset="75436.87">17636 15652 0,'0'25'94,"50"49"-63,-25 0 16,-1-74-32,-24 25 1,25 0 0,-25 0 77,25 0-77,0 24 62,0-24-62,-25 0 15,0 0-15,24-25 218,1-50-218,-25 25-1,50-49 1,-1 49 0,-49-25-1,25 50-15,-25-24 63,0-1-16,25 0-16,0 25-16,0-74 1,24 24 0,1 0-1,-25 26 17,-25-1-17,24 25-15,-24-25 31,0 0 141</inkml:trace>
  <inkml:trace contextRef="#ctx0" brushRef="#br0" timeOffset="79358.82">17686 16793 0,'-25'25'125,"50"24"-62,0-24-32,-25 0 0,24 0-15,-24-1 15,0 1-15,25 0-1,0 0 1,-25 0-1,0-1 1,25 1-16,0 0 328,-25 0-281,0 0-31,0-1-1,24-24 251,1 0-219,-25-49-16,25-1-15,-25 1 31,25-1-16,0 50-16,-25-25 1,24-24 0,1-26 31,0 1-16,-25 49-16,25 0 126,-25-24 31,0 24-156,0-25-1</inkml:trace>
  <inkml:trace contextRef="#ctx0" brushRef="#br0" timeOffset="89124.46">19670 13022 0,'50'0'141,"-50"50"-94,25-25-32,-1 0 1,-24 49 0,25-49 15,0 0-31,-25 24 31,25-24 0,-25 0 1,0 0-17,25 0 1,-1-1 15,-24 26-15,25 0-1,25-1 17,-1-148 296,-24 49-313,-25 1 1,0 24 15,25 25 32,0-50-48,0 26 1,-25-1 140,24-25-140,-24 0 343,-24 26-359</inkml:trace>
  <inkml:trace contextRef="#ctx0" brushRef="#br0" timeOffset="93340.83">19869 14213 0,'24'0'187,"-24"25"-171,0 0-16,0-1 15,0 1-15,0 25 32,0-25-17,0 0 16,0 24 32,0 1-32,0-25 0,0-1-15,0 1 62,0 0-62,25 0-1,-25 24 142,25-24-126,-25 25 94,0-25-109,0-1 30,-25-24 142,0-24-172</inkml:trace>
  <inkml:trace contextRef="#ctx0" brushRef="#br0" timeOffset="94701.09">19869 14238 0,'24'0'16,"26"0"0,-25 0 46,0 0-15,-1 0-31,1 0-1,0 25 1,0-25 0,0 0 30</inkml:trace>
  <inkml:trace contextRef="#ctx0" brushRef="#br0" timeOffset="95630.03">19918 14536 0,'25'0'78,"25"0"-46,24 0-1,-24 0 0,-26 0 0,1 0-15</inkml:trace>
  <inkml:trace contextRef="#ctx0" brushRef="#br0" timeOffset="100954.23">19720 15701 0,'25'-24'62,"-1"24"1,1 24-16,0 26-16,0-25 0,-25 24-15,25-24-1,-25 0 1,24 25 15,1-26 0,-25 1 1,0 0 30,0 0-46,25-25-1,-25 25 1,25-25 15,0 24 32,-1-24 281,1-49-298,0 24-30,-25 0 0,0 0-1,0 1 1,25-26 46,24-24-30,1 24-17,-25 0 48,0-24-32,-1 24-15,-24 26-1,0-1 48</inkml:trace>
  <inkml:trace contextRef="#ctx0" brushRef="#br0" timeOffset="105313.02">19720 16842 0,'0'25'266,"25"-25"-250,-1 25 15,1 25 0,0-26 0,0 26 32,0-25-32,-25 0 0,24-1 63,1 26-78,-25-25 62,50 0-47,-50-1 0,25-24 266,-25-24-281,24-1 0,1 0-1,0 0 1,-25 0 46,25 1 16,0-26-46,-1 0-17,26-24 1,0 24 0,-26 26-1,-24-1 1</inkml:trace>
  <inkml:trace contextRef="#ctx0" brushRef="#br0" timeOffset="118133.74">18976 13295 0,'24'0'125,"1"0"-109,50 0 15,-51 0-15,1 0-1,0 0 17,0 0 280,0 0-296,-1 0-1,1 0 313</inkml:trace>
  <inkml:trace contextRef="#ctx0" brushRef="#br0" timeOffset="139054.78">19224 13171 0,'0'25'171,"0"0"-108,24-25-47,1 0-1,0 0 16,-25 25 251,25-25-251,24 49 250,-24-49-265,0 25 15,0-25-15,-25 25 234,-25-25-203,0 25-16,0-25 0,1 0 0,-1 0 313,-74-25-328</inkml:trace>
  <inkml:trace contextRef="#ctx0" brushRef="#br0" timeOffset="141938.37">18876 13221 0,'0'25'266,"-24"0"-157,-1-1-31,0-24-47,25 25 407,0 0-407,25 0 0,0-25 1,-25 25-1,24-25 234,26 24-233,-75-48 358</inkml:trace>
  <inkml:trace contextRef="#ctx0" brushRef="#br0" timeOffset="146805.78">23589 13097 0,'25'0'94,"25"0"-48,-1 0-30,-24 25 0,25 49-1,-1-74 1,-24 25 171,-25 0-140,50 49 328,-25-24-172,24-25-124,-24-25-64,-25 24 79,50 1-78,-26-25 312,-24-25-297,25-24 0,-25 24-15,25-25-1,0 50 1,0-49 0,-25-1-1,24 0-15,-24 26 16,25 24 15,0-25 0,-25-25-15,0 25 31,25 1-31,0-1-1,-1 0 1,-24-25 171,25 26-155,0-26-17,-25 0 313</inkml:trace>
  <inkml:trace contextRef="#ctx0" brushRef="#br0" timeOffset="149639.07">18901 14560 0,'0'-24'78,"25"24"-15,0 0-32,0 0-15,-1 0 15,1 0-16,25 0 32,-25 0 16,-1 0-32,1 0 16,0 0-16,25 0-15,24 0 281,0 0-266,-74-25 250,-24 0-265,-1 25-1</inkml:trace>
  <inkml:trace contextRef="#ctx0" brushRef="#br0" timeOffset="152105.53">19323 14486 0,'0'-25'78,"25"25"-31,-1 0-32,1 25 220,0-25-204,0 25 375,-25 0 32,-25-1-360,0-24-16,0 25 1,1 0 31,-1-25-79,0 0 454,-49 0-453</inkml:trace>
  <inkml:trace contextRef="#ctx0" brushRef="#br0" timeOffset="155471.51">18827 14511 0,'0'25'188,"-25"-1"-141,-25 1 15,26 0-15,24 0 219,49 0-219,1-25-16,-25 0-15,-1 0 30,1 0-30,0 0-16,0 0 16,-50-25 390,0 0-344,0-25-15,1 50-31,24-24 46,0-1 110,-25 0-31</inkml:trace>
  <inkml:trace contextRef="#ctx0" brushRef="#br0" timeOffset="157846.97">24135 14362 0,'74'50'125,"-49"-50"-109,-25 49 15,50-24-16,-25 0 17,-25 0-17,49 49 63,-24-74-62,25-124 359,-1 74-359,26-123 15,-75 123-15,24-24-1,1 49 1,-25 0-1,25 25 1,-25-25-16,0-24 16,25 24 15,-25 0 235</inkml:trace>
  <inkml:trace contextRef="#ctx0" brushRef="#br0" timeOffset="160837.31">18876 15825 0,'25'0'79,"25"0"-48,-25 0 0,49 0 16,-49 0-16,0 0-15,-1 0-16,1 0 31,0-24-15,0 24 93,0 0-46,-1 0-48,26 0 16,-25 0-15,0 0 234,-1 0 281,-24-25-515,-24 0 0</inkml:trace>
  <inkml:trace contextRef="#ctx0" brushRef="#br0" timeOffset="163137.26">19348 15751 0,'24'0'188,"-24"25"15,50-25-172,-25 0-15,-25 25 406,0 24-328,-25-24-79,25 0 48,0 0-32,-50-25 375,26 0-375,24-25-15,0 0 0,0-49-1,0 49 1,-25 0 15,25 0 47,-25 25-62,25-25-16,-25 1 172</inkml:trace>
  <inkml:trace contextRef="#ctx0" brushRef="#br0" timeOffset="166321.62">18901 15751 0,'-25'0'157,"1"0"-95,-1 25-15,25 0-16,-25-1 1,25 1 374,0 0-391,50 0 1,49-25 15,-50 74-15,1-74 0,-50-25 296,-50-99-265,26 75-31,24 24-1,0 0 1,0 0 15,-25 25 125</inkml:trace>
  <inkml:trace contextRef="#ctx0" brushRef="#br0" timeOffset="168437.52">24185 15726 0,'24'25'31,"76"25"1,-76-26-17,26 26 1,-25-25 15,24 0 297,51-174-296,-1 0-1,74-49 0,-48 49 0,-150 149 204,0 0-235</inkml:trace>
  <inkml:trace contextRef="#ctx0" brushRef="#br0" timeOffset="170718.31">18876 16966 0,'50'0'62,"-25"0"-30,24 0-1,-24 0 0,50 25 0,-51-25 1,1 0-17,0 0 17,0 0-17,0 0 1,24 0 15,-24 0-15,0 0 93,0 0-31</inkml:trace>
  <inkml:trace contextRef="#ctx0" brushRef="#br0" timeOffset="173586.56">19372 16917 0,'0'25'156,"0"-1"-125,0 1-15,-24 25 0,24-25 15,-25-1 375,25-48-375,0-51 1,0 50-1,0 1 0,0-1 78,49 25 204,-49 25-297,50-25-1,-25 24 48,0 26 171,-1-50-187,-24 25 172,-74 0-172,49-25 156,0 0-188,1 0 1</inkml:trace>
  <inkml:trace contextRef="#ctx0" brushRef="#br0" timeOffset="176920.33">18951 16867 0,'25'0'157,"-50"25"-110,0 25-32,0-50 16,0 0 32,1 24-16,24 1-32,-25-25-15,25 25 32,-25-25-17,0 0 48,50 50 343,0-50-390,0 0 15,-1 0 547,1 0-562</inkml:trace>
  <inkml:trace contextRef="#ctx0" brushRef="#br0" timeOffset="178992.99">24358 16718 0,'0'25'47,"25"0"-31,25-25 0,-1 50-1,26-26 1,-51 1-1,1-25-15,0 50 63,0-50-47,0 25 15,-1-1-16,-24 1 1,25 0 0,0-25 296,0-74-296,49-50-1,-24 49 1,0 1 0,-26 49 15,-73-25 250,24 1-265,0 49-16</inkml:trace>
  <inkml:trace contextRef="#ctx0" brushRef="#br0" timeOffset="-178867.28">14833 13395 0,'25'0'62,"0"24"16,0-24 16,24 0-47,1 25 0,-25-25-16,-1 0-15,1 0-16,-25 25 15,25-25 1,25 0-1,-26 0 1,26 0 187,-25 25-187,-50-25 249</inkml:trace>
  <inkml:trace contextRef="#ctx0" brushRef="#br0" timeOffset="-177610.91">15180 13370 0,'25'25'110,"0"-1"-79,0 1 0,24 0 0,26 25 63,-25-1-78,-26-24-1,-48 0 220,-1-25-220,0 0-15,0 0 157,0 0-142,0 0 48,1 0-48</inkml:trace>
  <inkml:trace contextRef="#ctx0" brushRef="#br0" timeOffset="-176614.05">14833 14511 0,'50'0'15,"-1"0"1,-24 0 0,25 0-1,-25 0 16,24 0-15,-24 0 0,49 0-1,1 0 1,-26 0 0,-24 0-1,-50 0 235,1 0-219</inkml:trace>
  <inkml:trace contextRef="#ctx0" brushRef="#br0" timeOffset="-174847.36">15230 14436 0,'25'0'172,"0"0"-156,-25 25-1,24-25 32,1 0 0,0 25 78,0 0-109,25 0 15,-75-25 250,0 49-249,0-49-17,0 0 1,0 0-1,1 0 32,-1 0 0,0 0 63,0 25-79</inkml:trace>
  <inkml:trace contextRef="#ctx0" brushRef="#br0" timeOffset="-172580.68">14858 15726 0,'50'0'62,"-26"0"32,26 0-16,-25 0-15,0 0 30,-1 0-46,26 0 156,-25 0-187,24 0 0,51 0-1,-76 0 1,26 0 0,-75 0 280,0-25-280,1 1 0</inkml:trace>
  <inkml:trace contextRef="#ctx0" brushRef="#br0" timeOffset="-171330.41">15280 15577 0,'0'0'0,"24"0"31,1 0 0,0 25-15,0-25 0,0 25-1,0 0 17,-25 0 233,0-1-234,-50 1 32,50 0-32,0 25-15,0-26-1,-25 1 64,-99-50 108</inkml:trace>
  <inkml:trace contextRef="#ctx0" brushRef="#br0" timeOffset="-169536.54">14858 16818 0,'0'24'47,"25"-24"0,0 0-32,-1 0 17,1 0-1,0 0-16,0 0 17,0 0-1,-1 0 0,1 0 0,0 0-15,0 0 47,0 0-48</inkml:trace>
  <inkml:trace contextRef="#ctx0" brushRef="#br0" timeOffset="-166797.48">15156 16793 0,'24'-25'0,"1"25"31,0 50 32,-25-26-32,25 1-16,-25 25 32,-25-75 313,25 0-329,0 0 78,0-24-93,50 49 390,24 49-375,-74-24 423,0 0-439,-25 49 1,0-74 15,25 25-31,-24 0 31,-76-25 329,76-50-345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8-22T12:09:38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28625 1563 0,'24'0'62,"125"0"1,-99 0-48,24 0 17,-49 0-17,49 0 16,-24 24 1,-25-24 61,-25 25 95,0 0-172,0 50-1,0 49 1,0 0 15,0-50-15,0-49-1,0 0 1,0-1 0,0 1-16,0 25 46,0-1-14,0 1-1,0 0 250,-50-50-265,25 0-1,1 24 17,-26-24 15,25 0-1,-49 0 1,49 0-47,-25 0 32,26 0 61,-1 0-30</inkml:trace>
  <inkml:trace contextRef="#ctx0" brushRef="#br0" timeOffset="1524.71">29096 1984 0,'-25'-24'141,"-25"24"-110,1 0-15,24 0 15,-49 0 0,49 0 16,0 0-16,-25 0 16,26 0-16,-1 0 235</inkml:trace>
  <inkml:trace contextRef="#ctx0" brushRef="#br0" timeOffset="4420.96">29394 1587 0,'0'25'109,"-25"-25"-93,0 25 0,25 0-1,0 0 1,0 0 15,0-1 0,-25 1 16,25 0-31,0 0 15,0 0-15,0 24 31,0-24 0,0 0-16,0 0-16,0-1 17,0 1-17,0 25 1,0-1 15,0-24-15,0 0-1,0 0 32,0 24-31,0-24 0,0 25 15,0-25-16,0-1 17,0 1-1,0 0 31,0 0-46,0 0 0</inkml:trace>
  <inkml:trace contextRef="#ctx0" brushRef="#br0" timeOffset="14933.81">30138 1612 0,'24'0'78,"1"0"-62,25 0 15,-25 0-15,0 0-16,74 0 31,-25 0-16,-24 0 17,-25 0-17,-1 0 63,1 75 126,-25-26-189,25 26 1,0-26-1,-25-24 64,0 50-64,0-51 16,0 26 32,0 0-47,0-1-1,0-24 48,0 25-32,0-26 16,0 26-32,0-25 32,0 0 94,0-1 62,-50 1-187,25-25 15,-24 0-15,-75 0 30,25 0-14,49 0-1,0 0-15,-24 0 30,24 0-30</inkml:trace>
  <inkml:trace contextRef="#ctx0" brushRef="#br0" timeOffset="16254.05">30683 2034 0,'-49'0'94,"-1"0"-63,25 0 0,1 0-15,-26 0 15,0 0-15,26 0 15,-26 0-16,0 0 17,26 0-17</inkml:trace>
  <inkml:trace contextRef="#ctx0" brushRef="#br0" timeOffset="17880.66">30559 1240 0,'0'50'93,"-49"24"-77,49-24 0,-25-25-1,0 24 1,25 1 15,-49 24-15,49 1 15,-25-50-15,-25 74-1,50-25 1,-25-24 15,-24 74-15,-1-25-1,25-25 17,25-24-17,-25 24 16,-24 26-15,24-26 15,0-24-15,0-1 0,1-24 234,-1 25-235,0-50 16,25 25 235,0-1-250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EC9847-B5C7-2314-B6FC-25A9A1607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B0934A-1C4D-3B12-B425-416AAB59F9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2790C5B-8BE6-4CFF-8159-7C167463C230}" type="datetimeFigureOut">
              <a:rPr lang="pt-BR"/>
              <a:pPr>
                <a:defRPr/>
              </a:pPr>
              <a:t>24/09/2026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1A3B241F-7E85-4060-B63B-7AC40BB1C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7D911E13-5EF7-445B-E132-9B21F1FC2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1DF57D-D09B-C9B4-977F-CA13347F5E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C03A0B-3A45-0F67-0295-090B027EA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20995AE-820C-440F-B4CC-1B8ACCAC6A62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4C69B45E-A35C-69AD-58D4-700C2ADA5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790B0607-FA03-2C3D-C426-EB412D8E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72" name="Espaço Reservado para Número de Slide 3">
            <a:extLst>
              <a:ext uri="{FF2B5EF4-FFF2-40B4-BE49-F238E27FC236}">
                <a16:creationId xmlns:a16="http://schemas.microsoft.com/office/drawing/2014/main" id="{E29EE005-655A-D10F-A88C-FCD1B542C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004F65-8C5A-4320-B8BF-EC1E43C29DCB}" type="slidenum">
              <a:rPr lang="pt-BR" altLang="pt-B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Imagem de Slide 1">
            <a:extLst>
              <a:ext uri="{FF2B5EF4-FFF2-40B4-BE49-F238E27FC236}">
                <a16:creationId xmlns:a16="http://schemas.microsoft.com/office/drawing/2014/main" id="{D9B697F4-04EE-F74D-2CDC-5A63D37126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Espaço Reservado para Anotações 2">
            <a:extLst>
              <a:ext uri="{FF2B5EF4-FFF2-40B4-BE49-F238E27FC236}">
                <a16:creationId xmlns:a16="http://schemas.microsoft.com/office/drawing/2014/main" id="{B54D6E90-DD2F-A713-5438-BA52205FC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77CD1C-6D79-92BB-BB79-933590890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FB0809-2776-41B9-AE3E-C7223545F9F6}" type="slidenum">
              <a:rPr lang="pt-BR" altLang="pt-BR" smtClean="0"/>
              <a:pPr>
                <a:defRPr/>
              </a:pPr>
              <a:t>2</a:t>
            </a:fld>
            <a:endParaRPr lang="pt-BR" alt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Imagem de Slide 1">
            <a:extLst>
              <a:ext uri="{FF2B5EF4-FFF2-40B4-BE49-F238E27FC236}">
                <a16:creationId xmlns:a16="http://schemas.microsoft.com/office/drawing/2014/main" id="{2AE61663-6338-58E7-1A3D-1642CEF712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Espaço Reservado para Anotações 2">
            <a:extLst>
              <a:ext uri="{FF2B5EF4-FFF2-40B4-BE49-F238E27FC236}">
                <a16:creationId xmlns:a16="http://schemas.microsoft.com/office/drawing/2014/main" id="{B47822F2-DD2E-F32D-0B6B-B7949363A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FB898F-6233-F8A7-987E-BFC256516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260F4C-115B-4664-A5CC-D284D5EEBA91}" type="slidenum">
              <a:rPr lang="pt-BR" altLang="pt-BR" smtClean="0"/>
              <a:pPr>
                <a:defRPr/>
              </a:pPr>
              <a:t>4</a:t>
            </a:fld>
            <a:endParaRPr lang="pt-BR" altLang="pt-B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0995AE-820C-440F-B4CC-1B8ACCAC6A62}" type="slidenum">
              <a:rPr lang="pt-BR" altLang="pt-BR" smtClean="0"/>
              <a:pPr>
                <a:defRPr/>
              </a:pPr>
              <a:t>14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55864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>
              <a:defRPr/>
            </a:pPr>
            <a:fld id="{2EFB8625-6C0A-4065-A262-E22C4341FB78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5136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BAFCDF-F860-471A-9B63-7AAE6C3EB9EC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24529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>
              <a:defRPr/>
            </a:pPr>
            <a:fld id="{A746BAB6-4957-4335-B421-CA590E0C8E40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37991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>
              <a:defRPr/>
            </a:pPr>
            <a:fld id="{6075923A-4B7C-4A5B-B96F-2E08962865C0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94954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>
              <a:defRPr/>
            </a:pPr>
            <a:fld id="{899B9F98-F59E-42F7-B5D2-9EC8316A1BDC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0382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A3F5E2-88AE-495B-B88E-347BF4143FE7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31277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CCB814-DC8D-480B-B785-DD82914A085D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7495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FD20A-76C6-49B5-9C36-899BDE758670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487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B46DF30B-327E-461D-B2D9-18AC900C1123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9767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>
              <a:defRPr/>
            </a:pPr>
            <a:fld id="{D6D8F450-C5EF-4ADE-92C9-3602FBB772D0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0113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>
              <a:defRPr/>
            </a:pPr>
            <a:fld id="{CE1CFE0B-250C-4D22-A85F-F7274473B98A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1272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40C69B58-B43C-454C-A01A-C4F430B44E6F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852247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40C69B58-B43C-454C-A01A-C4F430B44E6F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1412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40C69B58-B43C-454C-A01A-C4F430B44E6F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35171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44C9E5-2ECA-4B54-82A8-D0D65B0E4A0E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34053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00E107-3E08-4911-B25E-2A60D5ABC04A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7307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40C69B58-B43C-454C-A01A-C4F430B44E6F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80316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52" r:id="rId1"/>
    <p:sldLayoutId id="2147484753" r:id="rId2"/>
    <p:sldLayoutId id="2147484754" r:id="rId3"/>
    <p:sldLayoutId id="2147484755" r:id="rId4"/>
    <p:sldLayoutId id="2147484756" r:id="rId5"/>
    <p:sldLayoutId id="2147484757" r:id="rId6"/>
    <p:sldLayoutId id="2147484758" r:id="rId7"/>
    <p:sldLayoutId id="2147484759" r:id="rId8"/>
    <p:sldLayoutId id="2147484760" r:id="rId9"/>
    <p:sldLayoutId id="2147484761" r:id="rId10"/>
    <p:sldLayoutId id="2147484762" r:id="rId11"/>
    <p:sldLayoutId id="2147484763" r:id="rId12"/>
    <p:sldLayoutId id="2147484764" r:id="rId13"/>
    <p:sldLayoutId id="2147484765" r:id="rId14"/>
    <p:sldLayoutId id="2147484766" r:id="rId15"/>
    <p:sldLayoutId id="21474847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C2B2DA-BC72-CB66-DCA1-28448A5B1C90}"/>
              </a:ext>
            </a:extLst>
          </p:cNvPr>
          <p:cNvSpPr/>
          <p:nvPr/>
        </p:nvSpPr>
        <p:spPr>
          <a:xfrm>
            <a:off x="119336" y="205472"/>
            <a:ext cx="119533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MODELAGEM 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SIMULAÇÃO MATEMÁTICA 2026-2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AULA 03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213A216-3DDA-FB67-1D3C-29C883599569}"/>
              </a:ext>
            </a:extLst>
          </p:cNvPr>
          <p:cNvSpPr txBox="1"/>
          <p:nvPr/>
        </p:nvSpPr>
        <p:spPr>
          <a:xfrm>
            <a:off x="119336" y="188640"/>
            <a:ext cx="11953327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3600" b="1" dirty="0"/>
              <a:t>“</a:t>
            </a:r>
            <a:r>
              <a:rPr lang="pt-BR" sz="2800" b="1" dirty="0">
                <a:solidFill>
                  <a:srgbClr val="C00000"/>
                </a:solidFill>
              </a:rPr>
              <a:t>P →Q</a:t>
            </a:r>
            <a:r>
              <a:rPr lang="pt-BR" sz="2800" b="1" dirty="0"/>
              <a:t>” é a mesma coisa que “</a:t>
            </a:r>
            <a:r>
              <a:rPr lang="pt-BR" sz="2800" b="1" dirty="0">
                <a:solidFill>
                  <a:srgbClr val="0000FF"/>
                </a:solidFill>
              </a:rPr>
              <a:t>(~P) ou Q</a:t>
            </a:r>
            <a:r>
              <a:rPr lang="pt-BR" sz="2800" b="1" dirty="0"/>
              <a:t>”; ou seja, é falsa se o lado esquerdo for verdadeiro e o lado direito falso, e verdadeira em qualquer outro caso;</a:t>
            </a:r>
          </a:p>
          <a:p>
            <a:pPr algn="just">
              <a:defRPr/>
            </a:pPr>
            <a:endParaRPr lang="pt-BR" sz="2800" b="1" dirty="0"/>
          </a:p>
          <a:p>
            <a:pPr algn="just">
              <a:defRPr/>
            </a:pPr>
            <a:r>
              <a:rPr lang="pt-BR" sz="2800" b="1" dirty="0"/>
              <a:t> Exemplos: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800" b="1" dirty="0">
                <a:solidFill>
                  <a:srgbClr val="0070C0"/>
                </a:solidFill>
              </a:rPr>
              <a:t>“2 &gt; 1 → 3 &gt; 1” (V);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800" dirty="0"/>
              <a:t>•  </a:t>
            </a:r>
            <a:r>
              <a:rPr lang="pt-BR" sz="2800" b="1" dirty="0">
                <a:solidFill>
                  <a:srgbClr val="002060"/>
                </a:solidFill>
              </a:rPr>
              <a:t>“2 &gt; 1 → 1 &gt; 3” (F);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800" dirty="0"/>
              <a:t>•</a:t>
            </a:r>
            <a:r>
              <a:rPr lang="pt-BR" sz="2800" dirty="0">
                <a:solidFill>
                  <a:srgbClr val="7030A0"/>
                </a:solidFill>
              </a:rPr>
              <a:t>  </a:t>
            </a:r>
            <a:r>
              <a:rPr lang="pt-BR" sz="2800" b="1" dirty="0">
                <a:solidFill>
                  <a:srgbClr val="7030A0"/>
                </a:solidFill>
              </a:rPr>
              <a:t>“5 = 2 → 0 = 1  (V); </a:t>
            </a:r>
          </a:p>
          <a:p>
            <a:pPr algn="just">
              <a:lnSpc>
                <a:spcPct val="150000"/>
              </a:lnSpc>
              <a:defRPr/>
            </a:pPr>
            <a:endParaRPr lang="pt-BR" sz="2800" b="1" dirty="0">
              <a:solidFill>
                <a:srgbClr val="7030A0"/>
              </a:solidFill>
            </a:endParaRPr>
          </a:p>
          <a:p>
            <a:pPr algn="just">
              <a:defRPr/>
            </a:pPr>
            <a:r>
              <a:rPr lang="pt-BR" sz="2800" b="1" dirty="0"/>
              <a:t> </a:t>
            </a:r>
            <a:r>
              <a:rPr lang="pt-BR" sz="2800" b="1" dirty="0">
                <a:solidFill>
                  <a:srgbClr val="FF0000"/>
                </a:solidFill>
              </a:rPr>
              <a:t>“P ↔Q</a:t>
            </a:r>
            <a:r>
              <a:rPr lang="pt-BR" sz="2800" b="1" dirty="0"/>
              <a:t>” é a mesma coisa que </a:t>
            </a:r>
            <a:r>
              <a:rPr lang="pt-BR" sz="2800" b="1" dirty="0">
                <a:solidFill>
                  <a:srgbClr val="002060"/>
                </a:solidFill>
              </a:rPr>
              <a:t>“P →Q e Q →P”</a:t>
            </a:r>
            <a:r>
              <a:rPr lang="pt-BR" sz="2800" b="1" dirty="0"/>
              <a:t>, ou seja, é verdadeira se ambas forem verdadeiras ou ambas forem falsas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2">
            <a:extLst>
              <a:ext uri="{FF2B5EF4-FFF2-40B4-BE49-F238E27FC236}">
                <a16:creationId xmlns:a16="http://schemas.microsoft.com/office/drawing/2014/main" id="{9CB1DAF2-CC66-E60D-10E3-E237FF30B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520511"/>
            <a:ext cx="11809312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PT" altLang="pt-BR" sz="3600" b="1" u="sng" dirty="0">
                <a:solidFill>
                  <a:srgbClr val="202124"/>
                </a:solidFill>
                <a:latin typeface="Google Sans"/>
              </a:rPr>
              <a:t>TAUTOLOGIA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PT" altLang="pt-BR" sz="3600" b="1" dirty="0">
              <a:solidFill>
                <a:srgbClr val="202124"/>
              </a:solidFill>
              <a:latin typeface="Google Sans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PT" altLang="pt-BR" sz="3200" b="1" dirty="0">
                <a:solidFill>
                  <a:srgbClr val="202124"/>
                </a:solidFill>
                <a:latin typeface="Google Sans"/>
              </a:rPr>
              <a:t>Se na coluna do operador principal todas as linhas forem verdadeiras, diremos que a proposição composta é uma </a:t>
            </a:r>
            <a:r>
              <a:rPr lang="pt-PT" altLang="pt-BR" sz="3200" b="1" dirty="0">
                <a:solidFill>
                  <a:srgbClr val="7030A0"/>
                </a:solidFill>
                <a:latin typeface="Google Sans"/>
              </a:rPr>
              <a:t>TAUTOLOGIA</a:t>
            </a:r>
            <a:r>
              <a:rPr lang="pt-PT" altLang="pt-BR" sz="3200" b="1" dirty="0">
                <a:solidFill>
                  <a:srgbClr val="202124"/>
                </a:solidFill>
                <a:latin typeface="Google Sans"/>
              </a:rPr>
              <a:t>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pt-PT" altLang="pt-BR" sz="3200" b="1" dirty="0">
              <a:solidFill>
                <a:srgbClr val="202124"/>
              </a:solidFill>
              <a:latin typeface="Google Sans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PT" altLang="pt-BR" sz="3200" b="1" dirty="0">
                <a:solidFill>
                  <a:srgbClr val="202124"/>
                </a:solidFill>
                <a:latin typeface="Google Sans"/>
              </a:rPr>
              <a:t>Ao contrário, se todas forem falsas, é uma </a:t>
            </a:r>
            <a:r>
              <a:rPr lang="pt-PT" altLang="pt-BR" sz="3200" b="1" dirty="0">
                <a:solidFill>
                  <a:srgbClr val="FF0000"/>
                </a:solidFill>
                <a:latin typeface="Google Sans"/>
              </a:rPr>
              <a:t>CONTRADIÇÃO</a:t>
            </a:r>
            <a:r>
              <a:rPr lang="pt-PT" altLang="pt-BR" sz="3200" b="1" dirty="0">
                <a:solidFill>
                  <a:srgbClr val="202124"/>
                </a:solidFill>
                <a:latin typeface="Google Sans"/>
              </a:rPr>
              <a:t>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pt-PT" altLang="pt-BR" sz="3200" b="1" dirty="0">
              <a:solidFill>
                <a:srgbClr val="202124"/>
              </a:solidFill>
              <a:latin typeface="Google Sans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PT" altLang="pt-BR" sz="3200" b="1" dirty="0">
                <a:solidFill>
                  <a:srgbClr val="202124"/>
                </a:solidFill>
                <a:latin typeface="Google Sans"/>
              </a:rPr>
              <a:t>Por fim, se houver pelo menos uma verdadeira e pelo menos uma falsa, diremos que é uma </a:t>
            </a:r>
            <a:r>
              <a:rPr lang="pt-PT" altLang="pt-BR" sz="3200" b="1" dirty="0">
                <a:solidFill>
                  <a:srgbClr val="0000FF"/>
                </a:solidFill>
                <a:latin typeface="Google Sans"/>
              </a:rPr>
              <a:t>CONTINGÊNCIA</a:t>
            </a:r>
            <a:r>
              <a:rPr lang="pt-PT" altLang="pt-BR" sz="3200" b="1" dirty="0">
                <a:solidFill>
                  <a:srgbClr val="202124"/>
                </a:solidFill>
                <a:latin typeface="Google Sans"/>
              </a:rPr>
              <a:t>.</a:t>
            </a:r>
            <a:endParaRPr lang="pt-BR" altLang="pt-BR" sz="32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br>
              <a:rPr lang="pt-PT" altLang="pt-BR" sz="4000" b="1" dirty="0">
                <a:solidFill>
                  <a:srgbClr val="202124"/>
                </a:solidFill>
                <a:latin typeface="Arial" panose="020B0604020202020204" pitchFamily="34" charset="0"/>
              </a:rPr>
            </a:br>
            <a:endParaRPr lang="pt-BR" altLang="pt-BR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2">
            <a:extLst>
              <a:ext uri="{FF2B5EF4-FFF2-40B4-BE49-F238E27FC236}">
                <a16:creationId xmlns:a16="http://schemas.microsoft.com/office/drawing/2014/main" id="{D6B48FBA-F858-0491-ED0F-99E89C752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96752"/>
            <a:ext cx="1116032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</a:pPr>
            <a:r>
              <a:rPr lang="pt-BR" altLang="pt-BR" sz="2800" b="1" dirty="0">
                <a:solidFill>
                  <a:schemeClr val="tx1"/>
                </a:solidFill>
              </a:rPr>
              <a:t>Se uma fórmula </a:t>
            </a:r>
            <a:r>
              <a:rPr lang="pt-BR" altLang="pt-BR" sz="2800" b="1" dirty="0">
                <a:solidFill>
                  <a:srgbClr val="002060"/>
                </a:solidFill>
              </a:rPr>
              <a:t>A</a:t>
            </a:r>
            <a:r>
              <a:rPr lang="pt-BR" altLang="pt-BR" sz="2800" b="1" dirty="0">
                <a:solidFill>
                  <a:schemeClr val="tx1"/>
                </a:solidFill>
              </a:rPr>
              <a:t> é TAUTOLOGIA então </a:t>
            </a:r>
            <a:r>
              <a:rPr lang="pt-BR" altLang="pt-BR" sz="2800" b="1" dirty="0">
                <a:solidFill>
                  <a:srgbClr val="002060"/>
                </a:solidFill>
              </a:rPr>
              <a:t>~A</a:t>
            </a:r>
            <a:r>
              <a:rPr lang="pt-BR" altLang="pt-BR" sz="2800" b="1" dirty="0">
                <a:solidFill>
                  <a:schemeClr val="tx1"/>
                </a:solidFill>
              </a:rPr>
              <a:t> é CONTRADIÇÃO.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marL="457200" indent="-457200">
              <a:spcBef>
                <a:spcPct val="0"/>
              </a:spcBef>
              <a:buClrTx/>
              <a:buSzTx/>
            </a:pPr>
            <a:r>
              <a:rPr lang="pt-BR" altLang="pt-BR" sz="2800" b="1" dirty="0">
                <a:solidFill>
                  <a:schemeClr val="tx1"/>
                </a:solidFill>
              </a:rPr>
              <a:t>Se </a:t>
            </a:r>
            <a:r>
              <a:rPr lang="pt-BR" altLang="pt-BR" sz="2800" b="1" dirty="0">
                <a:solidFill>
                  <a:srgbClr val="002060"/>
                </a:solidFill>
              </a:rPr>
              <a:t>A</a:t>
            </a:r>
            <a:r>
              <a:rPr lang="pt-BR" altLang="pt-BR" sz="2800" b="1" dirty="0">
                <a:solidFill>
                  <a:schemeClr val="tx1"/>
                </a:solidFill>
              </a:rPr>
              <a:t> é CONTRADIÇÃO então </a:t>
            </a:r>
            <a:r>
              <a:rPr lang="pt-BR" altLang="pt-BR" sz="2800" b="1" dirty="0">
                <a:solidFill>
                  <a:srgbClr val="002060"/>
                </a:solidFill>
              </a:rPr>
              <a:t>~A</a:t>
            </a:r>
            <a:r>
              <a:rPr lang="pt-BR" altLang="pt-BR" sz="2800" b="1" dirty="0">
                <a:solidFill>
                  <a:schemeClr val="tx1"/>
                </a:solidFill>
              </a:rPr>
              <a:t> é TAUTOLOGIA</a:t>
            </a:r>
            <a:r>
              <a:rPr lang="pt-BR" altLang="pt-BR" sz="3200" b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5363" name="CaixaDeTexto 4">
            <a:extLst>
              <a:ext uri="{FF2B5EF4-FFF2-40B4-BE49-F238E27FC236}">
                <a16:creationId xmlns:a16="http://schemas.microsoft.com/office/drawing/2014/main" id="{7F8D2F36-9311-2A87-993F-B0FB151D4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3429000"/>
            <a:ext cx="1170112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Por serem sempre verdadeiras </a:t>
            </a:r>
            <a:r>
              <a:rPr lang="pt-BR" altLang="pt-BR" sz="2800" b="1" dirty="0">
                <a:solidFill>
                  <a:srgbClr val="002060"/>
                </a:solidFill>
              </a:rPr>
              <a:t>–</a:t>
            </a:r>
            <a:r>
              <a:rPr lang="pt-BR" altLang="pt-BR" sz="2800" b="1" dirty="0">
                <a:solidFill>
                  <a:schemeClr val="tx1"/>
                </a:solidFill>
              </a:rPr>
              <a:t> logicamente verdadeiras – as tautologias são aquelas fórmulas a que se costuma dar o nome de </a:t>
            </a:r>
            <a:r>
              <a:rPr lang="pt-BR" altLang="pt-BR" sz="2800" b="1" dirty="0">
                <a:solidFill>
                  <a:srgbClr val="002060"/>
                </a:solidFill>
              </a:rPr>
              <a:t>LEIS LÓGICAS</a:t>
            </a:r>
            <a:r>
              <a:rPr lang="pt-BR" altLang="pt-BR" sz="2800" b="1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CaixaDeTexto 2">
                <a:extLst>
                  <a:ext uri="{FF2B5EF4-FFF2-40B4-BE49-F238E27FC236}">
                    <a16:creationId xmlns:a16="http://schemas.microsoft.com/office/drawing/2014/main" id="{19718113-A18E-8846-E838-52B67BC25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656" y="260648"/>
                <a:ext cx="11088687" cy="3231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6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Exercício 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a) A fórmula </a:t>
                </a:r>
                <a:r>
                  <a:rPr lang="pt-BR" altLang="pt-BR" sz="2800" b="1" dirty="0">
                    <a:solidFill>
                      <a:srgbClr val="002060"/>
                    </a:solidFill>
                    <a:latin typeface="Abadi" panose="020F0502020204030204" pitchFamily="34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pt-BR" altLang="pt-BR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pt-BR" altLang="pt-BR" sz="2800" b="1" dirty="0">
                    <a:solidFill>
                      <a:srgbClr val="002060"/>
                    </a:solidFill>
                    <a:latin typeface="Abadi" panose="020F0502020204030204" pitchFamily="34" charset="0"/>
                  </a:rPr>
                  <a:t> ~ p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é uma tautologia. (Terceiro Excluído)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Mostre!!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410" name="CaixaDeTexto 2">
                <a:extLst>
                  <a:ext uri="{FF2B5EF4-FFF2-40B4-BE49-F238E27FC236}">
                    <a16:creationId xmlns:a16="http://schemas.microsoft.com/office/drawing/2014/main" id="{19718113-A18E-8846-E838-52B67BC25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656" y="260648"/>
                <a:ext cx="11088687" cy="3231654"/>
              </a:xfrm>
              <a:prstGeom prst="rect">
                <a:avLst/>
              </a:prstGeom>
              <a:blipFill>
                <a:blip r:embed="rId2"/>
                <a:stretch>
                  <a:fillRect l="-10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CaixaDeTexto 4">
                <a:extLst>
                  <a:ext uri="{FF2B5EF4-FFF2-40B4-BE49-F238E27FC236}">
                    <a16:creationId xmlns:a16="http://schemas.microsoft.com/office/drawing/2014/main" id="{CACBBBC4-F92E-A209-98DB-6504163AEF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296" y="3573016"/>
                <a:ext cx="1036955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b) A fórmula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pt-BR" alt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pt-BR" altLang="pt-BR" sz="2800" b="1" dirty="0">
                    <a:solidFill>
                      <a:srgbClr val="002060"/>
                    </a:solidFill>
                  </a:rPr>
                  <a:t>~p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 é uma contradição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Mostre!</a:t>
                </a:r>
              </a:p>
            </p:txBody>
          </p:sp>
        </mc:Choice>
        <mc:Fallback xmlns="">
          <p:sp>
            <p:nvSpPr>
              <p:cNvPr id="17411" name="CaixaDeTexto 4">
                <a:extLst>
                  <a:ext uri="{FF2B5EF4-FFF2-40B4-BE49-F238E27FC236}">
                    <a16:creationId xmlns:a16="http://schemas.microsoft.com/office/drawing/2014/main" id="{CACBBBC4-F92E-A209-98DB-6504163AE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296" y="3573016"/>
                <a:ext cx="10369550" cy="1384995"/>
              </a:xfrm>
              <a:prstGeom prst="rect">
                <a:avLst/>
              </a:prstGeom>
              <a:blipFill>
                <a:blip r:embed="rId3"/>
                <a:stretch>
                  <a:fillRect l="-1176" t="-3965" b="-118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F3FEDAA4-9013-3AA9-2898-B9937431DA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4433231"/>
                  </p:ext>
                </p:extLst>
              </p:nvPr>
            </p:nvGraphicFramePr>
            <p:xfrm>
              <a:off x="2567608" y="4259049"/>
              <a:ext cx="29523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314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pt-BR" altLang="pt-BR" sz="1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altLang="pt-BR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 ~ p </a:t>
                          </a:r>
                          <a:endParaRPr lang="pt-BR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F3FEDAA4-9013-3AA9-2898-B9937431DA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4433231"/>
                  </p:ext>
                </p:extLst>
              </p:nvPr>
            </p:nvGraphicFramePr>
            <p:xfrm>
              <a:off x="2567608" y="4259049"/>
              <a:ext cx="29523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314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207595" t="-8197" r="-2532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51C9B1E2-6FD6-A794-9B1B-3E27FEB0E1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9353407"/>
                  </p:ext>
                </p:extLst>
              </p:nvPr>
            </p:nvGraphicFramePr>
            <p:xfrm>
              <a:off x="2351584" y="2270861"/>
              <a:ext cx="3168352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8922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1029715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1029715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 p </a:t>
                          </a:r>
                          <a14:m>
                            <m:oMath xmlns:m="http://schemas.openxmlformats.org/officeDocument/2006/math">
                              <m:r>
                                <a:rPr lang="pt-BR" altLang="pt-BR" sz="1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 ~ p </a:t>
                          </a:r>
                          <a:endParaRPr lang="pt-BR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51C9B1E2-6FD6-A794-9B1B-3E27FEB0E1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9353407"/>
                  </p:ext>
                </p:extLst>
              </p:nvPr>
            </p:nvGraphicFramePr>
            <p:xfrm>
              <a:off x="2351584" y="2270861"/>
              <a:ext cx="3168352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8922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1029715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1029715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208876" t="-8197" r="-2367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0177-B5C1-91E4-0080-2B68006F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CaixaDeTexto 2">
                <a:extLst>
                  <a:ext uri="{FF2B5EF4-FFF2-40B4-BE49-F238E27FC236}">
                    <a16:creationId xmlns:a16="http://schemas.microsoft.com/office/drawing/2014/main" id="{B0551FBA-C50D-53D5-A391-A7C3FAA1F3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656" y="260648"/>
                <a:ext cx="11088687" cy="36625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6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Exercício 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a) A fórmula </a:t>
                </a:r>
                <a:r>
                  <a:rPr lang="pt-BR" altLang="pt-BR" sz="2800" b="1" dirty="0">
                    <a:solidFill>
                      <a:srgbClr val="002060"/>
                    </a:solidFill>
                    <a:latin typeface="Abadi" panose="020F0502020204030204" pitchFamily="34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pt-BR" altLang="pt-BR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pt-BR" altLang="pt-BR" sz="2800" b="1" dirty="0">
                    <a:solidFill>
                      <a:srgbClr val="002060"/>
                    </a:solidFill>
                    <a:latin typeface="Abadi" panose="020F0502020204030204" pitchFamily="34" charset="0"/>
                  </a:rPr>
                  <a:t> ~ p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é uma tautologia. (Terceiro Excluído)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Mostre!!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410" name="CaixaDeTexto 2">
                <a:extLst>
                  <a:ext uri="{FF2B5EF4-FFF2-40B4-BE49-F238E27FC236}">
                    <a16:creationId xmlns:a16="http://schemas.microsoft.com/office/drawing/2014/main" id="{B0551FBA-C50D-53D5-A391-A7C3FAA1F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656" y="260648"/>
                <a:ext cx="11088687" cy="3662541"/>
              </a:xfrm>
              <a:prstGeom prst="rect">
                <a:avLst/>
              </a:prstGeom>
              <a:blipFill>
                <a:blip r:embed="rId2"/>
                <a:stretch>
                  <a:fillRect l="-10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CaixaDeTexto 4">
                <a:extLst>
                  <a:ext uri="{FF2B5EF4-FFF2-40B4-BE49-F238E27FC236}">
                    <a16:creationId xmlns:a16="http://schemas.microsoft.com/office/drawing/2014/main" id="{7BA2761F-A546-7C66-265F-E91ED15EB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296" y="3573016"/>
                <a:ext cx="1036955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b) A fórmula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pt-BR" alt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pt-BR" altLang="pt-BR" sz="2800" b="1" dirty="0">
                    <a:solidFill>
                      <a:srgbClr val="002060"/>
                    </a:solidFill>
                  </a:rPr>
                  <a:t>~p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 é uma contradição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Mostre!  </a:t>
                </a:r>
              </a:p>
            </p:txBody>
          </p:sp>
        </mc:Choice>
        <mc:Fallback xmlns="">
          <p:sp>
            <p:nvSpPr>
              <p:cNvPr id="17411" name="CaixaDeTexto 4">
                <a:extLst>
                  <a:ext uri="{FF2B5EF4-FFF2-40B4-BE49-F238E27FC236}">
                    <a16:creationId xmlns:a16="http://schemas.microsoft.com/office/drawing/2014/main" id="{7BA2761F-A546-7C66-265F-E91ED15EB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296" y="3573016"/>
                <a:ext cx="10369550" cy="1384995"/>
              </a:xfrm>
              <a:prstGeom prst="rect">
                <a:avLst/>
              </a:prstGeom>
              <a:blipFill>
                <a:blip r:embed="rId3"/>
                <a:stretch>
                  <a:fillRect l="-1176" t="-3965" b="-118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954479F8-8D98-EFF2-CBE3-CC92A13154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329099"/>
                  </p:ext>
                </p:extLst>
              </p:nvPr>
            </p:nvGraphicFramePr>
            <p:xfrm>
              <a:off x="2567608" y="2305440"/>
              <a:ext cx="29523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314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lang="pt-BR" altLang="pt-BR" sz="1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 ~ p </a:t>
                          </a:r>
                          <a:endParaRPr lang="pt-BR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954479F8-8D98-EFF2-CBE3-CC92A13154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329099"/>
                  </p:ext>
                </p:extLst>
              </p:nvPr>
            </p:nvGraphicFramePr>
            <p:xfrm>
              <a:off x="2567608" y="2305440"/>
              <a:ext cx="29523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314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207595" t="-8197" r="-253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711BC60B-52C6-1BD5-A443-FA5C1F0DF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746532"/>
                  </p:ext>
                </p:extLst>
              </p:nvPr>
            </p:nvGraphicFramePr>
            <p:xfrm>
              <a:off x="2567608" y="4259049"/>
              <a:ext cx="29523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314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pt-BR" altLang="pt-BR" sz="1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altLang="pt-BR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  <a:latin typeface="Abadi" panose="020F0502020204030204" pitchFamily="34" charset="0"/>
                            </a:rPr>
                            <a:t> ~ p </a:t>
                          </a:r>
                          <a:endParaRPr lang="pt-BR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711BC60B-52C6-1BD5-A443-FA5C1F0DF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746532"/>
                  </p:ext>
                </p:extLst>
              </p:nvPr>
            </p:nvGraphicFramePr>
            <p:xfrm>
              <a:off x="2567608" y="4259049"/>
              <a:ext cx="29523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314">
                      <a:extLst>
                        <a:ext uri="{9D8B030D-6E8A-4147-A177-3AD203B41FA5}">
                          <a16:colId xmlns:a16="http://schemas.microsoft.com/office/drawing/2014/main" val="174450402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3849225408"/>
                        </a:ext>
                      </a:extLst>
                    </a:gridCol>
                    <a:gridCol w="959507">
                      <a:extLst>
                        <a:ext uri="{9D8B030D-6E8A-4147-A177-3AD203B41FA5}">
                          <a16:colId xmlns:a16="http://schemas.microsoft.com/office/drawing/2014/main" val="1886002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207595" t="-8197" r="-253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21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4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>
                              <a:solidFill>
                                <a:srgbClr val="0000FF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0161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744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2">
            <a:extLst>
              <a:ext uri="{FF2B5EF4-FFF2-40B4-BE49-F238E27FC236}">
                <a16:creationId xmlns:a16="http://schemas.microsoft.com/office/drawing/2014/main" id="{84A0A3AF-FD44-0433-6172-8E9FF417D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39" y="86692"/>
            <a:ext cx="11591925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u="sng" dirty="0">
                <a:solidFill>
                  <a:schemeClr val="tx1"/>
                </a:solidFill>
              </a:rPr>
              <a:t>Equivalência de Fórmulas e as Tabelas Verdade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Uma fórmula </a:t>
            </a:r>
            <a:r>
              <a:rPr lang="pt-BR" altLang="pt-BR" sz="2800" b="1" dirty="0">
                <a:solidFill>
                  <a:schemeClr val="accent2">
                    <a:lumMod val="50000"/>
                  </a:schemeClr>
                </a:solidFill>
              </a:rPr>
              <a:t>P</a:t>
            </a:r>
            <a:r>
              <a:rPr lang="pt-BR" altLang="pt-BR" sz="2800" b="1" dirty="0">
                <a:solidFill>
                  <a:schemeClr val="tx1"/>
                </a:solidFill>
              </a:rPr>
              <a:t> é logicamente equivalente a uma fórmula </a:t>
            </a:r>
            <a:r>
              <a:rPr lang="pt-BR" altLang="pt-BR" sz="2800" b="1" dirty="0">
                <a:solidFill>
                  <a:schemeClr val="accent2">
                    <a:lumMod val="50000"/>
                  </a:schemeClr>
                </a:solidFill>
              </a:rPr>
              <a:t>Q</a:t>
            </a:r>
            <a:r>
              <a:rPr lang="pt-BR" altLang="pt-BR" sz="2800" b="1" dirty="0">
                <a:solidFill>
                  <a:schemeClr val="tx1"/>
                </a:solidFill>
              </a:rPr>
              <a:t> se, e somente se, </a:t>
            </a:r>
            <a:r>
              <a:rPr lang="pt-BR" altLang="pt-BR" sz="2800" b="1" dirty="0">
                <a:solidFill>
                  <a:srgbClr val="002060"/>
                </a:solidFill>
              </a:rPr>
              <a:t>P ⇔ Q </a:t>
            </a:r>
            <a:r>
              <a:rPr lang="pt-BR" altLang="pt-BR" sz="2800" b="1" dirty="0">
                <a:solidFill>
                  <a:schemeClr val="tx1"/>
                </a:solidFill>
              </a:rPr>
              <a:t>é uma tautologia.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Notação: </a:t>
            </a:r>
            <a:r>
              <a:rPr lang="pt-BR" altLang="pt-BR" sz="2800" b="1" dirty="0">
                <a:solidFill>
                  <a:srgbClr val="002060"/>
                </a:solidFill>
              </a:rPr>
              <a:t>P ⇔ 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Exercício 2: M</a:t>
            </a:r>
            <a:r>
              <a:rPr lang="pt-BR" altLang="pt-BR" sz="2800" dirty="0">
                <a:solidFill>
                  <a:schemeClr val="tx1"/>
                </a:solidFill>
              </a:rPr>
              <a:t>ostre que é uma tautologia:   </a:t>
            </a:r>
            <a:r>
              <a:rPr lang="pt-BR" altLang="pt-BR" sz="2800" b="1" dirty="0">
                <a:solidFill>
                  <a:srgbClr val="002060"/>
                </a:solidFill>
              </a:rPr>
              <a:t>p → q ⇔ ~q → ~p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F1D0513E-BCD5-DD82-3C5B-7D2AAADAC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95444"/>
                  </p:ext>
                </p:extLst>
              </p:nvPr>
            </p:nvGraphicFramePr>
            <p:xfrm>
              <a:off x="3359696" y="3933056"/>
              <a:ext cx="6912769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8321">
                      <a:extLst>
                        <a:ext uri="{9D8B030D-6E8A-4147-A177-3AD203B41FA5}">
                          <a16:colId xmlns:a16="http://schemas.microsoft.com/office/drawing/2014/main" val="3239056989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60573899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740187990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425766167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191098076"/>
                        </a:ext>
                      </a:extLst>
                    </a:gridCol>
                    <a:gridCol w="1029561">
                      <a:extLst>
                        <a:ext uri="{9D8B030D-6E8A-4147-A177-3AD203B41FA5}">
                          <a16:colId xmlns:a16="http://schemas.microsoft.com/office/drawing/2014/main" val="1776519324"/>
                        </a:ext>
                      </a:extLst>
                    </a:gridCol>
                    <a:gridCol w="2353283">
                      <a:extLst>
                        <a:ext uri="{9D8B030D-6E8A-4147-A177-3AD203B41FA5}">
                          <a16:colId xmlns:a16="http://schemas.microsoft.com/office/drawing/2014/main" val="7880693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~q</a:t>
                          </a: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</a:rPr>
                            <a:t>p → q ⇔ ~q → ~p</a:t>
                          </a:r>
                        </a:p>
                        <a:p>
                          <a:pPr algn="ctr"/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0013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5302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46866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17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132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F1D0513E-BCD5-DD82-3C5B-7D2AAADAC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95444"/>
                  </p:ext>
                </p:extLst>
              </p:nvPr>
            </p:nvGraphicFramePr>
            <p:xfrm>
              <a:off x="3359696" y="3933056"/>
              <a:ext cx="6912769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8321">
                      <a:extLst>
                        <a:ext uri="{9D8B030D-6E8A-4147-A177-3AD203B41FA5}">
                          <a16:colId xmlns:a16="http://schemas.microsoft.com/office/drawing/2014/main" val="3239056989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60573899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740187990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425766167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191098076"/>
                        </a:ext>
                      </a:extLst>
                    </a:gridCol>
                    <a:gridCol w="1029561">
                      <a:extLst>
                        <a:ext uri="{9D8B030D-6E8A-4147-A177-3AD203B41FA5}">
                          <a16:colId xmlns:a16="http://schemas.microsoft.com/office/drawing/2014/main" val="1776519324"/>
                        </a:ext>
                      </a:extLst>
                    </a:gridCol>
                    <a:gridCol w="2353283">
                      <a:extLst>
                        <a:ext uri="{9D8B030D-6E8A-4147-A177-3AD203B41FA5}">
                          <a16:colId xmlns:a16="http://schemas.microsoft.com/office/drawing/2014/main" val="78806934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336842" t="-4762" r="-420301" b="-2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343787" t="-4762" r="-230769" b="-2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</a:rPr>
                            <a:t>p → q ⇔ ~q → ~p</a:t>
                          </a:r>
                        </a:p>
                        <a:p>
                          <a:pPr algn="ctr"/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0013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53026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46866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1778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1322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BE07C12-115A-A1BD-6D73-415BA310A730}"/>
                  </a:ext>
                </a:extLst>
              </p14:cNvPr>
              <p14:cNvContentPartPr/>
              <p14:nvPr/>
            </p14:nvContentPartPr>
            <p14:xfrm>
              <a:off x="3580920" y="4598640"/>
              <a:ext cx="5411520" cy="16434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BE07C12-115A-A1BD-6D73-415BA310A7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1560" y="4589280"/>
                <a:ext cx="5430240" cy="166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3D3C6-05C8-883C-38A5-0E1F93EE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2">
            <a:extLst>
              <a:ext uri="{FF2B5EF4-FFF2-40B4-BE49-F238E27FC236}">
                <a16:creationId xmlns:a16="http://schemas.microsoft.com/office/drawing/2014/main" id="{5B6C44D1-27E7-0F7F-D3AF-6C1FBA5E9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620688"/>
            <a:ext cx="115919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Correção do Exercício 2: M</a:t>
            </a:r>
            <a:r>
              <a:rPr lang="pt-BR" altLang="pt-BR" sz="3200" dirty="0">
                <a:solidFill>
                  <a:schemeClr val="tx1"/>
                </a:solidFill>
              </a:rPr>
              <a:t>ostre que é uma tautologia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rgbClr val="002060"/>
                </a:solidFill>
              </a:rPr>
              <a:t> p → q ⇔ ~q → ~p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rgbClr val="002060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1CF3826D-815A-9EED-3351-B05C08593C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9930824"/>
                  </p:ext>
                </p:extLst>
              </p:nvPr>
            </p:nvGraphicFramePr>
            <p:xfrm>
              <a:off x="911424" y="2348880"/>
              <a:ext cx="6912769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8321">
                      <a:extLst>
                        <a:ext uri="{9D8B030D-6E8A-4147-A177-3AD203B41FA5}">
                          <a16:colId xmlns:a16="http://schemas.microsoft.com/office/drawing/2014/main" val="3239056989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60573899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740187990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425766167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191098076"/>
                        </a:ext>
                      </a:extLst>
                    </a:gridCol>
                    <a:gridCol w="1029561">
                      <a:extLst>
                        <a:ext uri="{9D8B030D-6E8A-4147-A177-3AD203B41FA5}">
                          <a16:colId xmlns:a16="http://schemas.microsoft.com/office/drawing/2014/main" val="1776519324"/>
                        </a:ext>
                      </a:extLst>
                    </a:gridCol>
                    <a:gridCol w="2353283">
                      <a:extLst>
                        <a:ext uri="{9D8B030D-6E8A-4147-A177-3AD203B41FA5}">
                          <a16:colId xmlns:a16="http://schemas.microsoft.com/office/drawing/2014/main" val="7880693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~q</a:t>
                          </a: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</a:rPr>
                            <a:t>p → q ⇔ ~q → ~p</a:t>
                          </a:r>
                        </a:p>
                        <a:p>
                          <a:pPr algn="ctr"/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0013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5302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46866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17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132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1CF3826D-815A-9EED-3351-B05C08593C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9930824"/>
                  </p:ext>
                </p:extLst>
              </p:nvPr>
            </p:nvGraphicFramePr>
            <p:xfrm>
              <a:off x="911424" y="2348880"/>
              <a:ext cx="6912769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8321">
                      <a:extLst>
                        <a:ext uri="{9D8B030D-6E8A-4147-A177-3AD203B41FA5}">
                          <a16:colId xmlns:a16="http://schemas.microsoft.com/office/drawing/2014/main" val="3239056989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60573899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740187990"/>
                        </a:ext>
                      </a:extLst>
                    </a:gridCol>
                    <a:gridCol w="661861">
                      <a:extLst>
                        <a:ext uri="{9D8B030D-6E8A-4147-A177-3AD203B41FA5}">
                          <a16:colId xmlns:a16="http://schemas.microsoft.com/office/drawing/2014/main" val="3425766167"/>
                        </a:ext>
                      </a:extLst>
                    </a:gridCol>
                    <a:gridCol w="808941">
                      <a:extLst>
                        <a:ext uri="{9D8B030D-6E8A-4147-A177-3AD203B41FA5}">
                          <a16:colId xmlns:a16="http://schemas.microsoft.com/office/drawing/2014/main" val="3191098076"/>
                        </a:ext>
                      </a:extLst>
                    </a:gridCol>
                    <a:gridCol w="1029561">
                      <a:extLst>
                        <a:ext uri="{9D8B030D-6E8A-4147-A177-3AD203B41FA5}">
                          <a16:colId xmlns:a16="http://schemas.microsoft.com/office/drawing/2014/main" val="1776519324"/>
                        </a:ext>
                      </a:extLst>
                    </a:gridCol>
                    <a:gridCol w="2353283">
                      <a:extLst>
                        <a:ext uri="{9D8B030D-6E8A-4147-A177-3AD203B41FA5}">
                          <a16:colId xmlns:a16="http://schemas.microsoft.com/office/drawing/2014/main" val="78806934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~p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336842" t="-4762" r="-420301" b="-30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343787" t="-4762" r="-230769" b="-30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altLang="pt-BR" sz="1800" b="1" dirty="0">
                              <a:solidFill>
                                <a:schemeClr val="bg1"/>
                              </a:solidFill>
                            </a:rPr>
                            <a:t>p → q ⇔ ~q → ~p</a:t>
                          </a:r>
                        </a:p>
                        <a:p>
                          <a:pPr algn="ctr"/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0013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53026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46866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1778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b="1" dirty="0">
                              <a:solidFill>
                                <a:srgbClr val="0000FF"/>
                              </a:solidFill>
                            </a:rPr>
                            <a:t>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1322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851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65B57B6-D9B8-E6D5-C802-261310E4B4F3}"/>
                  </a:ext>
                </a:extLst>
              </p:cNvPr>
              <p:cNvSpPr txBox="1"/>
              <p:nvPr/>
            </p:nvSpPr>
            <p:spPr>
              <a:xfrm>
                <a:off x="191344" y="332657"/>
                <a:ext cx="11881320" cy="5544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pt-BR" sz="3200" b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PROPRIEDADES DA EQUIVALÊNCIA LÓGICA</a:t>
                </a:r>
              </a:p>
              <a:p>
                <a:pPr algn="ctr">
                  <a:defRPr/>
                </a:pPr>
                <a:endParaRPr lang="pt-BR" sz="32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pt-BR" sz="2800" b="1" dirty="0"/>
                  <a:t> Propriedade Reflexiva: </a:t>
                </a:r>
                <a:r>
                  <a:rPr lang="pt-BR" sz="2800" b="1" dirty="0">
                    <a:solidFill>
                      <a:srgbClr val="002060"/>
                    </a:solidFill>
                  </a:rPr>
                  <a:t>A ⇔ A</a:t>
                </a:r>
                <a:r>
                  <a:rPr lang="pt-BR" sz="2800" b="1" dirty="0"/>
                  <a:t>.</a:t>
                </a: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pt-BR" sz="2800" b="1" dirty="0"/>
                  <a:t> Propriedade Simétrica: Se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A ⇔ B </a:t>
                </a:r>
                <a:r>
                  <a:rPr lang="pt-BR" sz="2800" b="1" dirty="0"/>
                  <a:t>então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B ⇔ A</a:t>
                </a:r>
                <a:r>
                  <a:rPr lang="pt-BR" sz="2800" b="1" dirty="0"/>
                  <a:t>. </a:t>
                </a: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pt-BR" sz="2800" b="1" dirty="0"/>
                  <a:t>Propriedade Transitiva: Se </a:t>
                </a:r>
                <a:r>
                  <a:rPr lang="pt-BR" sz="2800" b="1" dirty="0">
                    <a:solidFill>
                      <a:srgbClr val="7030A0"/>
                    </a:solidFill>
                  </a:rPr>
                  <a:t>A ⇔ B </a:t>
                </a:r>
                <a:r>
                  <a:rPr lang="pt-BR" sz="2800" b="1" dirty="0"/>
                  <a:t>e </a:t>
                </a:r>
                <a:r>
                  <a:rPr lang="pt-BR" sz="2800" b="1" dirty="0">
                    <a:solidFill>
                      <a:srgbClr val="7030A0"/>
                    </a:solidFill>
                  </a:rPr>
                  <a:t>B ⇔ C </a:t>
                </a:r>
                <a:r>
                  <a:rPr lang="pt-BR" sz="2800" b="1" dirty="0"/>
                  <a:t>então </a:t>
                </a:r>
                <a:r>
                  <a:rPr lang="pt-BR" sz="2800" b="1" dirty="0">
                    <a:solidFill>
                      <a:srgbClr val="7030A0"/>
                    </a:solidFill>
                  </a:rPr>
                  <a:t>A ⇔ C</a:t>
                </a:r>
                <a:r>
                  <a:rPr lang="pt-BR" sz="2800" b="1" dirty="0"/>
                  <a:t>.</a:t>
                </a: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pt-BR" sz="2800" b="1" dirty="0"/>
                  <a:t> Se A e B são ambas tautologias ou contradições então </a:t>
                </a:r>
                <a:r>
                  <a:rPr lang="pt-BR" sz="2800" b="1" dirty="0">
                    <a:solidFill>
                      <a:srgbClr val="00CC99"/>
                    </a:solidFill>
                  </a:rPr>
                  <a:t>A ⇔ B</a:t>
                </a:r>
                <a:r>
                  <a:rPr lang="pt-BR" sz="2800" b="1" dirty="0"/>
                  <a:t>. </a:t>
                </a:r>
              </a:p>
              <a:p>
                <a:pPr>
                  <a:defRPr/>
                </a:pPr>
                <a:endParaRPr lang="pt-BR" sz="3200" b="1" dirty="0"/>
              </a:p>
              <a:p>
                <a:pPr algn="just">
                  <a:defRPr/>
                </a:pPr>
                <a:r>
                  <a:rPr lang="pt-BR" sz="2800" b="1" dirty="0"/>
                  <a:t>Uma fórmula proposicional </a:t>
                </a:r>
                <a:r>
                  <a:rPr lang="pt-BR" sz="2800" b="1" dirty="0">
                    <a:solidFill>
                      <a:schemeClr val="accent1">
                        <a:lumMod val="50000"/>
                      </a:schemeClr>
                    </a:solidFill>
                  </a:rPr>
                  <a:t>A</a:t>
                </a:r>
                <a:r>
                  <a:rPr lang="pt-BR" sz="2800" b="1" dirty="0"/>
                  <a:t> implica logicamente uma fórmula proposicional </a:t>
                </a:r>
                <a:r>
                  <a:rPr lang="pt-BR" sz="2800" b="1" dirty="0">
                    <a:solidFill>
                      <a:schemeClr val="accent1">
                        <a:lumMod val="50000"/>
                      </a:schemeClr>
                    </a:solidFill>
                  </a:rPr>
                  <a:t>B</a:t>
                </a:r>
                <a:r>
                  <a:rPr lang="pt-BR" sz="2800" b="1" dirty="0"/>
                  <a:t> se </a:t>
                </a:r>
                <a:r>
                  <a:rPr lang="pt-BR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A → B </a:t>
                </a:r>
                <a:r>
                  <a:rPr lang="pt-BR" sz="2800" b="1" dirty="0"/>
                  <a:t>é uma tautologia. Denotamos isto por </a:t>
                </a:r>
              </a:p>
              <a:p>
                <a:pPr algn="just">
                  <a:defRPr/>
                </a:pPr>
                <a:r>
                  <a:rPr lang="pt-BR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A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vertJc m:val="top"/>
                        <m:ctrlPr>
                          <a:rPr lang="pt-BR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pt-BR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B</a:t>
                </a:r>
                <a:r>
                  <a:rPr lang="pt-BR" sz="2800" b="1" dirty="0"/>
                  <a:t>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65B57B6-D9B8-E6D5-C802-261310E4B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332657"/>
                <a:ext cx="11881320" cy="5544616"/>
              </a:xfrm>
              <a:prstGeom prst="rect">
                <a:avLst/>
              </a:prstGeom>
              <a:blipFill>
                <a:blip r:embed="rId2"/>
                <a:stretch>
                  <a:fillRect l="-1026" t="-1650" r="-1077" b="-3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CaixaDeTexto 2">
                <a:extLst>
                  <a:ext uri="{FF2B5EF4-FFF2-40B4-BE49-F238E27FC236}">
                    <a16:creationId xmlns:a16="http://schemas.microsoft.com/office/drawing/2014/main" id="{AAB04FB0-DFFC-E9F3-9F7D-91AAFB66E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44" y="404813"/>
                <a:ext cx="11881320" cy="50167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u="sng" dirty="0">
                    <a:solidFill>
                      <a:schemeClr val="tx1"/>
                    </a:solidFill>
                  </a:rPr>
                  <a:t>O QUANTIFICADOR EXISTENCIAL </a:t>
                </a:r>
                <a:r>
                  <a:rPr lang="pt-BR" altLang="pt-BR" sz="3200" b="1" u="sng" dirty="0">
                    <a:solidFill>
                      <a:srgbClr val="0000FF"/>
                    </a:solidFill>
                  </a:rPr>
                  <a:t>(“∃”)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Sejam</a:t>
                </a:r>
                <a:r>
                  <a:rPr lang="pt-BR" altLang="pt-BR" sz="2800" b="1" dirty="0">
                    <a:solidFill>
                      <a:srgbClr val="0070C0"/>
                    </a:solidFill>
                  </a:rPr>
                  <a:t> x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uma variável cujo universo é um dado conjunto </a:t>
                </a:r>
                <a:r>
                  <a:rPr lang="pt-BR" altLang="pt-BR" sz="2800" b="1" dirty="0">
                    <a:solidFill>
                      <a:schemeClr val="accent6">
                        <a:lumMod val="50000"/>
                      </a:schemeClr>
                    </a:solidFill>
                  </a:rPr>
                  <a:t>U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, e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P (x)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uma sentença aberta. Considere a Proposição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000" b="1" dirty="0">
                    <a:solidFill>
                      <a:srgbClr val="002060"/>
                    </a:solidFill>
                  </a:rPr>
                  <a:t>∃ x </a:t>
                </a:r>
                <a14:m>
                  <m:oMath xmlns:m="http://schemas.openxmlformats.org/officeDocument/2006/math">
                    <m:r>
                      <a:rPr lang="pt-BR" altLang="pt-BR" sz="3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pt-BR" altLang="pt-BR" sz="3000" b="1" dirty="0">
                    <a:solidFill>
                      <a:srgbClr val="002060"/>
                    </a:solidFill>
                  </a:rPr>
                  <a:t> (P(x))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3000" b="1" dirty="0">
                  <a:solidFill>
                    <a:srgbClr val="002060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dirty="0">
                    <a:solidFill>
                      <a:schemeClr val="tx1"/>
                    </a:solidFill>
                  </a:rPr>
                  <a:t>Por definição, a proposição acima é verdadeira se existir algum elemento do conjunto </a:t>
                </a:r>
                <a:r>
                  <a:rPr lang="pt-BR" altLang="pt-BR" sz="2800" b="1" dirty="0">
                    <a:solidFill>
                      <a:srgbClr val="0070C0"/>
                    </a:solidFill>
                  </a:rPr>
                  <a:t>U</a:t>
                </a:r>
                <a:r>
                  <a:rPr lang="pt-BR" altLang="pt-BR" sz="2800" dirty="0">
                    <a:solidFill>
                      <a:schemeClr val="tx1"/>
                    </a:solidFill>
                  </a:rPr>
                  <a:t> tal que a substituição da variável livre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x</a:t>
                </a:r>
                <a:r>
                  <a:rPr lang="pt-BR" altLang="pt-BR" sz="2800" dirty="0">
                    <a:solidFill>
                      <a:schemeClr val="tx1"/>
                    </a:solidFill>
                  </a:rPr>
                  <a:t> de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P(x) </a:t>
                </a:r>
                <a:r>
                  <a:rPr lang="pt-BR" altLang="pt-BR" sz="2800" dirty="0">
                    <a:solidFill>
                      <a:schemeClr val="tx1"/>
                    </a:solidFill>
                  </a:rPr>
                  <a:t>por este elemento resulte numa proposição verdadeira. Caso contrário, diz-se que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∃ x</a:t>
                </a:r>
                <a14:m>
                  <m:oMath xmlns:m="http://schemas.openxmlformats.org/officeDocument/2006/math">
                    <m:r>
                      <a:rPr lang="pt-BR" altLang="pt-BR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alt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pt-BR" altLang="pt-BR" sz="2800" b="1" dirty="0">
                    <a:solidFill>
                      <a:srgbClr val="002060"/>
                    </a:solidFill>
                  </a:rPr>
                  <a:t> P (x)  </a:t>
                </a:r>
                <a:r>
                  <a:rPr lang="pt-BR" altLang="pt-BR" sz="2800" dirty="0">
                    <a:solidFill>
                      <a:schemeClr val="tx1"/>
                    </a:solidFill>
                  </a:rPr>
                  <a:t>é uma proposição falsa</a:t>
                </a:r>
                <a:endParaRPr lang="pt-BR" altLang="pt-B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482" name="CaixaDeTexto 2">
                <a:extLst>
                  <a:ext uri="{FF2B5EF4-FFF2-40B4-BE49-F238E27FC236}">
                    <a16:creationId xmlns:a16="http://schemas.microsoft.com/office/drawing/2014/main" id="{AAB04FB0-DFFC-E9F3-9F7D-91AAFB66E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44" y="404813"/>
                <a:ext cx="11881320" cy="5016758"/>
              </a:xfrm>
              <a:prstGeom prst="rect">
                <a:avLst/>
              </a:prstGeom>
              <a:blipFill>
                <a:blip r:embed="rId2"/>
                <a:stretch>
                  <a:fillRect l="-1026" t="-1580" r="-1077" b="-25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3717A7B-22D4-B1CE-24F4-6967B2E467D1}"/>
                  </a:ext>
                </a:extLst>
              </p14:cNvPr>
              <p14:cNvContentPartPr/>
              <p14:nvPr/>
            </p14:nvContentPartPr>
            <p14:xfrm>
              <a:off x="10305000" y="446400"/>
              <a:ext cx="741240" cy="5450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3717A7B-22D4-B1CE-24F4-6967B2E467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95640" y="437040"/>
                <a:ext cx="759960" cy="56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CaixaDeTexto 2">
                <a:extLst>
                  <a:ext uri="{FF2B5EF4-FFF2-40B4-BE49-F238E27FC236}">
                    <a16:creationId xmlns:a16="http://schemas.microsoft.com/office/drawing/2014/main" id="{82F149A3-43A8-E405-3FFC-656E932558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356" y="258901"/>
                <a:ext cx="11593287" cy="2554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u="sng" dirty="0">
                    <a:solidFill>
                      <a:schemeClr val="tx1"/>
                    </a:solidFill>
                  </a:rPr>
                  <a:t>O QUANTIFICADOR UNIVERSAL </a:t>
                </a:r>
                <a:r>
                  <a:rPr lang="pt-BR" altLang="pt-BR" sz="3200" b="1" u="sng" dirty="0">
                    <a:solidFill>
                      <a:srgbClr val="0000FF"/>
                    </a:solidFill>
                  </a:rPr>
                  <a:t>(“∀”)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40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Sejam </a:t>
                </a:r>
                <a:r>
                  <a:rPr lang="pt-BR" altLang="pt-BR" sz="2800" b="1" dirty="0">
                    <a:solidFill>
                      <a:srgbClr val="7030A0"/>
                    </a:solidFill>
                  </a:rPr>
                  <a:t>x</a:t>
                </a:r>
                <a:r>
                  <a:rPr lang="pt-BR" altLang="pt-BR" sz="2800" dirty="0">
                    <a:solidFill>
                      <a:schemeClr val="tx1"/>
                    </a:solidFill>
                  </a:rPr>
                  <a:t>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uma variável cujo universo é um dado conjunto </a:t>
                </a:r>
                <a:r>
                  <a:rPr lang="pt-BR" altLang="pt-BR" sz="2800" b="1" dirty="0">
                    <a:solidFill>
                      <a:srgbClr val="7030A0"/>
                    </a:solidFill>
                  </a:rPr>
                  <a:t>U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, e </a:t>
                </a:r>
                <a:r>
                  <a:rPr lang="pt-BR" altLang="pt-BR" sz="2800" b="1" dirty="0">
                    <a:solidFill>
                      <a:srgbClr val="7030A0"/>
                    </a:solidFill>
                  </a:rPr>
                  <a:t>P (x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) uma sentença aberta. Considere a proposição: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dirty="0">
                    <a:solidFill>
                      <a:srgbClr val="0000FF"/>
                    </a:solidFill>
                  </a:rPr>
                  <a:t> ∀ x </a:t>
                </a:r>
                <a14:m>
                  <m:oMath xmlns:m="http://schemas.openxmlformats.org/officeDocument/2006/math">
                    <m:r>
                      <a:rPr lang="pt-BR" altLang="pt-BR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pt-BR" altLang="pt-BR" sz="3200" b="1" dirty="0">
                    <a:solidFill>
                      <a:srgbClr val="0000FF"/>
                    </a:solidFill>
                  </a:rPr>
                  <a:t>P (x) </a:t>
                </a:r>
              </a:p>
            </p:txBody>
          </p:sp>
        </mc:Choice>
        <mc:Fallback xmlns="">
          <p:sp>
            <p:nvSpPr>
              <p:cNvPr id="21506" name="CaixaDeTexto 2">
                <a:extLst>
                  <a:ext uri="{FF2B5EF4-FFF2-40B4-BE49-F238E27FC236}">
                    <a16:creationId xmlns:a16="http://schemas.microsoft.com/office/drawing/2014/main" id="{82F149A3-43A8-E405-3FFC-656E93255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356" y="258901"/>
                <a:ext cx="11593287" cy="2554545"/>
              </a:xfrm>
              <a:prstGeom prst="rect">
                <a:avLst/>
              </a:prstGeom>
              <a:blipFill>
                <a:blip r:embed="rId2"/>
                <a:stretch>
                  <a:fillRect l="-1052" t="-3095" r="-1104" b="-6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2">
            <a:extLst>
              <a:ext uri="{FF2B5EF4-FFF2-40B4-BE49-F238E27FC236}">
                <a16:creationId xmlns:a16="http://schemas.microsoft.com/office/drawing/2014/main" id="{068E7C6C-EAA9-7E8A-D874-18134EDA5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356" y="3074714"/>
            <a:ext cx="1185664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Seja </a:t>
            </a:r>
            <a:r>
              <a:rPr lang="pt-BR" altLang="pt-BR" sz="2800" b="1" dirty="0">
                <a:solidFill>
                  <a:srgbClr val="0070C0"/>
                </a:solidFill>
              </a:rPr>
              <a:t>P</a:t>
            </a:r>
            <a:r>
              <a:rPr lang="pt-BR" altLang="pt-BR" sz="2800" b="1" dirty="0">
                <a:solidFill>
                  <a:schemeClr val="tx1"/>
                </a:solidFill>
              </a:rPr>
              <a:t> uma expressão na qual ocorre uma ou mais variáveis </a:t>
            </a:r>
            <a:r>
              <a:rPr lang="pt-BR" altLang="pt-BR" sz="2800" b="1" dirty="0">
                <a:solidFill>
                  <a:srgbClr val="0070C0"/>
                </a:solidFill>
              </a:rPr>
              <a:t>x, y, z,...</a:t>
            </a:r>
            <a:r>
              <a:rPr lang="pt-BR" altLang="pt-BR" sz="2800" b="1" dirty="0">
                <a:solidFill>
                  <a:schemeClr val="tx1"/>
                </a:solidFill>
              </a:rPr>
              <a:t> Dizemos que uma dada ocorrência de uma variável </a:t>
            </a:r>
            <a:r>
              <a:rPr lang="pt-BR" altLang="pt-BR" sz="2800" b="1" dirty="0">
                <a:solidFill>
                  <a:srgbClr val="C00000"/>
                </a:solidFill>
              </a:rPr>
              <a:t>x</a:t>
            </a:r>
            <a:r>
              <a:rPr lang="pt-BR" altLang="pt-BR" sz="2800" b="1" dirty="0">
                <a:solidFill>
                  <a:schemeClr val="tx1"/>
                </a:solidFill>
              </a:rPr>
              <a:t> na expressão </a:t>
            </a:r>
            <a:r>
              <a:rPr lang="pt-BR" altLang="pt-BR" sz="2800" b="1" dirty="0">
                <a:solidFill>
                  <a:srgbClr val="0070C0"/>
                </a:solidFill>
              </a:rPr>
              <a:t>P</a:t>
            </a:r>
            <a:r>
              <a:rPr lang="pt-BR" altLang="pt-BR" sz="2800" b="1" dirty="0">
                <a:solidFill>
                  <a:schemeClr val="tx1"/>
                </a:solidFill>
              </a:rPr>
              <a:t> é livre se </a:t>
            </a:r>
            <a:r>
              <a:rPr lang="pt-BR" altLang="pt-BR" sz="2800" b="1" dirty="0">
                <a:solidFill>
                  <a:srgbClr val="C00000"/>
                </a:solidFill>
              </a:rPr>
              <a:t>x</a:t>
            </a:r>
            <a:r>
              <a:rPr lang="pt-BR" altLang="pt-BR" sz="2800" b="1" dirty="0">
                <a:solidFill>
                  <a:schemeClr val="tx1"/>
                </a:solidFill>
              </a:rPr>
              <a:t> não está no escopo de algum quantificador </a:t>
            </a:r>
            <a:r>
              <a:rPr lang="pt-BR" altLang="pt-BR" sz="2800" b="1" dirty="0">
                <a:solidFill>
                  <a:srgbClr val="7030A0"/>
                </a:solidFill>
              </a:rPr>
              <a:t>∀ (quantificador universal) </a:t>
            </a:r>
            <a:r>
              <a:rPr lang="pt-BR" altLang="pt-BR" sz="2800" b="1" dirty="0">
                <a:solidFill>
                  <a:schemeClr val="tx1"/>
                </a:solidFill>
              </a:rPr>
              <a:t>ou </a:t>
            </a:r>
            <a:r>
              <a:rPr lang="pt-BR" altLang="pt-BR" sz="2800" b="1" dirty="0">
                <a:solidFill>
                  <a:srgbClr val="0000FF"/>
                </a:solidFill>
              </a:rPr>
              <a:t>∃ (quantificador existencial)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B96ED7-19CE-5A5C-CE72-52ED8594459B}"/>
              </a:ext>
            </a:extLst>
          </p:cNvPr>
          <p:cNvSpPr txBox="1"/>
          <p:nvPr/>
        </p:nvSpPr>
        <p:spPr>
          <a:xfrm>
            <a:off x="407368" y="5042118"/>
            <a:ext cx="95770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Exemplos: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7030A0"/>
                </a:solidFill>
              </a:rPr>
              <a:t>• x &gt; 0 ( x é variável livre);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002060"/>
                </a:solidFill>
              </a:rPr>
              <a:t>• ∃ y; (y &gt; x) (x é livre, y é não-livre);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dirty="0">
                <a:solidFill>
                  <a:schemeClr val="tx1"/>
                </a:solidFill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CaixaDeTexto 4">
                <a:extLst>
                  <a:ext uri="{FF2B5EF4-FFF2-40B4-BE49-F238E27FC236}">
                    <a16:creationId xmlns:a16="http://schemas.microsoft.com/office/drawing/2014/main" id="{19DE5107-949D-31F8-AA5D-652021A36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360" y="548680"/>
                <a:ext cx="11593288" cy="4955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u="sng" dirty="0">
                    <a:solidFill>
                      <a:schemeClr val="tx1"/>
                    </a:solidFill>
                  </a:rPr>
                  <a:t>SENTENÇA ABERTA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32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Uma expressão proposicional ou sentença aberta é uma expressão </a:t>
                </a:r>
                <a:r>
                  <a:rPr lang="pt-BR" altLang="pt-BR" sz="2800" b="1" dirty="0">
                    <a:solidFill>
                      <a:srgbClr val="0070C0"/>
                    </a:solidFill>
                  </a:rPr>
                  <a:t>P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 na qual ocorre uma ou mais variáveis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x, y, z,....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, sendo pelo menos uma ocorrência livre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Usaremos daqui em diante a notação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rgbClr val="7030A0"/>
                    </a:solidFill>
                  </a:rPr>
                  <a:t>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pt-BR" altLang="pt-BR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pt-BR" altLang="pt-BR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altLang="pt-BR" sz="2800" b="1" dirty="0">
                    <a:solidFill>
                      <a:srgbClr val="7030A0"/>
                    </a:solidFill>
                  </a:rPr>
                  <a:t>)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para designar uma sentença aberta na qual as variáveis livres 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626" name="CaixaDeTexto 4">
                <a:extLst>
                  <a:ext uri="{FF2B5EF4-FFF2-40B4-BE49-F238E27FC236}">
                    <a16:creationId xmlns:a16="http://schemas.microsoft.com/office/drawing/2014/main" id="{19DE5107-949D-31F8-AA5D-652021A36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360" y="548680"/>
                <a:ext cx="11593288" cy="4955203"/>
              </a:xfrm>
              <a:prstGeom prst="rect">
                <a:avLst/>
              </a:prstGeom>
              <a:blipFill>
                <a:blip r:embed="rId2"/>
                <a:stretch>
                  <a:fillRect l="-1052" t="-1599" r="-11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6A56B-281B-5C9B-ADDF-F9D0A3019F9B}"/>
              </a:ext>
            </a:extLst>
          </p:cNvPr>
          <p:cNvSpPr txBox="1"/>
          <p:nvPr/>
        </p:nvSpPr>
        <p:spPr>
          <a:xfrm>
            <a:off x="335360" y="560388"/>
            <a:ext cx="118566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3200" b="1" u="sng" dirty="0"/>
              <a:t>Expressões Proposicionais e Proposições</a:t>
            </a:r>
          </a:p>
          <a:p>
            <a:pPr>
              <a:defRPr/>
            </a:pPr>
            <a:r>
              <a:rPr lang="pt-BR" sz="3200" b="1" dirty="0"/>
              <a:t> </a:t>
            </a:r>
          </a:p>
          <a:p>
            <a:pPr algn="just">
              <a:defRPr/>
            </a:pPr>
            <a:r>
              <a:rPr lang="pt-BR" sz="2800" b="1" dirty="0"/>
              <a:t>Podemos construir proposições (i.e. sentenças que podem assumir valor lógico verdadeiro ou falso) a partir de uma dada sentença aberta</a:t>
            </a:r>
            <a:r>
              <a:rPr lang="pt-BR" sz="2800" b="1" dirty="0">
                <a:solidFill>
                  <a:srgbClr val="002060"/>
                </a:solidFill>
              </a:rPr>
              <a:t> P</a:t>
            </a:r>
            <a:r>
              <a:rPr lang="pt-BR" sz="2800" b="1" dirty="0"/>
              <a:t>, de duas maneiras: </a:t>
            </a:r>
          </a:p>
          <a:p>
            <a:pPr algn="just">
              <a:defRPr/>
            </a:pPr>
            <a:endParaRPr lang="pt-BR" sz="2800" b="1" dirty="0"/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pt-BR" sz="2800" b="1" dirty="0"/>
              <a:t>atribui-se valores às variáveis livres de </a:t>
            </a:r>
            <a:r>
              <a:rPr lang="pt-BR" sz="2800" b="1" dirty="0">
                <a:solidFill>
                  <a:srgbClr val="002060"/>
                </a:solidFill>
              </a:rPr>
              <a:t>P</a:t>
            </a:r>
            <a:r>
              <a:rPr lang="pt-BR" sz="2800" b="1" dirty="0"/>
              <a:t>, i.e. substitui-se as variáveis livres de </a:t>
            </a:r>
            <a:r>
              <a:rPr lang="pt-BR" sz="2800" b="1" dirty="0">
                <a:solidFill>
                  <a:srgbClr val="002060"/>
                </a:solidFill>
              </a:rPr>
              <a:t>P</a:t>
            </a:r>
            <a:r>
              <a:rPr lang="pt-BR" sz="2800" b="1" dirty="0"/>
              <a:t> por elementos de um dado conjunto, o universo das variáveis; 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pt-BR" sz="2800" b="1" dirty="0"/>
          </a:p>
          <a:p>
            <a:pPr algn="just">
              <a:defRPr/>
            </a:pPr>
            <a:r>
              <a:rPr lang="pt-BR" sz="3200" b="1" dirty="0"/>
              <a:t>• </a:t>
            </a:r>
            <a:r>
              <a:rPr lang="pt-BR" sz="2800" b="1" dirty="0"/>
              <a:t>quantifica-se as variáveis livres de P, usando-se os quantificadores </a:t>
            </a:r>
            <a:r>
              <a:rPr lang="pt-BR" sz="2800" b="1" dirty="0">
                <a:solidFill>
                  <a:srgbClr val="0000FF"/>
                </a:solidFill>
              </a:rPr>
              <a:t>∀</a:t>
            </a:r>
            <a:r>
              <a:rPr lang="pt-BR" sz="2800" b="1" dirty="0"/>
              <a:t> ou </a:t>
            </a:r>
            <a:r>
              <a:rPr lang="pt-BR" sz="2800" b="1" dirty="0">
                <a:solidFill>
                  <a:srgbClr val="7030A0"/>
                </a:solidFill>
              </a:rPr>
              <a:t>∃</a:t>
            </a:r>
            <a:r>
              <a:rPr lang="pt-BR" sz="2800"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8F4AE52-BD25-0094-FB5D-7D2AF6C19730}"/>
              </a:ext>
            </a:extLst>
          </p:cNvPr>
          <p:cNvSpPr txBox="1"/>
          <p:nvPr/>
        </p:nvSpPr>
        <p:spPr>
          <a:xfrm>
            <a:off x="623392" y="332656"/>
            <a:ext cx="10728325" cy="422827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3600" b="1" u="sng" dirty="0"/>
              <a:t>EXEMPLOS:</a:t>
            </a:r>
          </a:p>
          <a:p>
            <a:pPr algn="just">
              <a:defRPr/>
            </a:pPr>
            <a:endParaRPr lang="pt-BR" sz="2800" b="1" dirty="0"/>
          </a:p>
          <a:p>
            <a:pPr algn="just">
              <a:defRPr/>
            </a:pPr>
            <a:r>
              <a:rPr lang="pt-BR" sz="2800" b="1" dirty="0"/>
              <a:t>Nos exemplos a seguir, </a:t>
            </a:r>
            <a:r>
              <a:rPr lang="pt-BR" sz="2800" b="1" dirty="0">
                <a:solidFill>
                  <a:srgbClr val="0070C0"/>
                </a:solidFill>
              </a:rPr>
              <a:t>x</a:t>
            </a:r>
            <a:r>
              <a:rPr lang="pt-BR" sz="2800" b="1" dirty="0"/>
              <a:t> e </a:t>
            </a:r>
            <a:r>
              <a:rPr lang="pt-BR" sz="2800" b="1" dirty="0">
                <a:solidFill>
                  <a:srgbClr val="0070C0"/>
                </a:solidFill>
              </a:rPr>
              <a:t>y</a:t>
            </a:r>
            <a:r>
              <a:rPr lang="pt-BR" sz="2800" b="1" dirty="0"/>
              <a:t> são variáveis reais (i.e. cujo universo é o conjunto </a:t>
            </a:r>
            <a:r>
              <a:rPr lang="pt-B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lang="pt-BR" sz="2800" b="1" dirty="0"/>
              <a:t> dos números reais).</a:t>
            </a:r>
          </a:p>
          <a:p>
            <a:pPr algn="just">
              <a:defRPr/>
            </a:pPr>
            <a:endParaRPr lang="pt-BR" sz="2800" b="1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800" b="1" dirty="0">
                <a:solidFill>
                  <a:srgbClr val="C00000"/>
                </a:solidFill>
              </a:rPr>
              <a:t>∃x ; (x &gt; 0) (V);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800" b="1" dirty="0">
                <a:solidFill>
                  <a:srgbClr val="0070C0"/>
                </a:solidFill>
              </a:rPr>
              <a:t>•  ∃x ; (x² &lt; 0) (F);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800" b="1" dirty="0">
                <a:solidFill>
                  <a:srgbClr val="002060"/>
                </a:solidFill>
              </a:rPr>
              <a:t>•  ∃x; (∃ y; (y + 1) &lt; x) (V)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CaixaDeTexto 2">
                <a:extLst>
                  <a:ext uri="{FF2B5EF4-FFF2-40B4-BE49-F238E27FC236}">
                    <a16:creationId xmlns:a16="http://schemas.microsoft.com/office/drawing/2014/main" id="{BB5014B5-B105-245F-9834-C909C7F0F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361" y="404813"/>
                <a:ext cx="11665296" cy="5252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600" b="1" u="sng" dirty="0">
                    <a:solidFill>
                      <a:schemeClr val="tx1"/>
                    </a:solidFill>
                  </a:rPr>
                  <a:t>Exemplos: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4400" b="1" dirty="0">
                    <a:solidFill>
                      <a:schemeClr val="tx1"/>
                    </a:solidFill>
                  </a:rPr>
                  <a:t>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Nos exemplos a seguir, todas as variáveis são reais.</a:t>
                </a:r>
              </a:p>
              <a:p>
                <a:pPr>
                  <a:lnSpc>
                    <a:spcPct val="2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4400" b="1" dirty="0">
                    <a:solidFill>
                      <a:srgbClr val="7030A0"/>
                    </a:solidFill>
                  </a:rPr>
                  <a:t> </a:t>
                </a:r>
                <a:r>
                  <a:rPr lang="pt-BR" altLang="pt-BR" sz="2800" b="1" dirty="0">
                    <a:solidFill>
                      <a:srgbClr val="7030A0"/>
                    </a:solidFill>
                  </a:rPr>
                  <a:t>• ∀x;(x &gt; 0) (F);</a:t>
                </a:r>
              </a:p>
              <a:p>
                <a:pPr>
                  <a:lnSpc>
                    <a:spcPct val="2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rgbClr val="0070C0"/>
                    </a:solidFill>
                  </a:rPr>
                  <a:t> • ∀x; (x² </a:t>
                </a:r>
                <a14:m>
                  <m:oMath xmlns:m="http://schemas.openxmlformats.org/officeDocument/2006/math">
                    <m:r>
                      <a:rPr lang="pt-BR" altLang="pt-BR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altLang="pt-BR" sz="2800" b="1" dirty="0">
                    <a:solidFill>
                      <a:srgbClr val="0070C0"/>
                    </a:solidFill>
                  </a:rPr>
                  <a:t>0) (V); </a:t>
                </a:r>
              </a:p>
              <a:p>
                <a:pPr>
                  <a:lnSpc>
                    <a:spcPct val="2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•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 ∀</a:t>
                </a:r>
                <a:r>
                  <a:rPr lang="pt-BR" altLang="pt-BR" sz="2800" b="1" dirty="0" err="1">
                    <a:solidFill>
                      <a:srgbClr val="002060"/>
                    </a:solidFill>
                  </a:rPr>
                  <a:t>x,∀y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; (x &gt; y) (F); </a:t>
                </a:r>
              </a:p>
              <a:p>
                <a:pPr>
                  <a:lnSpc>
                    <a:spcPct val="2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accent1">
                        <a:lumMod val="50000"/>
                      </a:schemeClr>
                    </a:solidFill>
                  </a:rPr>
                  <a:t>• ∀</a:t>
                </a:r>
                <a:r>
                  <a:rPr lang="pt-BR" altLang="pt-BR" sz="2800" b="1" dirty="0" err="1">
                    <a:solidFill>
                      <a:schemeClr val="accent1">
                        <a:lumMod val="50000"/>
                      </a:schemeClr>
                    </a:solidFill>
                  </a:rPr>
                  <a:t>x,∃y</a:t>
                </a:r>
                <a:r>
                  <a:rPr lang="pt-BR" altLang="pt-BR" sz="2800" b="1" dirty="0">
                    <a:solidFill>
                      <a:schemeClr val="accent1">
                        <a:lumMod val="50000"/>
                      </a:schemeClr>
                    </a:solidFill>
                  </a:rPr>
                  <a:t>; (x &gt; y) (V)</a:t>
                </a:r>
              </a:p>
            </p:txBody>
          </p:sp>
        </mc:Choice>
        <mc:Fallback xmlns="">
          <p:sp>
            <p:nvSpPr>
              <p:cNvPr id="32770" name="CaixaDeTexto 2">
                <a:extLst>
                  <a:ext uri="{FF2B5EF4-FFF2-40B4-BE49-F238E27FC236}">
                    <a16:creationId xmlns:a16="http://schemas.microsoft.com/office/drawing/2014/main" id="{BB5014B5-B105-245F-9834-C909C7F0F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361" y="404813"/>
                <a:ext cx="11665296" cy="5252976"/>
              </a:xfrm>
              <a:prstGeom prst="rect">
                <a:avLst/>
              </a:prstGeom>
              <a:blipFill>
                <a:blip r:embed="rId2"/>
                <a:stretch>
                  <a:fillRect l="-1045" t="-16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CaixaDeTexto 2">
                <a:extLst>
                  <a:ext uri="{FF2B5EF4-FFF2-40B4-BE49-F238E27FC236}">
                    <a16:creationId xmlns:a16="http://schemas.microsoft.com/office/drawing/2014/main" id="{94096C3C-3077-78C2-621F-87D99D108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44" y="620713"/>
                <a:ext cx="12000656" cy="58169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u="sng" dirty="0">
                    <a:solidFill>
                      <a:schemeClr val="tx1"/>
                    </a:solidFill>
                  </a:rPr>
                  <a:t>IMPLICAÇÕES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dirty="0">
                    <a:solidFill>
                      <a:schemeClr val="tx1"/>
                    </a:solidFill>
                  </a:rPr>
                  <a:t>Sejam </a:t>
                </a:r>
                <a:r>
                  <a:rPr lang="pt-BR" altLang="pt-BR" sz="3200" b="1" dirty="0">
                    <a:solidFill>
                      <a:srgbClr val="7030A0"/>
                    </a:solidFill>
                  </a:rPr>
                  <a:t>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altLang="pt-BR" sz="3200" b="1" dirty="0">
                    <a:solidFill>
                      <a:srgbClr val="7030A0"/>
                    </a:solidFill>
                  </a:rPr>
                  <a:t>) 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e </a:t>
                </a:r>
                <a:r>
                  <a:rPr lang="pt-BR" altLang="pt-BR" sz="3200" b="1" dirty="0">
                    <a:solidFill>
                      <a:schemeClr val="accent1">
                        <a:lumMod val="50000"/>
                      </a:schemeClr>
                    </a:solidFill>
                  </a:rPr>
                  <a:t>Q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altLang="pt-BR" sz="3200" b="1" dirty="0">
                    <a:solidFill>
                      <a:schemeClr val="accent1">
                        <a:lumMod val="50000"/>
                      </a:schemeClr>
                    </a:solidFill>
                  </a:rPr>
                  <a:t>) 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sentenças abertas e </a:t>
                </a:r>
                <a:r>
                  <a:rPr lang="pt-BR" altLang="pt-BR" sz="3200" b="1" dirty="0">
                    <a:solidFill>
                      <a:srgbClr val="0000FF"/>
                    </a:solidFill>
                  </a:rPr>
                  <a:t>U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 um conjunto.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32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dirty="0">
                    <a:solidFill>
                      <a:schemeClr val="tx1"/>
                    </a:solidFill>
                  </a:rPr>
                  <a:t>Diz-se que </a:t>
                </a:r>
                <a:r>
                  <a:rPr lang="pt-BR" altLang="pt-BR" sz="3200" b="1" dirty="0">
                    <a:solidFill>
                      <a:srgbClr val="7030A0"/>
                    </a:solidFill>
                  </a:rPr>
                  <a:t>P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 implica logicamente </a:t>
                </a:r>
                <a:r>
                  <a:rPr lang="pt-BR" altLang="pt-BR" sz="3200" b="1" dirty="0">
                    <a:solidFill>
                      <a:schemeClr val="accent2">
                        <a:lumMod val="50000"/>
                      </a:schemeClr>
                    </a:solidFill>
                  </a:rPr>
                  <a:t>Q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, no universo </a:t>
                </a:r>
                <a:r>
                  <a:rPr lang="pt-BR" altLang="pt-BR" sz="3200" b="1" dirty="0">
                    <a:solidFill>
                      <a:srgbClr val="0000FF"/>
                    </a:solidFill>
                  </a:rPr>
                  <a:t>U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, e escreve-se </a:t>
                </a:r>
                <a:r>
                  <a:rPr lang="pt-BR" altLang="pt-BR" sz="3200" b="1" dirty="0">
                    <a:solidFill>
                      <a:srgbClr val="0000FF"/>
                    </a:solidFill>
                  </a:rPr>
                  <a:t>P ⇒ Q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, se a seguinte proposição for verdadeira, tomando-se </a:t>
                </a:r>
                <a:r>
                  <a:rPr lang="pt-BR" altLang="pt-BR" sz="3200" b="1" dirty="0">
                    <a:solidFill>
                      <a:srgbClr val="0000FF"/>
                    </a:solidFill>
                  </a:rPr>
                  <a:t>U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 </a:t>
                </a:r>
                <a:r>
                  <a:rPr lang="pt-BR" altLang="pt-BR" sz="3200" dirty="0">
                    <a:solidFill>
                      <a:schemeClr val="tx1"/>
                    </a:solidFill>
                  </a:rPr>
                  <a:t>como 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universo das variáveis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32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altLang="pt-BR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altLang="pt-BR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pt-BR" altLang="pt-BR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altLang="pt-BR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pt-BR" altLang="pt-BR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dirty="0">
                    <a:solidFill>
                      <a:schemeClr val="tx1"/>
                    </a:solidFill>
                  </a:rPr>
                  <a:t>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altLang="pt-BR" sz="3200" dirty="0">
                    <a:solidFill>
                      <a:schemeClr val="tx1"/>
                    </a:solidFill>
                  </a:rPr>
                  <a:t>); (</a:t>
                </a:r>
                <a:r>
                  <a:rPr lang="pt-BR" altLang="pt-BR" sz="3200" b="1" dirty="0">
                    <a:solidFill>
                      <a:srgbClr val="0000FF"/>
                    </a:solidFill>
                  </a:rPr>
                  <a:t>(P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altLang="pt-BR" sz="3200" b="1" dirty="0">
                    <a:solidFill>
                      <a:srgbClr val="0000FF"/>
                    </a:solidFill>
                  </a:rPr>
                  <a:t>) → Q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altLang="pt-BR" sz="3200" b="1" dirty="0">
                    <a:solidFill>
                      <a:srgbClr val="0000FF"/>
                    </a:solidFill>
                  </a:rPr>
                  <a:t>)</a:t>
                </a:r>
                <a:r>
                  <a:rPr lang="pt-BR" altLang="pt-BR" sz="3200" b="1" dirty="0">
                    <a:solidFill>
                      <a:schemeClr val="tx1"/>
                    </a:solidFill>
                  </a:rPr>
                  <a:t>)</a:t>
                </a:r>
                <a:r>
                  <a:rPr lang="pt-BR" altLang="pt-BR" sz="3200" dirty="0">
                    <a:solidFill>
                      <a:schemeClr val="tx1"/>
                    </a:solidFill>
                  </a:rPr>
                  <a:t>.</a:t>
                </a:r>
                <a:endParaRPr lang="pt-BR" altLang="pt-BR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794" name="CaixaDeTexto 2">
                <a:extLst>
                  <a:ext uri="{FF2B5EF4-FFF2-40B4-BE49-F238E27FC236}">
                    <a16:creationId xmlns:a16="http://schemas.microsoft.com/office/drawing/2014/main" id="{94096C3C-3077-78C2-621F-87D99D108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44" y="620713"/>
                <a:ext cx="12000656" cy="5816977"/>
              </a:xfrm>
              <a:prstGeom prst="rect">
                <a:avLst/>
              </a:prstGeom>
              <a:blipFill>
                <a:blip r:embed="rId2"/>
                <a:stretch>
                  <a:fillRect l="-1270" t="-1363" r="-1320" b="-25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8" name="CaixaDeTexto 2">
                <a:extLst>
                  <a:ext uri="{FF2B5EF4-FFF2-40B4-BE49-F238E27FC236}">
                    <a16:creationId xmlns:a16="http://schemas.microsoft.com/office/drawing/2014/main" id="{4A27DA5E-0106-8E1F-D6A1-98386CAB3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360" y="332656"/>
                <a:ext cx="11856640" cy="3743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600" b="1" u="sng" dirty="0">
                    <a:solidFill>
                      <a:schemeClr val="tx1"/>
                    </a:solidFill>
                  </a:rPr>
                  <a:t>IMPLICAÇÕES LÓGICAS 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54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Isto significa que quaisquer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altLang="pt-BR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pt-BR" altLang="pt-BR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altLang="pt-BR" sz="2800" b="1" dirty="0">
                    <a:solidFill>
                      <a:schemeClr val="tx1"/>
                    </a:solidFill>
                  </a:rPr>
                  <a:t>no universo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U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 que tornam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 P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verdadeira também torna Q verdadeira.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32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Diz-se que </a:t>
                </a:r>
                <a:r>
                  <a:rPr lang="pt-BR" altLang="pt-BR" sz="2800" b="1" dirty="0">
                    <a:solidFill>
                      <a:srgbClr val="002060"/>
                    </a:solidFill>
                  </a:rPr>
                  <a:t>P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 é logicamente equivalente a </a:t>
                </a:r>
                <a:r>
                  <a:rPr lang="pt-BR" altLang="pt-BR" sz="2800" b="1" dirty="0">
                    <a:solidFill>
                      <a:schemeClr val="accent1">
                        <a:lumMod val="50000"/>
                      </a:schemeClr>
                    </a:solidFill>
                  </a:rPr>
                  <a:t>Q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, e escreve-se </a:t>
                </a:r>
                <a:r>
                  <a:rPr lang="pt-BR" altLang="pt-BR" sz="2800" b="1" dirty="0">
                    <a:solidFill>
                      <a:srgbClr val="0000FF"/>
                    </a:solidFill>
                  </a:rPr>
                  <a:t>P ⇔ Q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, se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rgbClr val="0000FF"/>
                    </a:solidFill>
                  </a:rPr>
                  <a:t>P ⇒ Q 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e </a:t>
                </a:r>
                <a:r>
                  <a:rPr lang="pt-BR" altLang="pt-BR" sz="2800" b="1" dirty="0">
                    <a:solidFill>
                      <a:srgbClr val="0000FF"/>
                    </a:solidFill>
                  </a:rPr>
                  <a:t>Q ⇒ P</a:t>
                </a:r>
                <a:r>
                  <a:rPr lang="pt-BR" altLang="pt-BR" sz="2800" b="1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4818" name="CaixaDeTexto 2">
                <a:extLst>
                  <a:ext uri="{FF2B5EF4-FFF2-40B4-BE49-F238E27FC236}">
                    <a16:creationId xmlns:a16="http://schemas.microsoft.com/office/drawing/2014/main" id="{4A27DA5E-0106-8E1F-D6A1-98386CAB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360" y="332656"/>
                <a:ext cx="11856640" cy="3743525"/>
              </a:xfrm>
              <a:prstGeom prst="rect">
                <a:avLst/>
              </a:prstGeom>
              <a:blipFill>
                <a:blip r:embed="rId2"/>
                <a:stretch>
                  <a:fillRect l="-1028" t="-2443" r="-1080" b="-24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4">
            <a:extLst>
              <a:ext uri="{FF2B5EF4-FFF2-40B4-BE49-F238E27FC236}">
                <a16:creationId xmlns:a16="http://schemas.microsoft.com/office/drawing/2014/main" id="{EC786DF4-54E7-1FE7-9ED5-6BAFEBD0B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11305256" cy="495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u="sng" dirty="0">
                <a:solidFill>
                  <a:schemeClr val="tx1"/>
                </a:solidFill>
              </a:rPr>
              <a:t>EXEMPLO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Seja </a:t>
            </a:r>
            <a:r>
              <a:rPr lang="pt-BR" altLang="pt-BR" sz="2800" b="1" dirty="0">
                <a:solidFill>
                  <a:srgbClr val="C00000"/>
                </a:solidFill>
              </a:rPr>
              <a:t>U</a:t>
            </a:r>
            <a:r>
              <a:rPr lang="pt-BR" altLang="pt-BR" sz="2800" b="1" dirty="0">
                <a:solidFill>
                  <a:schemeClr val="tx1"/>
                </a:solidFill>
              </a:rPr>
              <a:t> o conjunto dos triângulos do plano.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Então: </a:t>
            </a:r>
            <a:r>
              <a:rPr lang="pt-BR" altLang="pt-BR" sz="2800" b="1" dirty="0">
                <a:solidFill>
                  <a:srgbClr val="7030A0"/>
                </a:solidFill>
              </a:rPr>
              <a:t>T</a:t>
            </a:r>
            <a:r>
              <a:rPr lang="pt-BR" altLang="pt-BR" sz="2800" b="1" dirty="0">
                <a:solidFill>
                  <a:schemeClr val="tx1"/>
                </a:solidFill>
              </a:rPr>
              <a:t> retângulo </a:t>
            </a:r>
            <a:r>
              <a:rPr lang="pt-BR" altLang="pt-BR" sz="2800" b="1" dirty="0">
                <a:solidFill>
                  <a:srgbClr val="7030A0"/>
                </a:solidFill>
              </a:rPr>
              <a:t>⇒</a:t>
            </a:r>
            <a:r>
              <a:rPr lang="pt-BR" altLang="pt-BR" sz="2800" b="1" dirty="0">
                <a:solidFill>
                  <a:schemeClr val="tx1"/>
                </a:solidFill>
              </a:rPr>
              <a:t> o quadrado do maior dos lados de </a:t>
            </a:r>
            <a:r>
              <a:rPr lang="pt-BR" altLang="pt-BR" sz="2800" b="1" dirty="0">
                <a:solidFill>
                  <a:srgbClr val="7030A0"/>
                </a:solidFill>
              </a:rPr>
              <a:t>T</a:t>
            </a:r>
            <a:r>
              <a:rPr lang="pt-BR" altLang="pt-BR" sz="2800" b="1" dirty="0">
                <a:solidFill>
                  <a:schemeClr val="tx1"/>
                </a:solidFill>
              </a:rPr>
              <a:t> é a soma dos quadrados dos outros dois lados.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Com efeito, no universo </a:t>
            </a:r>
            <a:r>
              <a:rPr lang="pt-BR" altLang="pt-BR" sz="2800" b="1" dirty="0">
                <a:solidFill>
                  <a:srgbClr val="002060"/>
                </a:solidFill>
              </a:rPr>
              <a:t>U</a:t>
            </a:r>
            <a:r>
              <a:rPr lang="pt-BR" altLang="pt-BR" sz="2800" b="1" dirty="0">
                <a:solidFill>
                  <a:schemeClr val="tx1"/>
                </a:solidFill>
              </a:rPr>
              <a:t>, a seguinte proposição é verdadeira: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00FF"/>
                </a:solidFill>
              </a:rPr>
              <a:t>∀T</a:t>
            </a:r>
            <a:r>
              <a:rPr lang="pt-BR" altLang="pt-BR" sz="2800" b="1" dirty="0">
                <a:solidFill>
                  <a:schemeClr val="tx1"/>
                </a:solidFill>
              </a:rPr>
              <a:t>;(</a:t>
            </a:r>
            <a:r>
              <a:rPr lang="pt-BR" altLang="pt-BR" sz="2800" b="1" dirty="0">
                <a:solidFill>
                  <a:srgbClr val="0070C0"/>
                </a:solidFill>
              </a:rPr>
              <a:t>T retângulo → o quadrado do maior dos lados de T é a soma dos quadrados dos outros dois lados)</a:t>
            </a:r>
            <a:r>
              <a:rPr lang="pt-BR" altLang="pt-BR" sz="2800" b="1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aixaDeTexto 2">
            <a:extLst>
              <a:ext uri="{FF2B5EF4-FFF2-40B4-BE49-F238E27FC236}">
                <a16:creationId xmlns:a16="http://schemas.microsoft.com/office/drawing/2014/main" id="{5ABB0940-93F5-148F-AC7B-6C3FE7191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836613"/>
            <a:ext cx="10656888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pt-BR" altLang="pt-BR" sz="3600" b="1" u="sng" dirty="0">
                <a:solidFill>
                  <a:schemeClr val="tx1"/>
                </a:solidFill>
              </a:rPr>
              <a:t>EXEMPLO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 b="1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Em </a:t>
            </a:r>
            <a:r>
              <a:rPr lang="pt-BR" altLang="pt-BR" sz="2800" b="1" dirty="0">
                <a:solidFill>
                  <a:srgbClr val="002060"/>
                </a:solidFill>
              </a:rPr>
              <a:t>U = R</a:t>
            </a:r>
            <a:r>
              <a:rPr lang="pt-BR" altLang="pt-BR" sz="2800" b="1" dirty="0">
                <a:solidFill>
                  <a:schemeClr val="tx1"/>
                </a:solidFill>
              </a:rPr>
              <a:t>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0000FF"/>
                </a:solidFill>
              </a:rPr>
              <a:t>0 &lt; x &lt; 2 ⇒ x² &lt; 4,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mas </a:t>
            </a:r>
            <a:r>
              <a:rPr lang="pt-BR" altLang="pt-BR" sz="2800" b="1" dirty="0">
                <a:solidFill>
                  <a:srgbClr val="002060"/>
                </a:solidFill>
              </a:rPr>
              <a:t>x² &lt; 4  </a:t>
            </a:r>
            <a:r>
              <a:rPr lang="pt-BR" altLang="pt-BR" sz="2800" b="1" dirty="0">
                <a:solidFill>
                  <a:schemeClr val="tx1"/>
                </a:solidFill>
              </a:rPr>
              <a:t>não implica em  </a:t>
            </a:r>
            <a:r>
              <a:rPr lang="pt-BR" altLang="pt-BR" sz="2800" b="1" dirty="0">
                <a:solidFill>
                  <a:srgbClr val="C00000"/>
                </a:solidFill>
              </a:rPr>
              <a:t>0 &lt; x &lt; 2</a:t>
            </a:r>
            <a:r>
              <a:rPr lang="pt-BR" altLang="pt-BR" sz="2800" b="1" dirty="0">
                <a:solidFill>
                  <a:schemeClr val="tx1"/>
                </a:solidFill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10411</TotalTime>
  <Words>1330</Words>
  <Application>Microsoft Office PowerPoint</Application>
  <PresentationFormat>Widescreen</PresentationFormat>
  <Paragraphs>204</Paragraphs>
  <Slides>19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Abadi</vt:lpstr>
      <vt:lpstr>Arial</vt:lpstr>
      <vt:lpstr>Calibri</vt:lpstr>
      <vt:lpstr>Cambria Math</vt:lpstr>
      <vt:lpstr>Century Gothic</vt:lpstr>
      <vt:lpstr>Google Sans</vt:lpstr>
      <vt:lpstr>Wingdings 3</vt:lpstr>
      <vt:lpstr>Cacho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Instituto de Matematica</dc:creator>
  <cp:lastModifiedBy>Carlos Neto</cp:lastModifiedBy>
  <cp:revision>211</cp:revision>
  <dcterms:created xsi:type="dcterms:W3CDTF">2002-07-25T12:58:08Z</dcterms:created>
  <dcterms:modified xsi:type="dcterms:W3CDTF">2026-09-24T20:55:49Z</dcterms:modified>
</cp:coreProperties>
</file>
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0" r:id="rId2"/>
    <p:sldId id="258" r:id="rId3"/>
    <p:sldId id="259" r:id="rId4"/>
    <p:sldId id="260" r:id="rId5"/>
    <p:sldId id="262" r:id="rId6"/>
    <p:sldId id="265" r:id="rId7"/>
    <p:sldId id="267" r:id="rId8"/>
    <p:sldId id="269" r:id="rId9"/>
    <p:sldId id="271" r:id="rId10"/>
    <p:sldId id="272" r:id="rId11"/>
    <p:sldId id="274" r:id="rId12"/>
    <p:sldId id="275" r:id="rId1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8-29T12:01:18.7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7724 2929 0,'25'0'172,"0"0"-140,-13 0-1,1 0 0,-1 0-15,38 0 15,-25 0-15,-12 0-1,0 0 1,-1 0-1,1 0 64,12 0-48,-13 0 47,1 0-16,-1 0 126,1 0-16,-1 0-47,1 0-78,-1 0 484,13 0-515,0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8-29T12:08:36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3130 4569 0,'12'0'156,"13"12"-125,-12-12 1,-1 0-17,13 13 32,-12-13-31,-1 0 15,1 0-15,12 0-16,-13 0 15,26 0 1,-1 0-16,-24 0 16,0 0-1,12 0 63,0 0-62,-13 0-16,26 0 31,-26 0-31,1 0 16,12 0-1,-13 0-15,1 0 16,24 0 0,-12 0-1,0 0 1,0 0 0,13 0 15,-13 0-31,0 0 31,-12 0-15,24 0-1,-12 0-15,-12 0 16,12 0 0,-13 0-1,13 0 1,-12 0-1,12-13 1,-13 13 0,38-12-1,-37-1 1,-1 13 0,1 0 46,0 0-46,12 0-16,0 0 15,0 0-15,0 0 16,0 0 0,0 0 124,-13 0-109,1 0-15,-1 0 0,1 0-1,-1 0 63,1 0-46,12 0-17,-13 0 126,13 0-94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8-29T12:11:31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8387 5195 0,'13'0'203,"12"0"-187,-13 0 0,13 0-1,-12 0 1,-1 0-1,1 0 32,12 0-31,-13 0-16,1 0 16,-1 0-16,1 0 250,25 0-219,-26 12 94,13-12-94,0 13 125,-12-13 266,-1 0-172,1 0-203,12 0-16,-13 0-31</inkml:trace>
  <inkml:trace contextRef="#ctx0" brushRef="#br0" timeOffset="9823.94">5045 5770 0,'25'0'234,"-13"0"-202,26 0-1,-25 0-15,12 0-1,-13 0 1,1 0-16,12 0 94,-13 0-48,26 0-14,-1 0-1,-12 0 0,-12 13-15,-1-13-1,13 12 17,-12-12 61,24 13-61,-12-13 30,1 0-46,-14 0-1,13 12 329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8-29T12:29:19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4795 4231 0,'12'0'78,"1"0"-62,12 0-1,12 0 1,-12 0 0,0 0-1,-12 0-15,-1 0 16,1 0-16,-1 0 16,1 0-1,24 0 16,1 0-15,-13 0 0,0 0-1,-12 0 1,-1 0 0,13 0-1,13 0 1,-1 0-1,1 0 1,12 0 0,-38 0-1,38 0 1,-37 0 0,-1 0 15,1 0-16,-1 0 1,26 0 0,-25 0-1,12 0 1,-13 0 0,1 0-16,-1 0 15,1 0 1,-1 0-1,13 0 79,-12 0-78,12 0-1,0 12 1,-13 1 265,51-13-265</inkml:trace>
  <inkml:trace contextRef="#ctx0" brushRef="#br0" timeOffset="4415.71">6209 4181 0,'25'0'78,"50"0"-47,-50 0-15,25 0 0,0 0-1,-25 0 1,-12 0-16,12 0 31,13 0-15,-26 0-16,13 0 15,25 0 1,-25 0-16,13 0 16,-26 0-1,13 0 1,0 0 0,13 0-1,24 0 16,-24 0-15,-13 0 0,-12 0-1,-1 0 17,13 0-17,-12 0-15,-1 0 16,1 0 31,12 0-32,-13 0 1,13 0 15,0 0 0,0 0-15,0 0 0,0 0-1,-12 0 1,12 12-16,0-12 31,-12 0 79,-1 0-64,1 0-30,-1 0 15,1 0-15,-1 0 0,1 0 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F4FC1-B6A1-4724-BA2E-A7CFAD3700E7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73C1F-195A-485F-BF11-2A36C8B682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57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4C69B45E-A35C-69AD-58D4-700C2ADA5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790B0607-FA03-2C3D-C426-EB412D8E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72" name="Espaço Reservado para Número de Slide 3">
            <a:extLst>
              <a:ext uri="{FF2B5EF4-FFF2-40B4-BE49-F238E27FC236}">
                <a16:creationId xmlns:a16="http://schemas.microsoft.com/office/drawing/2014/main" id="{E29EE005-655A-D10F-A88C-FCD1B542C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004F65-8C5A-4320-B8BF-EC1E43C29DCB}" type="slidenum">
              <a:rPr lang="pt-BR" altLang="pt-B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73C1F-195A-485F-BF11-2A36C8B682B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19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171" y="814494"/>
            <a:ext cx="2481757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3D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Yu Gothic UI Semilight"/>
                <a:cs typeface="Yu Gothic UI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4723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3D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Yu Gothic UI Semilight"/>
                <a:cs typeface="Yu Gothic UI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4723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3D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4723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3D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4723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FE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516978"/>
            <a:ext cx="59601" cy="596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4723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24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30505" y="3218497"/>
            <a:ext cx="1060323" cy="276999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67434" y="3218497"/>
            <a:ext cx="1475232" cy="276999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1584" y="360495"/>
            <a:ext cx="600662" cy="2559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89831" y="3367039"/>
            <a:ext cx="264160" cy="76944"/>
          </a:xfrm>
        </p:spPr>
        <p:txBody>
          <a:bodyPr/>
          <a:lstStyle/>
          <a:p>
            <a:pPr>
              <a:defRPr/>
            </a:pPr>
            <a:fld id="{40CCB814-DC8D-480B-B785-DD82914A085D}" type="slidenum">
              <a:rPr lang="pt-BR" altLang="pt-BR" smtClean="0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08149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F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9686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3D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4461" y="1351908"/>
            <a:ext cx="2254250" cy="1354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Yu Gothic UI Semilight"/>
                <a:cs typeface="Yu Gothic UI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9831" y="3367039"/>
            <a:ext cx="26416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004723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75" dirty="0"/>
              <a:t>/</a:t>
            </a:r>
            <a:r>
              <a:rPr spc="15" dirty="0"/>
              <a:t> </a:t>
            </a:r>
            <a:r>
              <a:rPr spc="-25" dirty="0"/>
              <a:t>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C2B2DA-BC72-CB66-DCA1-28448A5B1C90}"/>
              </a:ext>
            </a:extLst>
          </p:cNvPr>
          <p:cNvSpPr/>
          <p:nvPr/>
        </p:nvSpPr>
        <p:spPr>
          <a:xfrm>
            <a:off x="45124" y="511478"/>
            <a:ext cx="451985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3025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MODELAGEM E</a:t>
            </a:r>
          </a:p>
          <a:p>
            <a:pPr algn="ctr">
              <a:defRPr/>
            </a:pPr>
            <a:r>
              <a:rPr lang="pt-BR" sz="3025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SIMULAÇÃO MATEMÁTICA 2026-2 </a:t>
            </a:r>
          </a:p>
          <a:p>
            <a:pPr algn="ctr">
              <a:defRPr/>
            </a:pPr>
            <a:r>
              <a:rPr lang="pt-BR" sz="3025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</a:rPr>
              <a:t>AULA 04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6706" y="98529"/>
            <a:ext cx="429728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0" dirty="0"/>
              <a:t>Aplica</a:t>
            </a:r>
            <a:r>
              <a:rPr b="1" spc="-815" dirty="0"/>
              <a:t>¸</a:t>
            </a:r>
            <a:r>
              <a:rPr b="1" spc="-40" dirty="0"/>
              <a:t>c</a:t>
            </a:r>
            <a:r>
              <a:rPr b="1" spc="-810" dirty="0"/>
              <a:t>o</a:t>
            </a:r>
            <a:r>
              <a:rPr b="1" spc="-50" dirty="0"/>
              <a:t>˜</a:t>
            </a:r>
            <a:r>
              <a:rPr b="1" spc="-40" dirty="0"/>
              <a:t>es</a:t>
            </a:r>
            <a:r>
              <a:rPr b="1" spc="30" dirty="0"/>
              <a:t> </a:t>
            </a:r>
            <a:r>
              <a:rPr b="1" dirty="0"/>
              <a:t>da</a:t>
            </a:r>
            <a:r>
              <a:rPr b="1" spc="-105" dirty="0"/>
              <a:t> </a:t>
            </a:r>
            <a:r>
              <a:rPr b="1" spc="-40" dirty="0"/>
              <a:t>l</a:t>
            </a:r>
            <a:r>
              <a:rPr b="1" spc="-810" dirty="0"/>
              <a:t>o</a:t>
            </a:r>
            <a:r>
              <a:rPr b="1" spc="-40" dirty="0"/>
              <a:t>´gica</a:t>
            </a:r>
            <a:r>
              <a:rPr b="1" spc="30" dirty="0"/>
              <a:t> </a:t>
            </a:r>
            <a:r>
              <a:rPr b="1" spc="-40" dirty="0"/>
              <a:t>proposicional:</a:t>
            </a:r>
            <a:r>
              <a:rPr b="1" spc="125" dirty="0"/>
              <a:t> </a:t>
            </a:r>
            <a:r>
              <a:rPr b="1" spc="-35" dirty="0"/>
              <a:t>Intr</a:t>
            </a:r>
            <a:r>
              <a:rPr b="1" dirty="0"/>
              <a:t>o</a:t>
            </a:r>
            <a:r>
              <a:rPr b="1" spc="-35" dirty="0"/>
              <a:t>du</a:t>
            </a:r>
            <a:r>
              <a:rPr b="1" spc="-810" dirty="0"/>
              <a:t>¸</a:t>
            </a:r>
            <a:r>
              <a:rPr b="1" spc="-55" dirty="0"/>
              <a:t>c</a:t>
            </a:r>
            <a:r>
              <a:rPr b="1" spc="-785" dirty="0"/>
              <a:t>˜</a:t>
            </a:r>
            <a:r>
              <a:rPr b="1" spc="-35" dirty="0"/>
              <a:t>ao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854113"/>
            <a:ext cx="59601" cy="596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777016"/>
            <a:ext cx="4081779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</a:t>
            </a:r>
            <a:r>
              <a:rPr sz="1000" spc="-590" dirty="0">
                <a:latin typeface="Tahoma"/>
                <a:cs typeface="Tahoma"/>
              </a:rPr>
              <a:t>´</a:t>
            </a:r>
            <a:r>
              <a:rPr sz="1000" spc="-30" dirty="0">
                <a:latin typeface="Tahoma"/>
                <a:cs typeface="Tahoma"/>
              </a:rPr>
              <a:t>ogica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tem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importantes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aplica</a:t>
            </a:r>
            <a:r>
              <a:rPr sz="1000" spc="-600" dirty="0">
                <a:latin typeface="Tahoma"/>
                <a:cs typeface="Tahoma"/>
              </a:rPr>
              <a:t>¸</a:t>
            </a:r>
            <a:r>
              <a:rPr sz="1000" spc="-40" dirty="0">
                <a:latin typeface="Tahoma"/>
                <a:cs typeface="Tahoma"/>
              </a:rPr>
              <a:t>c</a:t>
            </a:r>
            <a:r>
              <a:rPr sz="1000" spc="-600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oes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mate</a:t>
            </a:r>
            <a:r>
              <a:rPr sz="1000" spc="-50" dirty="0">
                <a:latin typeface="Tahoma"/>
                <a:cs typeface="Tahoma"/>
              </a:rPr>
              <a:t>m</a:t>
            </a:r>
            <a:r>
              <a:rPr sz="1000" spc="-580" dirty="0">
                <a:latin typeface="Tahoma"/>
                <a:cs typeface="Tahoma"/>
              </a:rPr>
              <a:t>´</a:t>
            </a:r>
            <a:r>
              <a:rPr sz="1000" spc="-35" dirty="0">
                <a:latin typeface="Tahoma"/>
                <a:cs typeface="Tahoma"/>
              </a:rPr>
              <a:t>atica,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</a:t>
            </a:r>
            <a:r>
              <a:rPr sz="1000" spc="-65" dirty="0">
                <a:latin typeface="Tahoma"/>
                <a:cs typeface="Tahoma"/>
              </a:rPr>
              <a:t>i</a:t>
            </a:r>
            <a:r>
              <a:rPr sz="1000" spc="-560" dirty="0">
                <a:latin typeface="Tahoma"/>
                <a:cs typeface="Tahoma"/>
              </a:rPr>
              <a:t>ˆ</a:t>
            </a:r>
            <a:r>
              <a:rPr sz="1000" spc="-30" dirty="0">
                <a:latin typeface="Tahoma"/>
                <a:cs typeface="Tahoma"/>
              </a:rPr>
              <a:t>encia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</a:t>
            </a:r>
            <a:r>
              <a:rPr sz="1000" spc="-35" dirty="0">
                <a:latin typeface="Tahoma"/>
                <a:cs typeface="Tahoma"/>
              </a:rPr>
              <a:t>a</a:t>
            </a:r>
            <a:r>
              <a:rPr sz="1000" spc="-495" dirty="0">
                <a:latin typeface="Tahoma"/>
                <a:cs typeface="Tahoma"/>
              </a:rPr>
              <a:t>c</a:t>
            </a:r>
            <a:r>
              <a:rPr sz="1000" spc="-40" dirty="0">
                <a:latin typeface="Tahoma"/>
                <a:cs typeface="Tahoma"/>
              </a:rPr>
              <a:t>¸</a:t>
            </a:r>
            <a:r>
              <a:rPr sz="1000" spc="-570" dirty="0">
                <a:latin typeface="Tahoma"/>
                <a:cs typeface="Tahoma"/>
              </a:rPr>
              <a:t>˜</a:t>
            </a:r>
            <a:r>
              <a:rPr sz="1000" spc="-25" dirty="0">
                <a:latin typeface="Tahoma"/>
                <a:cs typeface="Tahoma"/>
              </a:rPr>
              <a:t>ao,</a:t>
            </a:r>
            <a:r>
              <a:rPr sz="1000" spc="-10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40" dirty="0">
                <a:latin typeface="Tahoma"/>
                <a:cs typeface="Tahoma"/>
              </a:rPr>
              <a:t> diversas </a:t>
            </a:r>
            <a:r>
              <a:rPr sz="1000" spc="-30" dirty="0">
                <a:latin typeface="Tahoma"/>
                <a:cs typeface="Tahoma"/>
              </a:rPr>
              <a:t>outras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disciplinas:</a:t>
            </a:r>
            <a:endParaRPr sz="1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597" y="1219508"/>
            <a:ext cx="104301" cy="1043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254" y="121012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925" y="1177983"/>
            <a:ext cx="3812540" cy="2788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lang="pt-BR" sz="900" spc="-120" dirty="0">
                <a:latin typeface="Tahoma"/>
                <a:cs typeface="Tahoma"/>
              </a:rPr>
              <a:t>T</a:t>
            </a:r>
            <a:r>
              <a:rPr sz="900" spc="-120" dirty="0" err="1">
                <a:latin typeface="Tahoma"/>
                <a:cs typeface="Tahoma"/>
              </a:rPr>
              <a:t>radu</a:t>
            </a:r>
            <a:r>
              <a:rPr lang="pt-BR" sz="900" spc="-120" dirty="0" err="1">
                <a:latin typeface="Tahoma"/>
                <a:cs typeface="Tahoma"/>
              </a:rPr>
              <a:t>ção</a:t>
            </a:r>
            <a:r>
              <a:rPr lang="pt-BR" sz="900" spc="-1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85" dirty="0" err="1">
                <a:latin typeface="Tahoma"/>
                <a:cs typeface="Tahoma"/>
              </a:rPr>
              <a:t>senten</a:t>
            </a:r>
            <a:r>
              <a:rPr lang="pt-BR" sz="900" spc="-85" dirty="0" err="1">
                <a:latin typeface="Tahoma"/>
                <a:cs typeface="Tahoma"/>
              </a:rPr>
              <a:t>ça</a:t>
            </a:r>
            <a:r>
              <a:rPr sz="900" spc="-85" dirty="0">
                <a:latin typeface="Tahoma"/>
                <a:cs typeface="Tahoma"/>
              </a:rPr>
              <a:t>s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em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linguagem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natural,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30" dirty="0" err="1">
                <a:latin typeface="Tahoma"/>
                <a:cs typeface="Tahoma"/>
              </a:rPr>
              <a:t>frequentemente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80" dirty="0" err="1">
                <a:latin typeface="Tahoma"/>
                <a:cs typeface="Tahoma"/>
              </a:rPr>
              <a:t>amb</a:t>
            </a:r>
            <a:r>
              <a:rPr lang="pt-BR" sz="900" spc="-80" dirty="0">
                <a:latin typeface="Tahoma"/>
                <a:cs typeface="Tahoma"/>
              </a:rPr>
              <a:t>í</a:t>
            </a:r>
            <a:r>
              <a:rPr sz="900" spc="-80" dirty="0" err="1">
                <a:latin typeface="Tahoma"/>
                <a:cs typeface="Tahoma"/>
              </a:rPr>
              <a:t>guas</a:t>
            </a:r>
            <a:r>
              <a:rPr sz="900" spc="-80" dirty="0">
                <a:latin typeface="Tahoma"/>
                <a:cs typeface="Tahoma"/>
              </a:rPr>
              <a:t>,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para </a:t>
            </a:r>
            <a:r>
              <a:rPr sz="900" dirty="0">
                <a:latin typeface="Tahoma"/>
                <a:cs typeface="Tahoma"/>
              </a:rPr>
              <a:t>uma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linguagem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precisa,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597" y="1569862"/>
            <a:ext cx="104301" cy="1043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9254" y="1560483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514" y="1452149"/>
            <a:ext cx="3561079" cy="44830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900" spc="-30" dirty="0">
                <a:latin typeface="Tahoma"/>
                <a:cs typeface="Tahoma"/>
              </a:rPr>
              <a:t>es</a:t>
            </a:r>
            <a:r>
              <a:rPr sz="900" spc="-5" dirty="0">
                <a:latin typeface="Tahoma"/>
                <a:cs typeface="Tahoma"/>
              </a:rPr>
              <a:t>p</a:t>
            </a:r>
            <a:r>
              <a:rPr sz="900" spc="-40" dirty="0">
                <a:latin typeface="Tahoma"/>
                <a:cs typeface="Tahoma"/>
              </a:rPr>
              <a:t>e</a:t>
            </a:r>
            <a:r>
              <a:rPr sz="900" spc="-30" dirty="0">
                <a:latin typeface="Tahoma"/>
                <a:cs typeface="Tahoma"/>
              </a:rPr>
              <a:t>cifica</a:t>
            </a:r>
            <a:r>
              <a:rPr sz="900" spc="-525" dirty="0">
                <a:latin typeface="Tahoma"/>
                <a:cs typeface="Tahoma"/>
              </a:rPr>
              <a:t>¸</a:t>
            </a:r>
            <a:r>
              <a:rPr sz="900" spc="-45" dirty="0">
                <a:latin typeface="Tahoma"/>
                <a:cs typeface="Tahoma"/>
              </a:rPr>
              <a:t>c</a:t>
            </a:r>
            <a:r>
              <a:rPr sz="900" spc="-515" dirty="0">
                <a:latin typeface="Tahoma"/>
                <a:cs typeface="Tahoma"/>
              </a:rPr>
              <a:t>˜</a:t>
            </a:r>
            <a:r>
              <a:rPr sz="900" spc="-30" dirty="0">
                <a:latin typeface="Tahoma"/>
                <a:cs typeface="Tahoma"/>
              </a:rPr>
              <a:t>ao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dirty="0" err="1">
                <a:latin typeface="Tahoma"/>
                <a:cs typeface="Tahoma"/>
              </a:rPr>
              <a:t>circuitos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</a:t>
            </a:r>
            <a:r>
              <a:rPr lang="pt-BR" sz="900" spc="-10" dirty="0">
                <a:latin typeface="Tahoma"/>
                <a:cs typeface="Tahoma"/>
              </a:rPr>
              <a:t>ó</a:t>
            </a:r>
            <a:r>
              <a:rPr sz="900" spc="-10" dirty="0" err="1">
                <a:latin typeface="Tahoma"/>
                <a:cs typeface="Tahoma"/>
              </a:rPr>
              <a:t>gicos</a:t>
            </a:r>
            <a:r>
              <a:rPr sz="900" spc="-10" dirty="0">
                <a:latin typeface="Tahoma"/>
                <a:cs typeface="Tahoma"/>
              </a:rPr>
              <a:t>,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lang="pt-BR" sz="900" spc="-135" dirty="0">
                <a:latin typeface="Tahoma"/>
                <a:cs typeface="Tahoma"/>
              </a:rPr>
              <a:t>Solução  </a:t>
            </a:r>
            <a:r>
              <a:rPr sz="900" spc="-10" dirty="0">
                <a:latin typeface="Tahoma"/>
                <a:cs typeface="Tahoma"/>
              </a:rPr>
              <a:t>de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40" dirty="0" err="1">
                <a:latin typeface="Tahoma"/>
                <a:cs typeface="Tahoma"/>
              </a:rPr>
              <a:t>quebra-</a:t>
            </a:r>
            <a:r>
              <a:rPr sz="900" spc="-90" dirty="0" err="1">
                <a:latin typeface="Tahoma"/>
                <a:cs typeface="Tahoma"/>
              </a:rPr>
              <a:t>cabe</a:t>
            </a:r>
            <a:r>
              <a:rPr lang="pt-BR" sz="900" spc="-90" dirty="0" err="1">
                <a:latin typeface="Tahoma"/>
                <a:cs typeface="Tahoma"/>
              </a:rPr>
              <a:t>ças</a:t>
            </a:r>
            <a:r>
              <a:rPr lang="pt-BR" sz="900" spc="-90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(o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25" dirty="0" err="1">
                <a:latin typeface="Tahoma"/>
                <a:cs typeface="Tahoma"/>
              </a:rPr>
              <a:t>que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lang="pt-BR" sz="900" spc="-270" dirty="0">
                <a:latin typeface="Tahoma"/>
                <a:cs typeface="Tahoma"/>
              </a:rPr>
              <a:t>é</a:t>
            </a:r>
            <a:r>
              <a:rPr lang="pt-BR" sz="900" spc="25" dirty="0">
                <a:latin typeface="Tahoma"/>
                <a:cs typeface="Tahoma"/>
              </a:rPr>
              <a:t>  </a:t>
            </a:r>
            <a:r>
              <a:rPr sz="900" spc="-30" dirty="0" err="1">
                <a:latin typeface="Tahoma"/>
                <a:cs typeface="Tahoma"/>
              </a:rPr>
              <a:t>essencial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para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50" dirty="0" err="1">
                <a:latin typeface="Tahoma"/>
                <a:cs typeface="Tahoma"/>
              </a:rPr>
              <a:t>intelig</a:t>
            </a:r>
            <a:r>
              <a:rPr lang="pt-BR" sz="900" spc="-50" dirty="0" err="1">
                <a:latin typeface="Tahoma"/>
                <a:cs typeface="Tahoma"/>
              </a:rPr>
              <a:t>ência</a:t>
            </a:r>
            <a:r>
              <a:rPr lang="pt-BR" sz="900" spc="-5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artificial),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597" y="1781051"/>
            <a:ext cx="104301" cy="1043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89254" y="1771659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597" y="1992226"/>
            <a:ext cx="104301" cy="1043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89254" y="1982834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925" y="1876162"/>
            <a:ext cx="3653790" cy="61042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lang="pt-BR" sz="1000" spc="-75" dirty="0">
                <a:latin typeface="Tahoma"/>
                <a:cs typeface="Tahoma"/>
              </a:rPr>
              <a:t>A</a:t>
            </a:r>
            <a:r>
              <a:rPr sz="1000" spc="-75" dirty="0" err="1">
                <a:latin typeface="Tahoma"/>
                <a:cs typeface="Tahoma"/>
              </a:rPr>
              <a:t>utomatiza</a:t>
            </a:r>
            <a:r>
              <a:rPr lang="pt-BR" sz="1000" spc="-75" dirty="0" err="1">
                <a:latin typeface="Tahoma"/>
                <a:cs typeface="Tahoma"/>
              </a:rPr>
              <a:t>ção</a:t>
            </a:r>
            <a:r>
              <a:rPr lang="pt-BR" sz="1000" spc="-7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processo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5" dirty="0" err="1">
                <a:latin typeface="Tahoma"/>
                <a:cs typeface="Tahoma"/>
              </a:rPr>
              <a:t>constru</a:t>
            </a:r>
            <a:r>
              <a:rPr lang="pt-BR" sz="1000" spc="-105" dirty="0" err="1">
                <a:latin typeface="Tahoma"/>
                <a:cs typeface="Tahoma"/>
              </a:rPr>
              <a:t>ção</a:t>
            </a:r>
            <a:r>
              <a:rPr lang="pt-BR" sz="1000" spc="-10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95" dirty="0" err="1">
                <a:latin typeface="Tahoma"/>
                <a:cs typeface="Tahoma"/>
              </a:rPr>
              <a:t>demonstra</a:t>
            </a:r>
            <a:r>
              <a:rPr lang="pt-BR" sz="1000" spc="-95" dirty="0" err="1">
                <a:latin typeface="Tahoma"/>
                <a:cs typeface="Tahoma"/>
              </a:rPr>
              <a:t>ções</a:t>
            </a:r>
            <a:r>
              <a:rPr lang="pt-BR" sz="1000" spc="-95" dirty="0">
                <a:latin typeface="Tahoma"/>
                <a:cs typeface="Tahoma"/>
              </a:rPr>
              <a:t>  </a:t>
            </a:r>
            <a:r>
              <a:rPr sz="1000" spc="-45" dirty="0" err="1">
                <a:latin typeface="Tahoma"/>
                <a:cs typeface="Tahoma"/>
              </a:rPr>
              <a:t>matem</a:t>
            </a:r>
            <a:r>
              <a:rPr lang="pt-BR" sz="1000" spc="-45" dirty="0">
                <a:latin typeface="Tahoma"/>
                <a:cs typeface="Tahoma"/>
              </a:rPr>
              <a:t>áticas </a:t>
            </a:r>
            <a:endParaRPr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i="1" dirty="0">
                <a:latin typeface="Arial"/>
                <a:cs typeface="Arial"/>
              </a:rPr>
              <a:t>.</a:t>
            </a:r>
            <a:r>
              <a:rPr sz="900" i="1" spc="-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i="1" spc="-9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597" y="2203402"/>
            <a:ext cx="104301" cy="10430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89254" y="219402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6705" y="2513406"/>
            <a:ext cx="59601" cy="5960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66877" y="2436309"/>
            <a:ext cx="40640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Nesta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se</a:t>
            </a:r>
            <a:r>
              <a:rPr sz="1000" spc="-545" dirty="0">
                <a:latin typeface="Tahoma"/>
                <a:cs typeface="Tahoma"/>
              </a:rPr>
              <a:t>c</a:t>
            </a:r>
            <a:r>
              <a:rPr sz="1000" spc="-95" dirty="0">
                <a:latin typeface="Tahoma"/>
                <a:cs typeface="Tahoma"/>
              </a:rPr>
              <a:t>¸</a:t>
            </a:r>
            <a:r>
              <a:rPr sz="1000" spc="-620" dirty="0">
                <a:latin typeface="Tahoma"/>
                <a:cs typeface="Tahoma"/>
              </a:rPr>
              <a:t>˜</a:t>
            </a:r>
            <a:r>
              <a:rPr sz="1000" spc="-75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vamos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exemplificar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algumas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destas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aplica</a:t>
            </a:r>
            <a:r>
              <a:rPr sz="1000" spc="-600" dirty="0">
                <a:latin typeface="Tahoma"/>
                <a:cs typeface="Tahoma"/>
              </a:rPr>
              <a:t>¸</a:t>
            </a:r>
            <a:r>
              <a:rPr sz="1000" spc="-40" dirty="0">
                <a:latin typeface="Tahoma"/>
                <a:cs typeface="Tahoma"/>
              </a:rPr>
              <a:t>c</a:t>
            </a:r>
            <a:r>
              <a:rPr sz="1000" spc="-600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oes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r</a:t>
            </a:r>
            <a:r>
              <a:rPr sz="1000" spc="-575" dirty="0">
                <a:latin typeface="Tahoma"/>
                <a:cs typeface="Tahoma"/>
              </a:rPr>
              <a:t>´</a:t>
            </a:r>
            <a:r>
              <a:rPr sz="1000" spc="-30" dirty="0">
                <a:latin typeface="Tahoma"/>
                <a:cs typeface="Tahoma"/>
              </a:rPr>
              <a:t>aticas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 </a:t>
            </a:r>
            <a:r>
              <a:rPr sz="1000" spc="-5" dirty="0">
                <a:latin typeface="Tahoma"/>
                <a:cs typeface="Tahoma"/>
              </a:rPr>
              <a:t>l</a:t>
            </a:r>
            <a:r>
              <a:rPr sz="1000" spc="-565" dirty="0">
                <a:latin typeface="Tahoma"/>
                <a:cs typeface="Tahoma"/>
              </a:rPr>
              <a:t>´</a:t>
            </a:r>
            <a:r>
              <a:rPr sz="1000" spc="-5" dirty="0">
                <a:latin typeface="Tahoma"/>
                <a:cs typeface="Tahoma"/>
              </a:rPr>
              <a:t>ogica</a:t>
            </a:r>
            <a:r>
              <a:rPr sz="1000" spc="-8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proposicional.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5856" y="143145"/>
            <a:ext cx="41281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35" dirty="0"/>
              <a:t>Traduzindo</a:t>
            </a:r>
            <a:r>
              <a:rPr b="1" spc="-50" dirty="0"/>
              <a:t> </a:t>
            </a:r>
            <a:r>
              <a:rPr b="1" spc="-70" dirty="0"/>
              <a:t>senten</a:t>
            </a:r>
            <a:r>
              <a:rPr b="1" spc="-844" dirty="0"/>
              <a:t>¸</a:t>
            </a:r>
            <a:r>
              <a:rPr b="1" spc="-70" dirty="0"/>
              <a:t>cas</a:t>
            </a:r>
            <a:r>
              <a:rPr b="1" spc="30" dirty="0"/>
              <a:t> </a:t>
            </a:r>
            <a:r>
              <a:rPr b="1" spc="-55" dirty="0"/>
              <a:t>em</a:t>
            </a:r>
            <a:r>
              <a:rPr b="1" spc="-10" dirty="0"/>
              <a:t> </a:t>
            </a:r>
            <a:r>
              <a:rPr b="1" spc="-50" dirty="0"/>
              <a:t>linguagem</a:t>
            </a:r>
            <a:r>
              <a:rPr b="1" spc="-10" dirty="0"/>
              <a:t> natural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877" y="840719"/>
            <a:ext cx="40201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Senten</a:t>
            </a:r>
            <a:r>
              <a:rPr sz="1000" spc="-610" dirty="0">
                <a:latin typeface="Tahoma"/>
                <a:cs typeface="Tahoma"/>
              </a:rPr>
              <a:t>¸</a:t>
            </a:r>
            <a:r>
              <a:rPr sz="1000" spc="-50" dirty="0">
                <a:latin typeface="Tahoma"/>
                <a:cs typeface="Tahoma"/>
              </a:rPr>
              <a:t>cas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em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linguagem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natural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75" dirty="0" err="1">
                <a:latin typeface="Tahoma"/>
                <a:cs typeface="Tahoma"/>
              </a:rPr>
              <a:t>s</a:t>
            </a:r>
            <a:r>
              <a:rPr sz="1000" spc="-605" dirty="0" err="1">
                <a:latin typeface="Tahoma"/>
                <a:cs typeface="Tahoma"/>
              </a:rPr>
              <a:t>˜</a:t>
            </a:r>
            <a:r>
              <a:rPr sz="1000" spc="-60" dirty="0" err="1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 err="1">
                <a:latin typeface="Tahoma"/>
                <a:cs typeface="Tahoma"/>
              </a:rPr>
              <a:t>frequ</a:t>
            </a:r>
            <a:r>
              <a:rPr lang="pt-BR" sz="1000" spc="-45" dirty="0">
                <a:latin typeface="Tahoma"/>
                <a:cs typeface="Tahoma"/>
              </a:rPr>
              <a:t>ê</a:t>
            </a:r>
            <a:r>
              <a:rPr sz="1000" spc="-45" dirty="0" err="1">
                <a:latin typeface="Tahoma"/>
                <a:cs typeface="Tahoma"/>
              </a:rPr>
              <a:t>ntemente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0" dirty="0" err="1">
                <a:latin typeface="Tahoma"/>
                <a:cs typeface="Tahoma"/>
              </a:rPr>
              <a:t>amb</a:t>
            </a:r>
            <a:r>
              <a:rPr lang="pt-BR" sz="1000" spc="-100" dirty="0" err="1">
                <a:latin typeface="Tahoma"/>
                <a:cs typeface="Tahoma"/>
              </a:rPr>
              <a:t>íguas</a:t>
            </a:r>
            <a:r>
              <a:rPr sz="1000" spc="-100" dirty="0">
                <a:latin typeface="Tahoma"/>
                <a:cs typeface="Tahoma"/>
              </a:rPr>
              <a:t>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pode </a:t>
            </a:r>
            <a:r>
              <a:rPr sz="1000" spc="-45" dirty="0">
                <a:latin typeface="Tahoma"/>
                <a:cs typeface="Tahoma"/>
              </a:rPr>
              <a:t>causar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problemas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comunica</a:t>
            </a:r>
            <a:r>
              <a:rPr sz="1000" spc="-520" dirty="0">
                <a:latin typeface="Tahoma"/>
                <a:cs typeface="Tahoma"/>
              </a:rPr>
              <a:t>¸</a:t>
            </a:r>
            <a:r>
              <a:rPr sz="1000" spc="25" dirty="0">
                <a:latin typeface="Tahoma"/>
                <a:cs typeface="Tahoma"/>
              </a:rPr>
              <a:t>c</a:t>
            </a:r>
            <a:r>
              <a:rPr sz="1000" spc="-505" dirty="0">
                <a:latin typeface="Tahoma"/>
                <a:cs typeface="Tahoma"/>
              </a:rPr>
              <a:t>˜</a:t>
            </a:r>
            <a:r>
              <a:rPr sz="1000" spc="40" dirty="0">
                <a:latin typeface="Tahoma"/>
                <a:cs typeface="Tahoma"/>
              </a:rPr>
              <a:t>ao.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877" y="1590743"/>
            <a:ext cx="412813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 err="1">
                <a:latin typeface="Tahoma"/>
                <a:cs typeface="Tahoma"/>
              </a:rPr>
              <a:t>Traduzir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10" dirty="0" err="1">
                <a:latin typeface="Tahoma"/>
                <a:cs typeface="Tahoma"/>
              </a:rPr>
              <a:t>senten</a:t>
            </a:r>
            <a:r>
              <a:rPr lang="pt-BR" sz="1000" spc="-110" dirty="0" err="1">
                <a:latin typeface="Tahoma"/>
                <a:cs typeface="Tahoma"/>
              </a:rPr>
              <a:t>ças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linguagem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natural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8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ro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osi</a:t>
            </a:r>
            <a:r>
              <a:rPr sz="1000" spc="-605" dirty="0">
                <a:latin typeface="Tahoma"/>
                <a:cs typeface="Tahoma"/>
              </a:rPr>
              <a:t>¸</a:t>
            </a:r>
            <a:r>
              <a:rPr sz="1000" spc="-45" dirty="0">
                <a:latin typeface="Tahoma"/>
                <a:cs typeface="Tahoma"/>
              </a:rPr>
              <a:t>c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oes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compostas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remove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ambiguidade.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877" y="2340754"/>
            <a:ext cx="3850004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Uma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vez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traduzidas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8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ro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osi</a:t>
            </a:r>
            <a:r>
              <a:rPr sz="1000" spc="-605" dirty="0">
                <a:latin typeface="Tahoma"/>
                <a:cs typeface="Tahoma"/>
              </a:rPr>
              <a:t>¸</a:t>
            </a:r>
            <a:r>
              <a:rPr sz="1000" spc="-45" dirty="0">
                <a:latin typeface="Tahoma"/>
                <a:cs typeface="Tahoma"/>
              </a:rPr>
              <a:t>c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oes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</a:t>
            </a:r>
            <a:r>
              <a:rPr sz="1000" spc="-590" dirty="0">
                <a:latin typeface="Tahoma"/>
                <a:cs typeface="Tahoma"/>
              </a:rPr>
              <a:t>´</a:t>
            </a:r>
            <a:r>
              <a:rPr sz="1000" spc="-30" dirty="0">
                <a:latin typeface="Tahoma"/>
                <a:cs typeface="Tahoma"/>
              </a:rPr>
              <a:t>ogicas,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estas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senten</a:t>
            </a:r>
            <a:r>
              <a:rPr sz="1000" spc="-615" dirty="0">
                <a:latin typeface="Tahoma"/>
                <a:cs typeface="Tahoma"/>
              </a:rPr>
              <a:t>¸</a:t>
            </a:r>
            <a:r>
              <a:rPr sz="1000" spc="-55" dirty="0">
                <a:latin typeface="Tahoma"/>
                <a:cs typeface="Tahoma"/>
              </a:rPr>
              <a:t>cas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podem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ser </a:t>
            </a:r>
            <a:r>
              <a:rPr sz="1000" spc="-40" dirty="0">
                <a:latin typeface="Tahoma"/>
                <a:cs typeface="Tahoma"/>
              </a:rPr>
              <a:t>analisadas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quanto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seu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valor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verdade.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allAtOnce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6250" y="68491"/>
            <a:ext cx="388619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35" dirty="0"/>
              <a:t>Traduzindo</a:t>
            </a:r>
            <a:r>
              <a:rPr b="1" spc="-50" dirty="0"/>
              <a:t> </a:t>
            </a:r>
            <a:r>
              <a:rPr b="1" spc="-70" dirty="0"/>
              <a:t>senten</a:t>
            </a:r>
            <a:r>
              <a:rPr b="1" spc="-844" dirty="0"/>
              <a:t>¸</a:t>
            </a:r>
            <a:r>
              <a:rPr b="1" spc="-70" dirty="0"/>
              <a:t>cas</a:t>
            </a:r>
            <a:r>
              <a:rPr b="1" spc="30" dirty="0"/>
              <a:t> </a:t>
            </a:r>
            <a:r>
              <a:rPr b="1" spc="-55" dirty="0"/>
              <a:t>em</a:t>
            </a:r>
            <a:r>
              <a:rPr b="1" spc="-10" dirty="0"/>
              <a:t> </a:t>
            </a:r>
            <a:r>
              <a:rPr b="1" spc="-50" dirty="0"/>
              <a:t>linguagem</a:t>
            </a:r>
            <a:r>
              <a:rPr b="1" spc="-10" dirty="0"/>
              <a:t> natural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104" y="509358"/>
            <a:ext cx="636270" cy="19367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spc="-25" dirty="0">
                <a:latin typeface="Tahoma"/>
                <a:cs typeface="Tahoma"/>
              </a:rPr>
              <a:t>Exemplo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1143" y="498480"/>
            <a:ext cx="207137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Seja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lang="pt-BR" sz="1000" spc="-110" dirty="0">
                <a:latin typeface="Tahoma"/>
                <a:cs typeface="Tahoma"/>
              </a:rPr>
              <a:t>sentença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em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linguagem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natural: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768" y="802447"/>
            <a:ext cx="4127500" cy="25898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marR="18415" algn="ctr">
              <a:lnSpc>
                <a:spcPct val="100000"/>
              </a:lnSpc>
              <a:spcBef>
                <a:spcPts val="95"/>
              </a:spcBef>
            </a:pPr>
            <a:r>
              <a:rPr sz="1000" i="1" spc="-60" dirty="0">
                <a:latin typeface="Arial"/>
                <a:cs typeface="Arial"/>
              </a:rPr>
              <a:t>“</a:t>
            </a:r>
            <a:r>
              <a:rPr lang="pt-BR" sz="1000" b="1" dirty="0">
                <a:solidFill>
                  <a:srgbClr val="002060"/>
                </a:solidFill>
              </a:rPr>
              <a:t>você</a:t>
            </a:r>
            <a:r>
              <a:rPr lang="pt-BR" sz="1800" b="1" dirty="0">
                <a:solidFill>
                  <a:srgbClr val="002060"/>
                </a:solidFill>
              </a:rPr>
              <a:t> </a:t>
            </a:r>
            <a:r>
              <a:rPr lang="pt-BR" sz="1000" b="1" dirty="0">
                <a:solidFill>
                  <a:srgbClr val="002060"/>
                </a:solidFill>
              </a:rPr>
              <a:t>não</a:t>
            </a:r>
            <a:r>
              <a:rPr lang="pt-BR" sz="1800" b="1" dirty="0">
                <a:solidFill>
                  <a:srgbClr val="002060"/>
                </a:solidFill>
              </a:rPr>
              <a:t> </a:t>
            </a:r>
            <a:r>
              <a:rPr sz="1000" b="1" i="1" spc="-30" dirty="0" err="1">
                <a:solidFill>
                  <a:srgbClr val="002060"/>
                </a:solidFill>
                <a:latin typeface="Arial"/>
                <a:cs typeface="Arial"/>
              </a:rPr>
              <a:t>pode</a:t>
            </a:r>
            <a:r>
              <a:rPr sz="1000" b="1" i="1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35" dirty="0">
                <a:solidFill>
                  <a:srgbClr val="002060"/>
                </a:solidFill>
                <a:latin typeface="Arial"/>
                <a:cs typeface="Arial"/>
              </a:rPr>
              <a:t>andar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na</a:t>
            </a:r>
            <a:r>
              <a:rPr sz="1000" b="1" i="1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30" dirty="0">
                <a:solidFill>
                  <a:srgbClr val="002060"/>
                </a:solidFill>
                <a:latin typeface="Arial"/>
                <a:cs typeface="Arial"/>
              </a:rPr>
              <a:t>montanha</a:t>
            </a:r>
            <a:r>
              <a:rPr sz="1000" b="1" i="1" spc="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70" dirty="0">
                <a:solidFill>
                  <a:srgbClr val="002060"/>
                </a:solidFill>
                <a:latin typeface="Arial"/>
                <a:cs typeface="Arial"/>
              </a:rPr>
              <a:t>russa</a:t>
            </a:r>
            <a:r>
              <a:rPr sz="1000" b="1" i="1" spc="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114" dirty="0">
                <a:solidFill>
                  <a:srgbClr val="002060"/>
                </a:solidFill>
                <a:latin typeface="Arial"/>
                <a:cs typeface="Arial"/>
              </a:rPr>
              <a:t>se</a:t>
            </a:r>
            <a:r>
              <a:rPr sz="1000" b="1" i="1" spc="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pt-BR" sz="1000" b="1" dirty="0">
                <a:solidFill>
                  <a:srgbClr val="002060"/>
                </a:solidFill>
              </a:rPr>
              <a:t>você </a:t>
            </a:r>
            <a:r>
              <a:rPr sz="1000" b="1" i="1" dirty="0" err="1">
                <a:solidFill>
                  <a:srgbClr val="002060"/>
                </a:solidFill>
                <a:latin typeface="Arial"/>
                <a:cs typeface="Arial"/>
              </a:rPr>
              <a:t>tiver</a:t>
            </a:r>
            <a:r>
              <a:rPr sz="1000" b="1" i="1" spc="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70" dirty="0">
                <a:solidFill>
                  <a:srgbClr val="002060"/>
                </a:solidFill>
                <a:latin typeface="Arial"/>
                <a:cs typeface="Arial"/>
              </a:rPr>
              <a:t>menos</a:t>
            </a:r>
            <a:r>
              <a:rPr sz="1000" b="1" i="1" spc="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40" dirty="0">
                <a:solidFill>
                  <a:srgbClr val="002060"/>
                </a:solidFill>
                <a:latin typeface="Arial"/>
                <a:cs typeface="Arial"/>
              </a:rPr>
              <a:t>que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30" dirty="0">
                <a:solidFill>
                  <a:srgbClr val="002060"/>
                </a:solidFill>
                <a:latin typeface="Arial"/>
                <a:cs typeface="Arial"/>
              </a:rPr>
              <a:t>1,50m</a:t>
            </a:r>
            <a:r>
              <a:rPr sz="1000" b="1" i="1" spc="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25" dirty="0">
                <a:solidFill>
                  <a:srgbClr val="002060"/>
                </a:solidFill>
                <a:latin typeface="Arial"/>
                <a:cs typeface="Arial"/>
              </a:rPr>
              <a:t>de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altura,</a:t>
            </a:r>
            <a:r>
              <a:rPr sz="1000" b="1" i="1" spc="-6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a</a:t>
            </a:r>
            <a:r>
              <a:rPr sz="1000" b="1" i="1" spc="-3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70" dirty="0">
                <a:solidFill>
                  <a:srgbClr val="002060"/>
                </a:solidFill>
                <a:latin typeface="Arial"/>
                <a:cs typeface="Arial"/>
              </a:rPr>
              <a:t>menos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40" dirty="0" err="1">
                <a:solidFill>
                  <a:srgbClr val="002060"/>
                </a:solidFill>
                <a:latin typeface="Arial"/>
                <a:cs typeface="Arial"/>
              </a:rPr>
              <a:t>que</a:t>
            </a:r>
            <a:r>
              <a:rPr sz="1000" b="1" i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pt-BR" sz="1000" b="1" dirty="0">
                <a:solidFill>
                  <a:srgbClr val="002060"/>
                </a:solidFill>
              </a:rPr>
              <a:t>você </a:t>
            </a:r>
            <a:r>
              <a:rPr sz="1000" b="1" i="1" spc="-20" dirty="0" err="1">
                <a:solidFill>
                  <a:srgbClr val="002060"/>
                </a:solidFill>
                <a:latin typeface="Arial"/>
                <a:cs typeface="Arial"/>
              </a:rPr>
              <a:t>tenha</a:t>
            </a:r>
            <a:r>
              <a:rPr sz="1000" b="1" i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45" dirty="0">
                <a:solidFill>
                  <a:srgbClr val="002060"/>
                </a:solidFill>
                <a:latin typeface="Arial"/>
                <a:cs typeface="Arial"/>
              </a:rPr>
              <a:t>mais</a:t>
            </a:r>
            <a:r>
              <a:rPr sz="1000" b="1" i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40" dirty="0">
                <a:solidFill>
                  <a:srgbClr val="002060"/>
                </a:solidFill>
                <a:latin typeface="Arial"/>
                <a:cs typeface="Arial"/>
              </a:rPr>
              <a:t>de</a:t>
            </a:r>
            <a:r>
              <a:rPr sz="1000" b="1" i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16</a:t>
            </a:r>
            <a:r>
              <a:rPr sz="1000" b="1" i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i="1" spc="-10" dirty="0">
                <a:solidFill>
                  <a:srgbClr val="002060"/>
                </a:solidFill>
                <a:latin typeface="Arial"/>
                <a:cs typeface="Arial"/>
              </a:rPr>
              <a:t>anos.”</a:t>
            </a:r>
            <a:endParaRPr sz="1000" b="1" dirty="0">
              <a:solidFill>
                <a:srgbClr val="002060"/>
              </a:solidFill>
              <a:latin typeface="Arial"/>
              <a:cs typeface="Arial"/>
            </a:endParaRPr>
          </a:p>
          <a:p>
            <a:pPr marL="12700" marR="261620">
              <a:lnSpc>
                <a:spcPct val="100000"/>
              </a:lnSpc>
              <a:spcBef>
                <a:spcPts val="855"/>
              </a:spcBef>
            </a:pPr>
            <a:r>
              <a:rPr sz="1000" spc="-30" dirty="0">
                <a:latin typeface="Tahoma"/>
                <a:cs typeface="Tahoma"/>
              </a:rPr>
              <a:t>Podemos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90" dirty="0" err="1">
                <a:latin typeface="Tahoma"/>
                <a:cs typeface="Tahoma"/>
              </a:rPr>
              <a:t>traduz</a:t>
            </a:r>
            <a:r>
              <a:rPr lang="pt-BR" sz="1000" spc="-90" dirty="0">
                <a:latin typeface="Tahoma"/>
                <a:cs typeface="Tahoma"/>
              </a:rPr>
              <a:t>í</a:t>
            </a:r>
            <a:r>
              <a:rPr sz="1000" spc="-90" dirty="0">
                <a:latin typeface="Tahoma"/>
                <a:cs typeface="Tahoma"/>
              </a:rPr>
              <a:t>-</a:t>
            </a:r>
            <a:r>
              <a:rPr sz="1000" dirty="0">
                <a:latin typeface="Tahoma"/>
                <a:cs typeface="Tahoma"/>
              </a:rPr>
              <a:t>la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uma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ro</a:t>
            </a:r>
            <a:r>
              <a:rPr sz="1000" spc="-1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osi</a:t>
            </a:r>
            <a:r>
              <a:rPr sz="1000" spc="-600" dirty="0">
                <a:latin typeface="Tahoma"/>
                <a:cs typeface="Tahoma"/>
              </a:rPr>
              <a:t>¸</a:t>
            </a:r>
            <a:r>
              <a:rPr sz="1000" spc="-55" dirty="0">
                <a:latin typeface="Tahoma"/>
                <a:cs typeface="Tahoma"/>
              </a:rPr>
              <a:t>c</a:t>
            </a:r>
            <a:r>
              <a:rPr sz="1000" spc="-585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composta,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usamos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seguintes </a:t>
            </a:r>
            <a:r>
              <a:rPr sz="1000" spc="-10" dirty="0">
                <a:latin typeface="Tahoma"/>
                <a:cs typeface="Tahoma"/>
              </a:rPr>
              <a:t>p</a:t>
            </a:r>
            <a:r>
              <a:rPr sz="1000" spc="25" dirty="0">
                <a:latin typeface="Tahoma"/>
                <a:cs typeface="Tahoma"/>
              </a:rPr>
              <a:t>ro</a:t>
            </a:r>
            <a:r>
              <a:rPr sz="1000" spc="50" dirty="0">
                <a:latin typeface="Tahoma"/>
                <a:cs typeface="Tahoma"/>
              </a:rPr>
              <a:t>p</a:t>
            </a:r>
            <a:r>
              <a:rPr sz="1000" spc="25" dirty="0">
                <a:latin typeface="Tahoma"/>
                <a:cs typeface="Tahoma"/>
              </a:rPr>
              <a:t>osi</a:t>
            </a:r>
            <a:r>
              <a:rPr sz="1000" spc="-535" dirty="0">
                <a:latin typeface="Tahoma"/>
                <a:cs typeface="Tahoma"/>
              </a:rPr>
              <a:t>¸</a:t>
            </a:r>
            <a:r>
              <a:rPr sz="1000" spc="25" dirty="0">
                <a:latin typeface="Tahoma"/>
                <a:cs typeface="Tahoma"/>
              </a:rPr>
              <a:t>c</a:t>
            </a:r>
            <a:r>
              <a:rPr sz="1000" spc="-535" dirty="0">
                <a:latin typeface="Tahoma"/>
                <a:cs typeface="Tahoma"/>
              </a:rPr>
              <a:t>˜</a:t>
            </a:r>
            <a:r>
              <a:rPr sz="1000" spc="25" dirty="0">
                <a:latin typeface="Tahoma"/>
                <a:cs typeface="Tahoma"/>
              </a:rPr>
              <a:t>oes:</a:t>
            </a:r>
            <a:endParaRPr sz="1000" dirty="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760"/>
              </a:spcBef>
            </a:pPr>
            <a:r>
              <a:rPr lang="pt-BR" sz="900" i="1" dirty="0">
                <a:latin typeface="Trebuchet MS"/>
                <a:cs typeface="Trebuchet MS"/>
              </a:rPr>
              <a:t>p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spc="-105" dirty="0">
                <a:latin typeface="Trebuchet MS"/>
                <a:cs typeface="Trebuchet MS"/>
              </a:rPr>
              <a:t>“</a:t>
            </a:r>
            <a:r>
              <a:rPr lang="pt-BR" sz="900" dirty="0"/>
              <a:t>você </a:t>
            </a:r>
            <a:r>
              <a:rPr sz="900" i="1" spc="-10" dirty="0" err="1">
                <a:latin typeface="Trebuchet MS"/>
                <a:cs typeface="Trebuchet MS"/>
              </a:rPr>
              <a:t>pode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andar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na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25" dirty="0">
                <a:latin typeface="Trebuchet MS"/>
                <a:cs typeface="Trebuchet MS"/>
              </a:rPr>
              <a:t>montanha</a:t>
            </a:r>
            <a:r>
              <a:rPr sz="900" i="1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russa”</a:t>
            </a:r>
            <a:r>
              <a:rPr sz="900" spc="-10" dirty="0">
                <a:latin typeface="Tahoma"/>
                <a:cs typeface="Tahoma"/>
              </a:rPr>
              <a:t>,</a:t>
            </a:r>
            <a:endParaRPr sz="900" dirty="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580"/>
              </a:spcBef>
            </a:pPr>
            <a:r>
              <a:rPr lang="pt-BR" sz="900" i="1" dirty="0">
                <a:latin typeface="Trebuchet MS"/>
                <a:cs typeface="Trebuchet MS"/>
              </a:rPr>
              <a:t>q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i="1" spc="-105" dirty="0">
                <a:latin typeface="Trebuchet MS"/>
                <a:cs typeface="Trebuchet MS"/>
              </a:rPr>
              <a:t>“</a:t>
            </a:r>
            <a:r>
              <a:rPr lang="pt-BR" sz="900" dirty="0"/>
              <a:t>você </a:t>
            </a:r>
            <a:r>
              <a:rPr sz="900" i="1" spc="-30" dirty="0" err="1">
                <a:latin typeface="Trebuchet MS"/>
                <a:cs typeface="Trebuchet MS"/>
              </a:rPr>
              <a:t>tem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menos que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1,50m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de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altura”</a:t>
            </a:r>
            <a:r>
              <a:rPr sz="900" spc="-10" dirty="0">
                <a:latin typeface="Tahoma"/>
                <a:cs typeface="Tahoma"/>
              </a:rPr>
              <a:t>,</a:t>
            </a:r>
            <a:endParaRPr sz="900" dirty="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585"/>
              </a:spcBef>
            </a:pPr>
            <a:r>
              <a:rPr lang="pt-BR" sz="900" i="1" dirty="0">
                <a:latin typeface="Trebuchet MS"/>
                <a:cs typeface="Trebuchet MS"/>
              </a:rPr>
              <a:t>r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spc="-105" dirty="0">
                <a:latin typeface="Trebuchet MS"/>
                <a:cs typeface="Trebuchet MS"/>
              </a:rPr>
              <a:t>“</a:t>
            </a:r>
            <a:r>
              <a:rPr lang="pt-BR" sz="900" dirty="0"/>
              <a:t>você </a:t>
            </a:r>
            <a:r>
              <a:rPr sz="900" i="1" spc="-30" dirty="0" err="1">
                <a:latin typeface="Trebuchet MS"/>
                <a:cs typeface="Trebuchet MS"/>
              </a:rPr>
              <a:t>tem</a:t>
            </a:r>
            <a:r>
              <a:rPr sz="900" i="1" spc="-10" dirty="0">
                <a:latin typeface="Trebuchet MS"/>
                <a:cs typeface="Trebuchet MS"/>
              </a:rPr>
              <a:t> mais de </a:t>
            </a:r>
            <a:r>
              <a:rPr sz="900" i="1" dirty="0">
                <a:latin typeface="Trebuchet MS"/>
                <a:cs typeface="Trebuchet MS"/>
              </a:rPr>
              <a:t>16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anos”</a:t>
            </a:r>
            <a:r>
              <a:rPr sz="900" spc="-10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senten</a:t>
            </a:r>
            <a:r>
              <a:rPr sz="1000" spc="-615" dirty="0">
                <a:latin typeface="Tahoma"/>
                <a:cs typeface="Tahoma"/>
              </a:rPr>
              <a:t>¸</a:t>
            </a:r>
            <a:r>
              <a:rPr sz="1000" spc="-55" dirty="0">
                <a:latin typeface="Tahoma"/>
                <a:cs typeface="Tahoma"/>
              </a:rPr>
              <a:t>ca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linguagem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natural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85" dirty="0">
                <a:latin typeface="Tahoma"/>
                <a:cs typeface="Tahoma"/>
              </a:rPr>
              <a:t>´</a:t>
            </a:r>
            <a:r>
              <a:rPr sz="1000" spc="-55" dirty="0">
                <a:latin typeface="Tahoma"/>
                <a:cs typeface="Tahoma"/>
              </a:rPr>
              <a:t>e,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</a:t>
            </a:r>
            <a:r>
              <a:rPr sz="1000" spc="-55" dirty="0">
                <a:latin typeface="Tahoma"/>
                <a:cs typeface="Tahoma"/>
              </a:rPr>
              <a:t>t</a:t>
            </a:r>
            <a:r>
              <a:rPr sz="1000" spc="-585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ao,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traduzida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para: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(</a:t>
            </a:r>
            <a:r>
              <a:rPr lang="pt-BR" sz="1000" b="1" dirty="0">
                <a:solidFill>
                  <a:srgbClr val="002060"/>
                </a:solidFill>
                <a:latin typeface="Tahoma"/>
                <a:cs typeface="Tahoma"/>
              </a:rPr>
              <a:t>q</a:t>
            </a:r>
            <a:r>
              <a:rPr sz="1000" b="1" i="1" spc="3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spc="-34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∧</a:t>
            </a:r>
            <a:r>
              <a:rPr sz="1000" b="1" spc="-5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spc="-1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¬</a:t>
            </a:r>
            <a:r>
              <a:rPr lang="pt-BR" sz="1000" b="1" spc="-1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r</a:t>
            </a:r>
            <a:r>
              <a:rPr sz="1000" b="1" spc="-10" dirty="0">
                <a:solidFill>
                  <a:srgbClr val="002060"/>
                </a:solidFill>
                <a:latin typeface="Tahoma"/>
                <a:cs typeface="Tahoma"/>
              </a:rPr>
              <a:t>)</a:t>
            </a:r>
            <a:r>
              <a:rPr sz="1000" b="1" spc="-40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→</a:t>
            </a:r>
            <a:r>
              <a:rPr sz="1000" b="1" spc="-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spc="-2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¬</a:t>
            </a:r>
            <a:r>
              <a:rPr lang="pt-BR" sz="1000" b="1" spc="-2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p</a:t>
            </a:r>
            <a:r>
              <a:rPr sz="1000" b="1" i="1" spc="-25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  <a:endParaRPr sz="1000" b="1" dirty="0">
              <a:solidFill>
                <a:srgbClr val="00206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00" dirty="0">
                <a:latin typeface="Tahoma"/>
                <a:cs typeface="Tahoma"/>
              </a:rPr>
              <a:t>(Note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esta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n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0" dirty="0">
                <a:latin typeface="Tahoma"/>
                <a:cs typeface="Tahoma"/>
              </a:rPr>
              <a:t>u</a:t>
            </a:r>
            <a:r>
              <a:rPr sz="1000" spc="-30" dirty="0">
                <a:latin typeface="Tahoma"/>
                <a:cs typeface="Tahoma"/>
              </a:rPr>
              <a:t>´</a:t>
            </a:r>
            <a:r>
              <a:rPr sz="1000" spc="-35" dirty="0">
                <a:latin typeface="Tahoma"/>
                <a:cs typeface="Tahoma"/>
              </a:rPr>
              <a:t>nica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maneira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representar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esta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senten</a:t>
            </a:r>
            <a:r>
              <a:rPr sz="1000" spc="-520" dirty="0">
                <a:latin typeface="Tahoma"/>
                <a:cs typeface="Tahoma"/>
              </a:rPr>
              <a:t>¸</a:t>
            </a:r>
            <a:r>
              <a:rPr sz="1000" spc="40" dirty="0">
                <a:latin typeface="Tahoma"/>
                <a:cs typeface="Tahoma"/>
              </a:rPr>
              <a:t>ca.)</a:t>
            </a:r>
            <a:endParaRPr sz="1000" dirty="0">
              <a:latin typeface="Tahoma"/>
              <a:cs typeface="Tahoma"/>
            </a:endParaRPr>
          </a:p>
          <a:p>
            <a:pPr marR="5080" algn="r">
              <a:lnSpc>
                <a:spcPts val="1200"/>
              </a:lnSpc>
            </a:pPr>
            <a:endParaRPr sz="1000" dirty="0">
              <a:latin typeface="Yu Gothic UI Semilight"/>
              <a:cs typeface="Yu Gothic UI Semiligh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4B9A85F-8A6B-B776-1F5B-2118E16A3C1C}"/>
                  </a:ext>
                </a:extLst>
              </p14:cNvPr>
              <p14:cNvContentPartPr/>
              <p14:nvPr/>
            </p14:nvContentPartPr>
            <p14:xfrm>
              <a:off x="2780640" y="1054440"/>
              <a:ext cx="135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4B9A85F-8A6B-B776-1F5B-2118E16A3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1280" y="1045080"/>
                <a:ext cx="154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8374" y="90934"/>
            <a:ext cx="29686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5" dirty="0"/>
              <a:t>Es</a:t>
            </a:r>
            <a:r>
              <a:rPr b="1" spc="-10" dirty="0"/>
              <a:t>p</a:t>
            </a:r>
            <a:r>
              <a:rPr b="1" spc="-45" dirty="0"/>
              <a:t>ecifica</a:t>
            </a:r>
            <a:r>
              <a:rPr b="1" spc="-819" dirty="0"/>
              <a:t>¸</a:t>
            </a:r>
            <a:r>
              <a:rPr b="1" spc="-65" dirty="0"/>
              <a:t>c</a:t>
            </a:r>
            <a:r>
              <a:rPr b="1" spc="-795" dirty="0"/>
              <a:t>˜</a:t>
            </a:r>
            <a:r>
              <a:rPr b="1" spc="-45" dirty="0"/>
              <a:t>ao</a:t>
            </a:r>
            <a:r>
              <a:rPr b="1" spc="30" dirty="0"/>
              <a:t> </a:t>
            </a:r>
            <a:r>
              <a:rPr b="1" spc="-50" dirty="0"/>
              <a:t>de</a:t>
            </a:r>
            <a:r>
              <a:rPr b="1" spc="15" dirty="0"/>
              <a:t> </a:t>
            </a:r>
            <a:r>
              <a:rPr b="1" spc="-5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876" y="458094"/>
            <a:ext cx="3919373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 err="1">
                <a:latin typeface="Tahoma"/>
                <a:cs typeface="Tahoma"/>
              </a:rPr>
              <a:t>Traduzir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10" dirty="0" err="1">
                <a:latin typeface="Tahoma"/>
                <a:cs typeface="Tahoma"/>
              </a:rPr>
              <a:t>senten</a:t>
            </a:r>
            <a:r>
              <a:rPr lang="pt-BR" sz="1000" spc="-110" dirty="0" err="1">
                <a:latin typeface="Tahoma"/>
                <a:cs typeface="Tahoma"/>
              </a:rPr>
              <a:t>ças</a:t>
            </a:r>
            <a:r>
              <a:rPr lang="pt-BR" sz="1000" spc="-1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linguagem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natural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linguagem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</a:t>
            </a:r>
            <a:r>
              <a:rPr sz="1000" spc="-590" dirty="0">
                <a:latin typeface="Tahoma"/>
                <a:cs typeface="Tahoma"/>
              </a:rPr>
              <a:t>´</a:t>
            </a:r>
            <a:r>
              <a:rPr sz="1000" spc="-30" dirty="0">
                <a:latin typeface="Tahoma"/>
                <a:cs typeface="Tahoma"/>
              </a:rPr>
              <a:t>ogica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parte </a:t>
            </a:r>
            <a:r>
              <a:rPr sz="1000" spc="-40" dirty="0">
                <a:latin typeface="Tahoma"/>
                <a:cs typeface="Tahoma"/>
              </a:rPr>
              <a:t>essencial </a:t>
            </a:r>
            <a:r>
              <a:rPr sz="1000" dirty="0">
                <a:latin typeface="Tahoma"/>
                <a:cs typeface="Tahoma"/>
              </a:rPr>
              <a:t>da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es</a:t>
            </a:r>
            <a:r>
              <a:rPr sz="1000" spc="-25" dirty="0">
                <a:latin typeface="Tahoma"/>
                <a:cs typeface="Tahoma"/>
              </a:rPr>
              <a:t>p</a:t>
            </a:r>
            <a:r>
              <a:rPr sz="1000" spc="-50" dirty="0">
                <a:latin typeface="Tahoma"/>
                <a:cs typeface="Tahoma"/>
              </a:rPr>
              <a:t>ecific</a:t>
            </a:r>
            <a:r>
              <a:rPr sz="1000" spc="-60" dirty="0">
                <a:latin typeface="Tahoma"/>
                <a:cs typeface="Tahoma"/>
              </a:rPr>
              <a:t>a</a:t>
            </a:r>
            <a:r>
              <a:rPr sz="1000" spc="-520" dirty="0">
                <a:latin typeface="Tahoma"/>
                <a:cs typeface="Tahoma"/>
              </a:rPr>
              <a:t>c</a:t>
            </a:r>
            <a:r>
              <a:rPr sz="1000" spc="-65" dirty="0">
                <a:latin typeface="Tahoma"/>
                <a:cs typeface="Tahoma"/>
              </a:rPr>
              <a:t>¸</a:t>
            </a:r>
            <a:r>
              <a:rPr sz="1000" spc="-595" dirty="0">
                <a:latin typeface="Tahoma"/>
                <a:cs typeface="Tahoma"/>
              </a:rPr>
              <a:t>˜</a:t>
            </a:r>
            <a:r>
              <a:rPr sz="1000" spc="-50" dirty="0">
                <a:latin typeface="Tahoma"/>
                <a:cs typeface="Tahoma"/>
              </a:rPr>
              <a:t>ao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sistemas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hardware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software.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650" y="932942"/>
            <a:ext cx="770724" cy="155171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b="1" spc="-25" dirty="0">
                <a:latin typeface="Tahoma"/>
                <a:cs typeface="Tahoma"/>
              </a:rPr>
              <a:t>Exe</a:t>
            </a:r>
            <a:r>
              <a:rPr lang="pt-BR" sz="1000" b="1" spc="-25" dirty="0" err="1">
                <a:latin typeface="Tahoma"/>
                <a:cs typeface="Tahoma"/>
              </a:rPr>
              <a:t>rcício</a:t>
            </a:r>
            <a:r>
              <a:rPr lang="pt-BR" sz="1000" b="1" spc="-25" dirty="0">
                <a:latin typeface="Tahoma"/>
                <a:cs typeface="Tahoma"/>
              </a:rPr>
              <a:t> 1</a:t>
            </a:r>
            <a:endParaRPr sz="1000" b="1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266" y="922063"/>
            <a:ext cx="3428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Tahoma"/>
                <a:cs typeface="Tahoma"/>
              </a:rPr>
              <a:t>Expresse</a:t>
            </a:r>
            <a:r>
              <a:rPr sz="1000" dirty="0">
                <a:latin typeface="Tahoma"/>
                <a:cs typeface="Tahoma"/>
              </a:rPr>
              <a:t> a </a:t>
            </a:r>
            <a:r>
              <a:rPr sz="1000" spc="-45" dirty="0">
                <a:latin typeface="Tahoma"/>
                <a:cs typeface="Tahoma"/>
              </a:rPr>
              <a:t>es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ecifica</a:t>
            </a:r>
            <a:r>
              <a:rPr sz="1000" spc="-605" dirty="0">
                <a:latin typeface="Tahoma"/>
                <a:cs typeface="Tahoma"/>
              </a:rPr>
              <a:t>¸</a:t>
            </a:r>
            <a:r>
              <a:rPr sz="1000" spc="-60" dirty="0">
                <a:latin typeface="Tahoma"/>
                <a:cs typeface="Tahoma"/>
              </a:rPr>
              <a:t>c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abaixo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como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uma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ro</a:t>
            </a:r>
            <a:r>
              <a:rPr sz="1000" spc="-1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osi</a:t>
            </a:r>
            <a:r>
              <a:rPr sz="1000" spc="-600" dirty="0">
                <a:latin typeface="Tahoma"/>
                <a:cs typeface="Tahoma"/>
              </a:rPr>
              <a:t>¸</a:t>
            </a:r>
            <a:r>
              <a:rPr sz="1000" spc="-55" dirty="0">
                <a:latin typeface="Tahoma"/>
                <a:cs typeface="Tahoma"/>
              </a:rPr>
              <a:t>c</a:t>
            </a:r>
            <a:r>
              <a:rPr sz="1000" spc="-585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ao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composta.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50" y="1298981"/>
            <a:ext cx="4310513" cy="17791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9960" marR="767715" indent="-95250">
              <a:lnSpc>
                <a:spcPct val="100000"/>
              </a:lnSpc>
              <a:spcBef>
                <a:spcPts val="95"/>
              </a:spcBef>
            </a:pPr>
            <a:r>
              <a:rPr sz="1000" b="1" i="1" spc="80" dirty="0">
                <a:solidFill>
                  <a:srgbClr val="0000FF"/>
                </a:solidFill>
                <a:latin typeface="Arial"/>
                <a:cs typeface="Arial"/>
              </a:rPr>
              <a:t>“A</a:t>
            </a:r>
            <a:r>
              <a:rPr sz="1000" b="1" i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spc="-45" dirty="0" err="1">
                <a:solidFill>
                  <a:srgbClr val="0000FF"/>
                </a:solidFill>
                <a:latin typeface="Arial"/>
                <a:cs typeface="Arial"/>
              </a:rPr>
              <a:t>resposta</a:t>
            </a:r>
            <a:r>
              <a:rPr sz="1000" b="1" i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pt-BR" sz="1000" b="1" dirty="0">
                <a:solidFill>
                  <a:srgbClr val="0000FF"/>
                </a:solidFill>
              </a:rPr>
              <a:t>automática não </a:t>
            </a:r>
            <a:r>
              <a:rPr sz="1000" b="1" i="1" spc="-30" dirty="0" err="1">
                <a:solidFill>
                  <a:srgbClr val="0000FF"/>
                </a:solidFill>
                <a:latin typeface="Arial"/>
                <a:cs typeface="Arial"/>
              </a:rPr>
              <a:t>pode</a:t>
            </a:r>
            <a:r>
              <a:rPr sz="1000" b="1" i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spc="-60" dirty="0">
                <a:solidFill>
                  <a:srgbClr val="0000FF"/>
                </a:solidFill>
                <a:latin typeface="Arial"/>
                <a:cs typeface="Arial"/>
              </a:rPr>
              <a:t>ser</a:t>
            </a:r>
            <a:r>
              <a:rPr sz="1000" b="1" i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spc="-40" dirty="0">
                <a:solidFill>
                  <a:srgbClr val="0000FF"/>
                </a:solidFill>
                <a:latin typeface="Arial"/>
                <a:cs typeface="Arial"/>
              </a:rPr>
              <a:t>enviada quando</a:t>
            </a:r>
            <a:r>
              <a:rPr sz="1000" b="1" i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000" b="1" i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spc="-45" dirty="0">
                <a:solidFill>
                  <a:srgbClr val="0000FF"/>
                </a:solidFill>
                <a:latin typeface="Arial"/>
                <a:cs typeface="Arial"/>
              </a:rPr>
              <a:t>sistema</a:t>
            </a:r>
            <a:r>
              <a:rPr sz="1000" b="1" i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spc="-40" dirty="0">
                <a:solidFill>
                  <a:srgbClr val="0000FF"/>
                </a:solidFill>
                <a:latin typeface="Arial"/>
                <a:cs typeface="Arial"/>
              </a:rPr>
              <a:t>de</a:t>
            </a:r>
            <a:r>
              <a:rPr sz="1000" b="1" i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i="1" spc="-45" dirty="0" err="1">
                <a:solidFill>
                  <a:srgbClr val="0000FF"/>
                </a:solidFill>
                <a:latin typeface="Arial"/>
                <a:cs typeface="Arial"/>
              </a:rPr>
              <a:t>arquivos</a:t>
            </a:r>
            <a:r>
              <a:rPr sz="1000" b="1" i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pt-BR" sz="1000" b="1" dirty="0">
                <a:solidFill>
                  <a:srgbClr val="0000FF"/>
                </a:solidFill>
              </a:rPr>
              <a:t>está</a:t>
            </a:r>
            <a:r>
              <a:rPr lang="pt-BR" sz="1200" b="1" dirty="0">
                <a:solidFill>
                  <a:srgbClr val="0000FF"/>
                </a:solidFill>
              </a:rPr>
              <a:t> </a:t>
            </a:r>
            <a:r>
              <a:rPr sz="1000" b="1" i="1" spc="-10" dirty="0" err="1">
                <a:solidFill>
                  <a:srgbClr val="0000FF"/>
                </a:solidFill>
                <a:latin typeface="Arial"/>
                <a:cs typeface="Arial"/>
              </a:rPr>
              <a:t>cheio</a:t>
            </a:r>
            <a:r>
              <a:rPr sz="1000" b="1" i="1" spc="-10" dirty="0">
                <a:solidFill>
                  <a:srgbClr val="0000FF"/>
                </a:solidFill>
                <a:latin typeface="Arial"/>
                <a:cs typeface="Arial"/>
              </a:rPr>
              <a:t>.”</a:t>
            </a:r>
            <a:endParaRPr sz="1000" b="1" dirty="0">
              <a:solidFill>
                <a:srgbClr val="0000FF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000" b="1" spc="-55" dirty="0">
                <a:latin typeface="Tahoma"/>
                <a:cs typeface="Tahoma"/>
              </a:rPr>
              <a:t>Solu</a:t>
            </a:r>
            <a:r>
              <a:rPr sz="1000" b="1" spc="-590" dirty="0">
                <a:latin typeface="Tahoma"/>
                <a:cs typeface="Tahoma"/>
              </a:rPr>
              <a:t>c</a:t>
            </a:r>
            <a:r>
              <a:rPr sz="1000" b="1" spc="-75" dirty="0">
                <a:latin typeface="Tahoma"/>
                <a:cs typeface="Tahoma"/>
              </a:rPr>
              <a:t>¸</a:t>
            </a:r>
            <a:r>
              <a:rPr sz="1000" b="1" spc="-605" dirty="0">
                <a:latin typeface="Tahoma"/>
                <a:cs typeface="Tahoma"/>
              </a:rPr>
              <a:t>˜</a:t>
            </a:r>
            <a:r>
              <a:rPr sz="1000" b="1" spc="-55" dirty="0">
                <a:latin typeface="Tahoma"/>
                <a:cs typeface="Tahoma"/>
              </a:rPr>
              <a:t>ao.</a:t>
            </a:r>
            <a:r>
              <a:rPr sz="1000" b="1" spc="1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Podemos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traduzir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es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ecific</a:t>
            </a:r>
            <a:r>
              <a:rPr sz="1000" spc="-55" dirty="0">
                <a:latin typeface="Tahoma"/>
                <a:cs typeface="Tahoma"/>
              </a:rPr>
              <a:t>a</a:t>
            </a:r>
            <a:r>
              <a:rPr sz="1000" spc="-515" dirty="0">
                <a:latin typeface="Tahoma"/>
                <a:cs typeface="Tahoma"/>
              </a:rPr>
              <a:t>c</a:t>
            </a:r>
            <a:r>
              <a:rPr sz="1000" spc="-60" dirty="0">
                <a:latin typeface="Tahoma"/>
                <a:cs typeface="Tahoma"/>
              </a:rPr>
              <a:t>¸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55" dirty="0">
                <a:latin typeface="Tahoma"/>
                <a:cs typeface="Tahoma"/>
              </a:rPr>
              <a:t>a</a:t>
            </a:r>
            <a:r>
              <a:rPr sz="1000" spc="-45" dirty="0">
                <a:latin typeface="Tahoma"/>
                <a:cs typeface="Tahoma"/>
              </a:rPr>
              <a:t>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uma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ro</a:t>
            </a:r>
            <a:r>
              <a:rPr sz="1000" spc="-1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osi</a:t>
            </a:r>
            <a:r>
              <a:rPr sz="1000" spc="-600" dirty="0">
                <a:latin typeface="Tahoma"/>
                <a:cs typeface="Tahoma"/>
              </a:rPr>
              <a:t>¸</a:t>
            </a:r>
            <a:r>
              <a:rPr sz="1000" spc="-55" dirty="0">
                <a:latin typeface="Tahoma"/>
                <a:cs typeface="Tahoma"/>
              </a:rPr>
              <a:t>c</a:t>
            </a:r>
            <a:r>
              <a:rPr sz="1000" spc="-585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composta, </a:t>
            </a:r>
            <a:r>
              <a:rPr sz="1000" spc="-55" dirty="0">
                <a:latin typeface="Tahoma"/>
                <a:cs typeface="Tahoma"/>
              </a:rPr>
              <a:t>usando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seguintes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p</a:t>
            </a:r>
            <a:r>
              <a:rPr sz="1000" spc="30" dirty="0">
                <a:latin typeface="Tahoma"/>
                <a:cs typeface="Tahoma"/>
              </a:rPr>
              <a:t>ro</a:t>
            </a:r>
            <a:r>
              <a:rPr sz="1000" spc="55" dirty="0">
                <a:latin typeface="Tahoma"/>
                <a:cs typeface="Tahoma"/>
              </a:rPr>
              <a:t>p</a:t>
            </a:r>
            <a:r>
              <a:rPr sz="1000" spc="30" dirty="0">
                <a:latin typeface="Tahoma"/>
                <a:cs typeface="Tahoma"/>
              </a:rPr>
              <a:t>osi</a:t>
            </a:r>
            <a:r>
              <a:rPr sz="1000" spc="-530" dirty="0">
                <a:latin typeface="Tahoma"/>
                <a:cs typeface="Tahoma"/>
              </a:rPr>
              <a:t>¸</a:t>
            </a:r>
            <a:r>
              <a:rPr sz="1000" spc="30" dirty="0">
                <a:latin typeface="Tahoma"/>
                <a:cs typeface="Tahoma"/>
              </a:rPr>
              <a:t>c</a:t>
            </a:r>
            <a:r>
              <a:rPr sz="1000" spc="-530" dirty="0">
                <a:latin typeface="Tahoma"/>
                <a:cs typeface="Tahoma"/>
              </a:rPr>
              <a:t>˜</a:t>
            </a:r>
            <a:r>
              <a:rPr sz="1000" spc="30" dirty="0">
                <a:latin typeface="Tahoma"/>
                <a:cs typeface="Tahoma"/>
              </a:rPr>
              <a:t>oes:</a:t>
            </a:r>
            <a:endParaRPr sz="1000" dirty="0">
              <a:latin typeface="Tahoma"/>
              <a:cs typeface="Tahoma"/>
            </a:endParaRPr>
          </a:p>
          <a:p>
            <a:pPr marL="265430" marR="1572895">
              <a:lnSpc>
                <a:spcPct val="154000"/>
              </a:lnSpc>
              <a:spcBef>
                <a:spcPts val="175"/>
              </a:spcBef>
            </a:pPr>
            <a:r>
              <a:rPr lang="pt-BR" sz="900" i="1" dirty="0">
                <a:latin typeface="Trebuchet MS"/>
                <a:cs typeface="Trebuchet MS"/>
              </a:rPr>
              <a:t>p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dirty="0">
                <a:latin typeface="Trebuchet MS"/>
                <a:cs typeface="Trebuchet MS"/>
              </a:rPr>
              <a:t>“a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re</a:t>
            </a:r>
            <a:r>
              <a:rPr lang="pt-BR" sz="900" i="1" spc="-30" dirty="0">
                <a:latin typeface="Trebuchet MS"/>
                <a:cs typeface="Trebuchet MS"/>
              </a:rPr>
              <a:t>s</a:t>
            </a:r>
            <a:r>
              <a:rPr sz="900" i="1" spc="-30" dirty="0" err="1">
                <a:latin typeface="Trebuchet MS"/>
                <a:cs typeface="Trebuchet MS"/>
              </a:rPr>
              <a:t>posta</a:t>
            </a:r>
            <a:r>
              <a:rPr sz="900" i="1" spc="-10" dirty="0">
                <a:latin typeface="Trebuchet MS"/>
                <a:cs typeface="Trebuchet MS"/>
              </a:rPr>
              <a:t> </a:t>
            </a:r>
            <a:r>
              <a:rPr lang="pt-BR" sz="900" dirty="0"/>
              <a:t>automática </a:t>
            </a:r>
            <a:r>
              <a:rPr sz="900" i="1" spc="-10" dirty="0" err="1">
                <a:latin typeface="Trebuchet MS"/>
                <a:cs typeface="Trebuchet MS"/>
              </a:rPr>
              <a:t>pode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5" dirty="0">
                <a:latin typeface="Trebuchet MS"/>
                <a:cs typeface="Trebuchet MS"/>
              </a:rPr>
              <a:t>ser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5" dirty="0">
                <a:latin typeface="Trebuchet MS"/>
                <a:cs typeface="Trebuchet MS"/>
              </a:rPr>
              <a:t>enviada”</a:t>
            </a:r>
            <a:r>
              <a:rPr sz="900" spc="-35" dirty="0">
                <a:latin typeface="Tahoma"/>
                <a:cs typeface="Tahoma"/>
              </a:rPr>
              <a:t>, </a:t>
            </a:r>
            <a:endParaRPr lang="pt-BR" sz="900" spc="-35" dirty="0">
              <a:latin typeface="Tahoma"/>
              <a:cs typeface="Tahoma"/>
            </a:endParaRPr>
          </a:p>
          <a:p>
            <a:pPr marL="265430" marR="1572895">
              <a:lnSpc>
                <a:spcPct val="154000"/>
              </a:lnSpc>
              <a:spcBef>
                <a:spcPts val="175"/>
              </a:spcBef>
            </a:pPr>
            <a:r>
              <a:rPr lang="pt-BR" sz="900" i="1" dirty="0">
                <a:latin typeface="Trebuchet MS"/>
                <a:cs typeface="Tahoma"/>
              </a:rPr>
              <a:t>q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i="1" dirty="0">
                <a:latin typeface="Trebuchet MS"/>
                <a:cs typeface="Trebuchet MS"/>
              </a:rPr>
              <a:t>“o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sistema</a:t>
            </a:r>
            <a:r>
              <a:rPr sz="900" i="1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de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 err="1">
                <a:latin typeface="Trebuchet MS"/>
                <a:cs typeface="Trebuchet MS"/>
              </a:rPr>
              <a:t>arquivos</a:t>
            </a:r>
            <a:r>
              <a:rPr sz="900" i="1" dirty="0">
                <a:latin typeface="Trebuchet MS"/>
                <a:cs typeface="Trebuchet MS"/>
              </a:rPr>
              <a:t> </a:t>
            </a:r>
            <a:r>
              <a:rPr lang="pt-BR" sz="900" dirty="0"/>
              <a:t>está </a:t>
            </a:r>
            <a:r>
              <a:rPr sz="900" i="1" spc="-10" dirty="0" err="1">
                <a:latin typeface="Trebuchet MS"/>
                <a:cs typeface="Trebuchet MS"/>
              </a:rPr>
              <a:t>cheio</a:t>
            </a:r>
            <a:r>
              <a:rPr sz="900" i="1" spc="-10" dirty="0">
                <a:latin typeface="Trebuchet MS"/>
                <a:cs typeface="Trebuchet MS"/>
              </a:rPr>
              <a:t>”</a:t>
            </a:r>
            <a:r>
              <a:rPr sz="900" spc="-10" dirty="0">
                <a:latin typeface="Tahoma"/>
                <a:cs typeface="Tahoma"/>
              </a:rPr>
              <a:t>.</a:t>
            </a:r>
            <a:endParaRPr lang="pt-BR" sz="900" spc="-1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lang="pt-BR" sz="900" spc="60" dirty="0">
                <a:latin typeface="Tahoma"/>
                <a:cs typeface="Tahoma"/>
              </a:rPr>
              <a:t>A</a:t>
            </a:r>
            <a:r>
              <a:rPr lang="pt-BR" sz="900" spc="20" dirty="0">
                <a:latin typeface="Tahoma"/>
                <a:cs typeface="Tahoma"/>
              </a:rPr>
              <a:t> </a:t>
            </a:r>
            <a:r>
              <a:rPr lang="pt-BR" sz="900" spc="-40" dirty="0" err="1">
                <a:latin typeface="Tahoma"/>
                <a:cs typeface="Tahoma"/>
              </a:rPr>
              <a:t>es</a:t>
            </a:r>
            <a:r>
              <a:rPr lang="pt-BR" sz="900" spc="-15" dirty="0" err="1">
                <a:latin typeface="Tahoma"/>
                <a:cs typeface="Tahoma"/>
              </a:rPr>
              <a:t>p</a:t>
            </a:r>
            <a:r>
              <a:rPr lang="pt-BR" sz="900" spc="-40" dirty="0" err="1">
                <a:latin typeface="Tahoma"/>
                <a:cs typeface="Tahoma"/>
              </a:rPr>
              <a:t>ecifica</a:t>
            </a:r>
            <a:r>
              <a:rPr lang="pt-BR" sz="900" spc="-600" dirty="0" err="1">
                <a:latin typeface="Tahoma"/>
                <a:cs typeface="Tahoma"/>
              </a:rPr>
              <a:t>¸</a:t>
            </a:r>
            <a:r>
              <a:rPr lang="pt-BR" sz="900" spc="-55" dirty="0" err="1">
                <a:latin typeface="Tahoma"/>
                <a:cs typeface="Tahoma"/>
              </a:rPr>
              <a:t>c</a:t>
            </a:r>
            <a:r>
              <a:rPr lang="pt-BR" sz="900" spc="-585" dirty="0" err="1">
                <a:latin typeface="Tahoma"/>
                <a:cs typeface="Tahoma"/>
              </a:rPr>
              <a:t>˜</a:t>
            </a:r>
            <a:r>
              <a:rPr lang="pt-BR" sz="900" spc="-40" dirty="0" err="1">
                <a:latin typeface="Tahoma"/>
                <a:cs typeface="Tahoma"/>
              </a:rPr>
              <a:t>ao</a:t>
            </a:r>
            <a:r>
              <a:rPr lang="pt-BR" sz="900" spc="15" dirty="0">
                <a:latin typeface="Tahoma"/>
                <a:cs typeface="Tahoma"/>
              </a:rPr>
              <a:t> </a:t>
            </a:r>
            <a:r>
              <a:rPr lang="pt-BR" sz="900" spc="-10" dirty="0">
                <a:latin typeface="Tahoma"/>
                <a:cs typeface="Tahoma"/>
              </a:rPr>
              <a:t>fica,</a:t>
            </a:r>
            <a:r>
              <a:rPr lang="pt-BR" sz="900" spc="20" dirty="0">
                <a:latin typeface="Tahoma"/>
                <a:cs typeface="Tahoma"/>
              </a:rPr>
              <a:t> </a:t>
            </a:r>
            <a:r>
              <a:rPr lang="pt-BR" sz="900" spc="-40" dirty="0" err="1">
                <a:latin typeface="Tahoma"/>
                <a:cs typeface="Tahoma"/>
              </a:rPr>
              <a:t>e</a:t>
            </a:r>
            <a:r>
              <a:rPr lang="pt-BR" sz="900" spc="-50" dirty="0" err="1">
                <a:latin typeface="Tahoma"/>
                <a:cs typeface="Tahoma"/>
              </a:rPr>
              <a:t>nt</a:t>
            </a:r>
            <a:r>
              <a:rPr lang="pt-BR" sz="900" spc="-585" dirty="0" err="1">
                <a:latin typeface="Tahoma"/>
                <a:cs typeface="Tahoma"/>
              </a:rPr>
              <a:t>˜</a:t>
            </a:r>
            <a:r>
              <a:rPr lang="pt-BR" sz="900" spc="-50" dirty="0" err="1">
                <a:latin typeface="Tahoma"/>
                <a:cs typeface="Tahoma"/>
              </a:rPr>
              <a:t>a</a:t>
            </a:r>
            <a:r>
              <a:rPr lang="pt-BR" sz="900" spc="-40" dirty="0" err="1">
                <a:latin typeface="Tahoma"/>
                <a:cs typeface="Tahoma"/>
              </a:rPr>
              <a:t>o</a:t>
            </a:r>
            <a:r>
              <a:rPr lang="pt-BR" sz="900" spc="-40" dirty="0">
                <a:latin typeface="Tahoma"/>
                <a:cs typeface="Tahoma"/>
              </a:rPr>
              <a:t>,</a:t>
            </a:r>
            <a:r>
              <a:rPr lang="pt-BR" sz="900" spc="20" dirty="0">
                <a:latin typeface="Tahoma"/>
                <a:cs typeface="Tahoma"/>
              </a:rPr>
              <a:t> </a:t>
            </a:r>
            <a:r>
              <a:rPr lang="pt-BR" sz="900" spc="-25" dirty="0">
                <a:latin typeface="Tahoma"/>
                <a:cs typeface="Tahoma"/>
              </a:rPr>
              <a:t>traduzida</a:t>
            </a:r>
            <a:r>
              <a:rPr lang="pt-BR" sz="900" spc="15" dirty="0">
                <a:latin typeface="Tahoma"/>
                <a:cs typeface="Tahoma"/>
              </a:rPr>
              <a:t> </a:t>
            </a:r>
            <a:r>
              <a:rPr lang="pt-BR" sz="900" spc="-10" dirty="0">
                <a:latin typeface="Tahoma"/>
                <a:cs typeface="Tahoma"/>
              </a:rPr>
              <a:t>para:    </a:t>
            </a:r>
            <a:r>
              <a:rPr lang="pt-BR" sz="900" b="1" i="1" dirty="0">
                <a:solidFill>
                  <a:srgbClr val="0000FF"/>
                </a:solidFill>
                <a:latin typeface="Arial"/>
                <a:cs typeface="Arial"/>
              </a:rPr>
              <a:t>q</a:t>
            </a:r>
            <a:r>
              <a:rPr lang="pt-BR" sz="900" b="1" dirty="0">
                <a:solidFill>
                  <a:srgbClr val="0000FF"/>
                </a:solidFill>
                <a:latin typeface="Yu Gothic UI Semilight"/>
                <a:cs typeface="Yu Gothic UI Semilight"/>
              </a:rPr>
              <a:t>→</a:t>
            </a:r>
            <a:r>
              <a:rPr lang="pt-BR" sz="900" b="1" spc="-25" dirty="0">
                <a:solidFill>
                  <a:srgbClr val="0000FF"/>
                </a:solidFill>
                <a:latin typeface="Yu Gothic UI Semilight"/>
                <a:cs typeface="Yu Gothic UI Semilight"/>
              </a:rPr>
              <a:t> ¬</a:t>
            </a:r>
            <a:r>
              <a:rPr lang="pt-BR" sz="900" b="1" i="1" spc="-25" dirty="0">
                <a:solidFill>
                  <a:srgbClr val="0000FF"/>
                </a:solidFill>
                <a:latin typeface="Arial"/>
                <a:cs typeface="Arial"/>
              </a:rPr>
              <a:t>p.</a:t>
            </a:r>
            <a:endParaRPr lang="pt-BR" sz="900" b="1" dirty="0">
              <a:solidFill>
                <a:srgbClr val="0000FF"/>
              </a:solidFill>
              <a:latin typeface="Arial"/>
              <a:cs typeface="Arial"/>
            </a:endParaRPr>
          </a:p>
          <a:p>
            <a:pPr marL="265430" marR="1572895">
              <a:lnSpc>
                <a:spcPct val="154000"/>
              </a:lnSpc>
              <a:spcBef>
                <a:spcPts val="175"/>
              </a:spcBef>
            </a:pPr>
            <a:endParaRPr sz="9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8C00183-F83C-82E7-407F-F5E8C49B2493}"/>
                  </a:ext>
                </a:extLst>
              </p14:cNvPr>
              <p14:cNvContentPartPr/>
              <p14:nvPr/>
            </p14:nvContentPartPr>
            <p14:xfrm>
              <a:off x="1126800" y="1640160"/>
              <a:ext cx="441720" cy="1404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8C00183-F83C-82E7-407F-F5E8C49B24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7440" y="1630800"/>
                <a:ext cx="460440" cy="3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9784" y="80370"/>
            <a:ext cx="29686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45" dirty="0"/>
              <a:t>Es</a:t>
            </a:r>
            <a:r>
              <a:rPr b="1" spc="-10" dirty="0"/>
              <a:t>p</a:t>
            </a:r>
            <a:r>
              <a:rPr b="1" spc="-45" dirty="0"/>
              <a:t>ecifica</a:t>
            </a:r>
            <a:r>
              <a:rPr b="1" spc="-819" dirty="0"/>
              <a:t>¸</a:t>
            </a:r>
            <a:r>
              <a:rPr b="1" spc="-65" dirty="0"/>
              <a:t>c</a:t>
            </a:r>
            <a:r>
              <a:rPr b="1" spc="-795" dirty="0"/>
              <a:t>˜</a:t>
            </a:r>
            <a:r>
              <a:rPr b="1" spc="-45" dirty="0"/>
              <a:t>ao</a:t>
            </a:r>
            <a:r>
              <a:rPr b="1" spc="30" dirty="0"/>
              <a:t> </a:t>
            </a:r>
            <a:r>
              <a:rPr b="1" spc="-50" dirty="0"/>
              <a:t>de</a:t>
            </a:r>
            <a:r>
              <a:rPr b="1" spc="15" dirty="0"/>
              <a:t> </a:t>
            </a:r>
            <a:r>
              <a:rPr lang="pt-BR" b="1" spc="-50" dirty="0"/>
              <a:t>S</a:t>
            </a:r>
            <a:r>
              <a:rPr b="1" spc="-50" dirty="0" err="1"/>
              <a:t>istemas</a:t>
            </a:r>
            <a:endParaRPr b="1"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202611" y="380879"/>
            <a:ext cx="4239747" cy="1054776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000" spc="-45" dirty="0">
                <a:latin typeface="Tahoma"/>
                <a:cs typeface="Tahoma"/>
              </a:rPr>
              <a:t>Es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ecific</a:t>
            </a:r>
            <a:r>
              <a:rPr sz="1000" spc="-55" dirty="0">
                <a:latin typeface="Tahoma"/>
                <a:cs typeface="Tahoma"/>
              </a:rPr>
              <a:t>a</a:t>
            </a:r>
            <a:r>
              <a:rPr sz="1000" spc="-515" dirty="0">
                <a:latin typeface="Tahoma"/>
                <a:cs typeface="Tahoma"/>
              </a:rPr>
              <a:t>c</a:t>
            </a:r>
            <a:r>
              <a:rPr sz="1000" spc="-45" dirty="0">
                <a:latin typeface="Tahoma"/>
                <a:cs typeface="Tahoma"/>
              </a:rPr>
              <a:t>¸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oes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sistemas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devem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consistentes</a:t>
            </a:r>
            <a:r>
              <a:rPr sz="1000" spc="-10" dirty="0">
                <a:latin typeface="Tahoma"/>
                <a:cs typeface="Tahoma"/>
              </a:rPr>
              <a:t>.</a:t>
            </a:r>
            <a:endParaRPr sz="1000" dirty="0">
              <a:latin typeface="Tahoma"/>
              <a:cs typeface="Tahoma"/>
            </a:endParaRPr>
          </a:p>
          <a:p>
            <a:pPr marL="436880" marR="1605280" indent="-171450">
              <a:lnSpc>
                <a:spcPts val="166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sz="900" spc="-135" dirty="0">
                <a:latin typeface="Tahoma"/>
                <a:cs typeface="Tahoma"/>
              </a:rPr>
              <a:t>N</a:t>
            </a:r>
            <a:r>
              <a:rPr lang="pt-BR" sz="900" spc="-135" dirty="0" err="1">
                <a:latin typeface="Tahoma"/>
                <a:cs typeface="Tahoma"/>
              </a:rPr>
              <a:t>ão</a:t>
            </a:r>
            <a:r>
              <a:rPr lang="pt-BR" sz="900" spc="-135" dirty="0">
                <a:latin typeface="Tahoma"/>
                <a:cs typeface="Tahoma"/>
              </a:rPr>
              <a:t>  </a:t>
            </a:r>
            <a:r>
              <a:rPr sz="900" spc="-30" dirty="0" err="1">
                <a:latin typeface="Tahoma"/>
                <a:cs typeface="Tahoma"/>
              </a:rPr>
              <a:t>devem</a:t>
            </a:r>
            <a:r>
              <a:rPr sz="900" spc="-10" dirty="0">
                <a:latin typeface="Tahoma"/>
                <a:cs typeface="Tahoma"/>
              </a:rPr>
              <a:t> conter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requisitos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conflitantes. </a:t>
            </a:r>
            <a:r>
              <a:rPr sz="900" spc="-100" dirty="0">
                <a:latin typeface="Tahoma"/>
                <a:cs typeface="Tahoma"/>
              </a:rPr>
              <a:t>Sen</a:t>
            </a:r>
            <a:r>
              <a:rPr lang="pt-BR" sz="900" spc="-100" dirty="0" err="1">
                <a:latin typeface="Tahoma"/>
                <a:cs typeface="Tahoma"/>
              </a:rPr>
              <a:t>ão</a:t>
            </a:r>
            <a:r>
              <a:rPr sz="900" spc="-100" dirty="0">
                <a:latin typeface="Tahoma"/>
                <a:cs typeface="Tahoma"/>
              </a:rPr>
              <a:t>,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seria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80" dirty="0" err="1">
                <a:latin typeface="Tahoma"/>
                <a:cs typeface="Tahoma"/>
              </a:rPr>
              <a:t>poss</a:t>
            </a:r>
            <a:r>
              <a:rPr lang="pt-BR" sz="900" spc="-80" dirty="0">
                <a:latin typeface="Tahoma"/>
                <a:cs typeface="Tahoma"/>
              </a:rPr>
              <a:t>í</a:t>
            </a:r>
            <a:r>
              <a:rPr sz="900" spc="-80" dirty="0" err="1">
                <a:latin typeface="Tahoma"/>
                <a:cs typeface="Tahoma"/>
              </a:rPr>
              <a:t>ıvel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derivar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 err="1">
                <a:latin typeface="Tahoma"/>
                <a:cs typeface="Tahoma"/>
              </a:rPr>
              <a:t>uma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85" dirty="0" err="1">
                <a:latin typeface="Tahoma"/>
                <a:cs typeface="Tahoma"/>
              </a:rPr>
              <a:t>contradi</a:t>
            </a:r>
            <a:r>
              <a:rPr lang="pt-BR" sz="900" spc="-85" dirty="0" err="1">
                <a:latin typeface="Tahoma"/>
                <a:cs typeface="Tahoma"/>
              </a:rPr>
              <a:t>ção</a:t>
            </a:r>
            <a:r>
              <a:rPr sz="900" spc="-8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434"/>
              </a:spcBef>
            </a:pPr>
            <a:r>
              <a:rPr sz="1000" spc="-25" dirty="0">
                <a:latin typeface="Tahoma"/>
                <a:cs typeface="Tahoma"/>
              </a:rPr>
              <a:t>Quando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es</a:t>
            </a:r>
            <a:r>
              <a:rPr sz="1000" spc="-25" dirty="0">
                <a:latin typeface="Tahoma"/>
                <a:cs typeface="Tahoma"/>
              </a:rPr>
              <a:t>p</a:t>
            </a:r>
            <a:r>
              <a:rPr sz="1000" spc="-50" dirty="0">
                <a:latin typeface="Tahoma"/>
                <a:cs typeface="Tahoma"/>
              </a:rPr>
              <a:t>ecifica</a:t>
            </a:r>
            <a:r>
              <a:rPr sz="1000" spc="-610" dirty="0">
                <a:latin typeface="Tahoma"/>
                <a:cs typeface="Tahoma"/>
              </a:rPr>
              <a:t>¸</a:t>
            </a:r>
            <a:r>
              <a:rPr sz="1000" spc="-50" dirty="0">
                <a:latin typeface="Tahoma"/>
                <a:cs typeface="Tahoma"/>
              </a:rPr>
              <a:t>c</a:t>
            </a:r>
            <a:r>
              <a:rPr sz="1000" spc="-610" dirty="0">
                <a:latin typeface="Tahoma"/>
                <a:cs typeface="Tahoma"/>
              </a:rPr>
              <a:t>˜</a:t>
            </a:r>
            <a:r>
              <a:rPr sz="1000" spc="-50" dirty="0">
                <a:latin typeface="Tahoma"/>
                <a:cs typeface="Tahoma"/>
              </a:rPr>
              <a:t>oes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n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s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60" dirty="0">
                <a:latin typeface="Tahoma"/>
                <a:cs typeface="Tahoma"/>
              </a:rPr>
              <a:t>ao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consistentes,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n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5" dirty="0" err="1">
                <a:latin typeface="Tahoma"/>
                <a:cs typeface="Tahoma"/>
              </a:rPr>
              <a:t>poss</a:t>
            </a:r>
            <a:r>
              <a:rPr lang="pt-BR" sz="1000" spc="-105" dirty="0">
                <a:latin typeface="Tahoma"/>
                <a:cs typeface="Tahoma"/>
              </a:rPr>
              <a:t>í</a:t>
            </a:r>
            <a:r>
              <a:rPr sz="1000" spc="-105" dirty="0">
                <a:latin typeface="Tahoma"/>
                <a:cs typeface="Tahoma"/>
              </a:rPr>
              <a:t>vel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desenvolver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um </a:t>
            </a:r>
            <a:r>
              <a:rPr sz="1000" spc="-35" dirty="0">
                <a:latin typeface="Tahoma"/>
                <a:cs typeface="Tahoma"/>
              </a:rPr>
              <a:t>sistema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45" dirty="0" err="1">
                <a:latin typeface="Tahoma"/>
                <a:cs typeface="Tahoma"/>
              </a:rPr>
              <a:t>que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85" dirty="0" err="1">
                <a:latin typeface="Tahoma"/>
                <a:cs typeface="Tahoma"/>
              </a:rPr>
              <a:t>satisfa</a:t>
            </a:r>
            <a:r>
              <a:rPr lang="pt-BR" sz="1000" spc="-85" dirty="0" err="1">
                <a:latin typeface="Tahoma"/>
                <a:cs typeface="Tahoma"/>
              </a:rPr>
              <a:t>ça</a:t>
            </a:r>
            <a:r>
              <a:rPr lang="pt-BR" sz="1000" spc="-85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todos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os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requisitos.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650" y="1509052"/>
            <a:ext cx="770724" cy="155171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b="1" spc="-25" dirty="0">
                <a:latin typeface="Tahoma"/>
                <a:cs typeface="Tahoma"/>
              </a:rPr>
              <a:t>Ex</a:t>
            </a:r>
            <a:r>
              <a:rPr lang="pt-BR" sz="1000" b="1" spc="-25" dirty="0" err="1">
                <a:latin typeface="Tahoma"/>
                <a:cs typeface="Tahoma"/>
              </a:rPr>
              <a:t>ercício</a:t>
            </a:r>
            <a:r>
              <a:rPr lang="pt-BR" sz="1000" b="1" spc="-25" dirty="0">
                <a:latin typeface="Tahoma"/>
                <a:cs typeface="Tahoma"/>
              </a:rPr>
              <a:t> </a:t>
            </a:r>
            <a:r>
              <a:rPr lang="pt-BR" sz="1000" b="1" spc="-50" dirty="0">
                <a:latin typeface="Tahoma"/>
                <a:cs typeface="Tahoma"/>
              </a:rPr>
              <a:t>2</a:t>
            </a:r>
            <a:endParaRPr sz="1000" b="1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1143" y="1498186"/>
            <a:ext cx="3371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Tahoma"/>
                <a:cs typeface="Tahoma"/>
              </a:rPr>
              <a:t>Determine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</a:t>
            </a:r>
            <a:r>
              <a:rPr sz="1000" spc="-40" dirty="0">
                <a:latin typeface="Tahoma"/>
                <a:cs typeface="Tahoma"/>
              </a:rPr>
              <a:t>seguinte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es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ecific</a:t>
            </a:r>
            <a:r>
              <a:rPr sz="1000" spc="-55" dirty="0">
                <a:latin typeface="Tahoma"/>
                <a:cs typeface="Tahoma"/>
              </a:rPr>
              <a:t>a</a:t>
            </a:r>
            <a:r>
              <a:rPr sz="1000" spc="-605" dirty="0">
                <a:latin typeface="Tahoma"/>
                <a:cs typeface="Tahoma"/>
              </a:rPr>
              <a:t>¸</a:t>
            </a:r>
            <a:r>
              <a:rPr sz="1000" spc="-60" dirty="0">
                <a:latin typeface="Tahoma"/>
                <a:cs typeface="Tahoma"/>
              </a:rPr>
              <a:t>c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sistema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consistente: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25" y="1659465"/>
            <a:ext cx="4512944" cy="1514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116839">
              <a:lnSpc>
                <a:spcPct val="154000"/>
              </a:lnSpc>
              <a:spcBef>
                <a:spcPts val="100"/>
              </a:spcBef>
            </a:pPr>
            <a:r>
              <a:rPr sz="900" i="1" dirty="0">
                <a:solidFill>
                  <a:srgbClr val="0000FF"/>
                </a:solidFill>
                <a:latin typeface="Trebuchet MS"/>
                <a:cs typeface="Trebuchet MS"/>
              </a:rPr>
              <a:t>“A</a:t>
            </a:r>
            <a:r>
              <a:rPr sz="900" i="1" spc="-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00" i="1" spc="-25" dirty="0">
                <a:solidFill>
                  <a:srgbClr val="0000FF"/>
                </a:solidFill>
                <a:latin typeface="Trebuchet MS"/>
                <a:cs typeface="Trebuchet MS"/>
              </a:rPr>
              <a:t>mensagem</a:t>
            </a:r>
            <a:r>
              <a:rPr sz="900" i="1" spc="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00" i="1" spc="-10" dirty="0">
                <a:solidFill>
                  <a:srgbClr val="0000FF"/>
                </a:solidFill>
                <a:latin typeface="Trebuchet MS"/>
                <a:cs typeface="Trebuchet MS"/>
              </a:rPr>
              <a:t>de</a:t>
            </a:r>
            <a:r>
              <a:rPr sz="900" i="1" spc="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00" i="1" spc="-65" dirty="0" err="1">
                <a:solidFill>
                  <a:srgbClr val="0000FF"/>
                </a:solidFill>
                <a:latin typeface="Trebuchet MS"/>
                <a:cs typeface="Trebuchet MS"/>
              </a:rPr>
              <a:t>diagn</a:t>
            </a:r>
            <a:r>
              <a:rPr lang="pt-BR" sz="900" i="1" spc="-65" dirty="0">
                <a:solidFill>
                  <a:srgbClr val="0000FF"/>
                </a:solidFill>
                <a:latin typeface="Trebuchet MS"/>
                <a:cs typeface="Trebuchet MS"/>
              </a:rPr>
              <a:t>ó</a:t>
            </a:r>
            <a:r>
              <a:rPr sz="900" i="1" spc="-65" dirty="0" err="1">
                <a:solidFill>
                  <a:srgbClr val="0000FF"/>
                </a:solidFill>
                <a:latin typeface="Trebuchet MS"/>
                <a:cs typeface="Trebuchet MS"/>
              </a:rPr>
              <a:t>stico</a:t>
            </a:r>
            <a:r>
              <a:rPr sz="900" i="1" spc="-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lang="pt-BR" sz="900" i="1" spc="-5" dirty="0">
                <a:solidFill>
                  <a:srgbClr val="0000FF"/>
                </a:solidFill>
                <a:latin typeface="Trebuchet MS"/>
                <a:cs typeface="Trebuchet MS"/>
              </a:rPr>
              <a:t>é armazenada </a:t>
            </a:r>
            <a:r>
              <a:rPr sz="900" i="1" dirty="0">
                <a:solidFill>
                  <a:srgbClr val="0000FF"/>
                </a:solidFill>
                <a:latin typeface="Trebuchet MS"/>
                <a:cs typeface="Trebuchet MS"/>
              </a:rPr>
              <a:t>no</a:t>
            </a:r>
            <a:r>
              <a:rPr sz="900" i="1" spc="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00" i="1" spc="-65" dirty="0">
                <a:solidFill>
                  <a:srgbClr val="0000FF"/>
                </a:solidFill>
                <a:latin typeface="Trebuchet MS"/>
                <a:cs typeface="Trebuchet MS"/>
              </a:rPr>
              <a:t>buffer</a:t>
            </a:r>
            <a:r>
              <a:rPr sz="900" i="1" spc="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00" i="1" dirty="0" err="1">
                <a:solidFill>
                  <a:srgbClr val="0000FF"/>
                </a:solidFill>
                <a:latin typeface="Trebuchet MS"/>
                <a:cs typeface="Trebuchet MS"/>
              </a:rPr>
              <a:t>ou</a:t>
            </a:r>
            <a:r>
              <a:rPr sz="900" i="1" spc="-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lang="pt-BR" sz="900" i="1" spc="-10" dirty="0">
                <a:solidFill>
                  <a:srgbClr val="0000FF"/>
                </a:solidFill>
                <a:latin typeface="Trebuchet MS"/>
                <a:cs typeface="Trebuchet MS"/>
              </a:rPr>
              <a:t>é </a:t>
            </a:r>
            <a:r>
              <a:rPr sz="900" i="1" spc="-40" dirty="0" err="1">
                <a:solidFill>
                  <a:srgbClr val="0000FF"/>
                </a:solidFill>
                <a:latin typeface="Trebuchet MS"/>
                <a:cs typeface="Trebuchet MS"/>
              </a:rPr>
              <a:t>retransmitida</a:t>
            </a:r>
            <a:r>
              <a:rPr sz="900" i="1" spc="-40" dirty="0">
                <a:solidFill>
                  <a:srgbClr val="0000FF"/>
                </a:solidFill>
                <a:latin typeface="Trebuchet MS"/>
                <a:cs typeface="Trebuchet MS"/>
              </a:rPr>
              <a:t>.” </a:t>
            </a:r>
            <a:endParaRPr lang="pt-BR" sz="900" i="1" spc="-40" dirty="0">
              <a:solidFill>
                <a:srgbClr val="0000FF"/>
              </a:solidFill>
              <a:latin typeface="Trebuchet MS"/>
              <a:cs typeface="Trebuchet MS"/>
            </a:endParaRPr>
          </a:p>
          <a:p>
            <a:pPr marL="265430" marR="116839">
              <a:lnSpc>
                <a:spcPct val="154000"/>
              </a:lnSpc>
              <a:spcBef>
                <a:spcPts val="100"/>
              </a:spcBef>
            </a:pPr>
            <a:r>
              <a:rPr sz="900" i="1" dirty="0">
                <a:solidFill>
                  <a:srgbClr val="002060"/>
                </a:solidFill>
                <a:latin typeface="Trebuchet MS"/>
                <a:cs typeface="Trebuchet MS"/>
              </a:rPr>
              <a:t>“A </a:t>
            </a:r>
            <a:r>
              <a:rPr sz="900" i="1" spc="-25" dirty="0">
                <a:solidFill>
                  <a:srgbClr val="002060"/>
                </a:solidFill>
                <a:latin typeface="Trebuchet MS"/>
                <a:cs typeface="Trebuchet MS"/>
              </a:rPr>
              <a:t>mensagem</a:t>
            </a:r>
            <a:r>
              <a:rPr sz="900" i="1" spc="20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sz="900" i="1" spc="-10" dirty="0">
                <a:solidFill>
                  <a:srgbClr val="002060"/>
                </a:solidFill>
                <a:latin typeface="Trebuchet MS"/>
                <a:cs typeface="Trebuchet MS"/>
              </a:rPr>
              <a:t>de</a:t>
            </a:r>
            <a:r>
              <a:rPr sz="900" i="1" spc="25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lang="pt-BR" sz="900" i="1" spc="-65" dirty="0">
                <a:solidFill>
                  <a:srgbClr val="002060"/>
                </a:solidFill>
                <a:latin typeface="Trebuchet MS"/>
                <a:cs typeface="Trebuchet MS"/>
              </a:rPr>
              <a:t>diagnóstico  </a:t>
            </a:r>
            <a:r>
              <a:rPr lang="pt-BR" sz="900" i="1" spc="-150" dirty="0">
                <a:solidFill>
                  <a:srgbClr val="002060"/>
                </a:solidFill>
                <a:latin typeface="Trebuchet MS"/>
                <a:cs typeface="Trebuchet MS"/>
              </a:rPr>
              <a:t>não  </a:t>
            </a:r>
            <a:r>
              <a:rPr lang="pt-BR" sz="900" i="1" spc="-140" dirty="0">
                <a:solidFill>
                  <a:srgbClr val="002060"/>
                </a:solidFill>
                <a:latin typeface="Trebuchet MS"/>
                <a:cs typeface="Trebuchet MS"/>
              </a:rPr>
              <a:t>está</a:t>
            </a:r>
            <a:r>
              <a:rPr sz="900" i="1" spc="35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sz="900" i="1" spc="-40" dirty="0">
                <a:solidFill>
                  <a:srgbClr val="002060"/>
                </a:solidFill>
                <a:latin typeface="Trebuchet MS"/>
                <a:cs typeface="Trebuchet MS"/>
              </a:rPr>
              <a:t>armazenada</a:t>
            </a:r>
            <a:r>
              <a:rPr sz="900" i="1" spc="20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sz="900" i="1" dirty="0">
                <a:solidFill>
                  <a:srgbClr val="002060"/>
                </a:solidFill>
                <a:latin typeface="Trebuchet MS"/>
                <a:cs typeface="Trebuchet MS"/>
              </a:rPr>
              <a:t>no</a:t>
            </a:r>
            <a:r>
              <a:rPr sz="900" i="1" spc="25" dirty="0">
                <a:solidFill>
                  <a:srgbClr val="002060"/>
                </a:solidFill>
                <a:latin typeface="Trebuchet MS"/>
                <a:cs typeface="Trebuchet MS"/>
              </a:rPr>
              <a:t> </a:t>
            </a:r>
            <a:r>
              <a:rPr sz="900" i="1" spc="-10" dirty="0">
                <a:solidFill>
                  <a:srgbClr val="002060"/>
                </a:solidFill>
                <a:latin typeface="Trebuchet MS"/>
                <a:cs typeface="Trebuchet MS"/>
              </a:rPr>
              <a:t>buffer.”</a:t>
            </a:r>
            <a:endParaRPr sz="900" dirty="0">
              <a:solidFill>
                <a:srgbClr val="002060"/>
              </a:solidFill>
              <a:latin typeface="Trebuchet MS"/>
              <a:cs typeface="Trebuchet MS"/>
            </a:endParaRPr>
          </a:p>
          <a:p>
            <a:pPr marL="265430" marR="306070">
              <a:spcBef>
                <a:spcPts val="565"/>
              </a:spcBef>
            </a:pP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“Se</a:t>
            </a:r>
            <a:r>
              <a:rPr sz="900" i="1" spc="-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a </a:t>
            </a:r>
            <a:r>
              <a:rPr sz="900" i="1" spc="-25" dirty="0">
                <a:solidFill>
                  <a:srgbClr val="7030A0"/>
                </a:solidFill>
                <a:latin typeface="Trebuchet MS"/>
                <a:cs typeface="Trebuchet MS"/>
              </a:rPr>
              <a:t>mensagem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i="1" spc="-10" dirty="0">
                <a:solidFill>
                  <a:srgbClr val="7030A0"/>
                </a:solidFill>
                <a:latin typeface="Trebuchet MS"/>
                <a:cs typeface="Trebuchet MS"/>
              </a:rPr>
              <a:t>de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lang="pt-BR" sz="900" i="1" spc="-65" dirty="0">
                <a:solidFill>
                  <a:srgbClr val="7030A0"/>
                </a:solidFill>
                <a:latin typeface="Trebuchet MS"/>
                <a:cs typeface="Trebuchet MS"/>
              </a:rPr>
              <a:t>diagnóstico </a:t>
            </a:r>
            <a:r>
              <a:rPr sz="900" i="1" spc="-45" dirty="0" err="1">
                <a:solidFill>
                  <a:srgbClr val="7030A0"/>
                </a:solidFill>
                <a:latin typeface="Trebuchet MS"/>
                <a:cs typeface="Trebuchet MS"/>
              </a:rPr>
              <a:t>estiver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i="1" spc="-40" dirty="0">
                <a:solidFill>
                  <a:srgbClr val="7030A0"/>
                </a:solidFill>
                <a:latin typeface="Trebuchet MS"/>
                <a:cs typeface="Trebuchet MS"/>
              </a:rPr>
              <a:t>armazenada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 no </a:t>
            </a:r>
            <a:r>
              <a:rPr sz="900" i="1" spc="-70" dirty="0">
                <a:solidFill>
                  <a:srgbClr val="7030A0"/>
                </a:solidFill>
                <a:latin typeface="Trebuchet MS"/>
                <a:cs typeface="Trebuchet MS"/>
              </a:rPr>
              <a:t>buffer,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i="1" spc="-45" dirty="0" err="1">
                <a:solidFill>
                  <a:srgbClr val="7030A0"/>
                </a:solidFill>
                <a:latin typeface="Trebuchet MS"/>
                <a:cs typeface="Trebuchet MS"/>
              </a:rPr>
              <a:t>ela</a:t>
            </a:r>
            <a:r>
              <a:rPr sz="900" i="1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i="1" spc="-114" dirty="0">
                <a:solidFill>
                  <a:srgbClr val="7030A0"/>
                </a:solidFill>
                <a:latin typeface="Trebuchet MS"/>
                <a:cs typeface="Trebuchet MS"/>
              </a:rPr>
              <a:t>ser</a:t>
            </a:r>
            <a:r>
              <a:rPr lang="pt-BR" sz="900" i="1" spc="-114" dirty="0">
                <a:solidFill>
                  <a:srgbClr val="7030A0"/>
                </a:solidFill>
                <a:latin typeface="Trebuchet MS"/>
                <a:cs typeface="Trebuchet MS"/>
              </a:rPr>
              <a:t>á</a:t>
            </a:r>
            <a:r>
              <a:rPr sz="900" i="1" spc="-1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i="1" spc="-10" dirty="0" err="1">
                <a:solidFill>
                  <a:srgbClr val="7030A0"/>
                </a:solidFill>
                <a:latin typeface="Trebuchet MS"/>
                <a:cs typeface="Trebuchet MS"/>
              </a:rPr>
              <a:t>retransmitida</a:t>
            </a:r>
            <a:r>
              <a:rPr sz="900" i="1" spc="-10" dirty="0">
                <a:solidFill>
                  <a:srgbClr val="7030A0"/>
                </a:solidFill>
                <a:latin typeface="Trebuchet MS"/>
                <a:cs typeface="Trebuchet MS"/>
              </a:rPr>
              <a:t>.”</a:t>
            </a:r>
            <a:endParaRPr lang="pt-BR" sz="900" i="1" spc="-10" dirty="0">
              <a:solidFill>
                <a:srgbClr val="7030A0"/>
              </a:solidFill>
              <a:latin typeface="Trebuchet MS"/>
              <a:cs typeface="Trebuchet MS"/>
            </a:endParaRPr>
          </a:p>
          <a:p>
            <a:pPr marL="12700" marR="5080"/>
            <a:r>
              <a:rPr sz="900" b="1" spc="-55" dirty="0" err="1">
                <a:latin typeface="Tahoma"/>
                <a:cs typeface="Tahoma"/>
              </a:rPr>
              <a:t>Solu</a:t>
            </a:r>
            <a:r>
              <a:rPr sz="900" b="1" spc="-590" dirty="0" err="1">
                <a:latin typeface="Tahoma"/>
                <a:cs typeface="Tahoma"/>
              </a:rPr>
              <a:t>c</a:t>
            </a:r>
            <a:r>
              <a:rPr sz="900" b="1" spc="-75" dirty="0">
                <a:latin typeface="Tahoma"/>
                <a:cs typeface="Tahoma"/>
              </a:rPr>
              <a:t>¸</a:t>
            </a:r>
            <a:r>
              <a:rPr sz="900" b="1" spc="-605" dirty="0">
                <a:latin typeface="Tahoma"/>
                <a:cs typeface="Tahoma"/>
              </a:rPr>
              <a:t>˜</a:t>
            </a:r>
            <a:r>
              <a:rPr sz="900" b="1" spc="-55" dirty="0">
                <a:latin typeface="Tahoma"/>
                <a:cs typeface="Tahoma"/>
              </a:rPr>
              <a:t>ao.</a:t>
            </a:r>
            <a:r>
              <a:rPr sz="900" b="1" spc="1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Para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determinar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60" dirty="0">
                <a:latin typeface="Tahoma"/>
                <a:cs typeface="Tahoma"/>
              </a:rPr>
              <a:t>se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65" dirty="0">
                <a:latin typeface="Tahoma"/>
                <a:cs typeface="Tahoma"/>
              </a:rPr>
              <a:t>essas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es</a:t>
            </a:r>
            <a:r>
              <a:rPr sz="900" spc="-20" dirty="0">
                <a:latin typeface="Tahoma"/>
                <a:cs typeface="Tahoma"/>
              </a:rPr>
              <a:t>p</a:t>
            </a:r>
            <a:r>
              <a:rPr sz="900" spc="-45" dirty="0">
                <a:latin typeface="Tahoma"/>
                <a:cs typeface="Tahoma"/>
              </a:rPr>
              <a:t>ecifica</a:t>
            </a:r>
            <a:r>
              <a:rPr sz="900" spc="-605" dirty="0">
                <a:latin typeface="Tahoma"/>
                <a:cs typeface="Tahoma"/>
              </a:rPr>
              <a:t>¸</a:t>
            </a:r>
            <a:r>
              <a:rPr sz="900" spc="-45" dirty="0">
                <a:latin typeface="Tahoma"/>
                <a:cs typeface="Tahoma"/>
              </a:rPr>
              <a:t>c</a:t>
            </a:r>
            <a:r>
              <a:rPr sz="900" spc="-605" dirty="0">
                <a:latin typeface="Tahoma"/>
                <a:cs typeface="Tahoma"/>
              </a:rPr>
              <a:t>˜</a:t>
            </a:r>
            <a:r>
              <a:rPr sz="900" spc="-45" dirty="0">
                <a:latin typeface="Tahoma"/>
                <a:cs typeface="Tahoma"/>
              </a:rPr>
              <a:t>oes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75" dirty="0">
                <a:latin typeface="Tahoma"/>
                <a:cs typeface="Tahoma"/>
              </a:rPr>
              <a:t>s</a:t>
            </a:r>
            <a:r>
              <a:rPr sz="900" spc="-605" dirty="0">
                <a:latin typeface="Tahoma"/>
                <a:cs typeface="Tahoma"/>
              </a:rPr>
              <a:t>˜</a:t>
            </a:r>
            <a:r>
              <a:rPr sz="900" spc="-60" dirty="0">
                <a:latin typeface="Tahoma"/>
                <a:cs typeface="Tahoma"/>
              </a:rPr>
              <a:t>ao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consistentes,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primeiro </a:t>
            </a:r>
            <a:r>
              <a:rPr sz="900" spc="-50" dirty="0">
                <a:latin typeface="Tahoma"/>
                <a:cs typeface="Tahoma"/>
              </a:rPr>
              <a:t>vamos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representar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65" dirty="0">
                <a:latin typeface="Tahoma"/>
                <a:cs typeface="Tahoma"/>
              </a:rPr>
              <a:t>seus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componentes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como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70" dirty="0">
                <a:latin typeface="Tahoma"/>
                <a:cs typeface="Tahoma"/>
              </a:rPr>
              <a:t>ex</a:t>
            </a:r>
            <a:r>
              <a:rPr sz="900" spc="-105" dirty="0">
                <a:latin typeface="Tahoma"/>
                <a:cs typeface="Tahoma"/>
              </a:rPr>
              <a:t>p</a:t>
            </a:r>
            <a:r>
              <a:rPr sz="900" spc="-80" dirty="0">
                <a:latin typeface="Tahoma"/>
                <a:cs typeface="Tahoma"/>
              </a:rPr>
              <a:t>r</a:t>
            </a:r>
            <a:r>
              <a:rPr sz="900" spc="-70" dirty="0">
                <a:latin typeface="Tahoma"/>
                <a:cs typeface="Tahoma"/>
              </a:rPr>
              <a:t>ess</a:t>
            </a:r>
            <a:r>
              <a:rPr sz="900" spc="-630" dirty="0">
                <a:latin typeface="Tahoma"/>
                <a:cs typeface="Tahoma"/>
              </a:rPr>
              <a:t>˜</a:t>
            </a:r>
            <a:r>
              <a:rPr sz="900" spc="-70" dirty="0">
                <a:latin typeface="Tahoma"/>
                <a:cs typeface="Tahoma"/>
              </a:rPr>
              <a:t>oes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l</a:t>
            </a:r>
            <a:r>
              <a:rPr sz="900" spc="-509" dirty="0">
                <a:latin typeface="Tahoma"/>
                <a:cs typeface="Tahoma"/>
              </a:rPr>
              <a:t>´</a:t>
            </a:r>
            <a:r>
              <a:rPr sz="900" spc="50" dirty="0">
                <a:latin typeface="Tahoma"/>
                <a:cs typeface="Tahoma"/>
              </a:rPr>
              <a:t>ogicas:</a:t>
            </a:r>
            <a:endParaRPr sz="900" dirty="0">
              <a:latin typeface="Tahoma"/>
              <a:cs typeface="Tahoma"/>
            </a:endParaRPr>
          </a:p>
          <a:p>
            <a:pPr marL="265430">
              <a:spcBef>
                <a:spcPts val="560"/>
              </a:spcBef>
            </a:pPr>
            <a:r>
              <a:rPr sz="900" b="1" i="1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p</a:t>
            </a:r>
            <a:r>
              <a:rPr sz="900" b="1" dirty="0">
                <a:solidFill>
                  <a:schemeClr val="tx2">
                    <a:lumMod val="50000"/>
                  </a:schemeClr>
                </a:solidFill>
                <a:latin typeface="Tahoma"/>
                <a:cs typeface="Tahoma"/>
              </a:rPr>
              <a:t>: </a:t>
            </a:r>
            <a:r>
              <a:rPr sz="900" b="1" i="1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“A</a:t>
            </a:r>
            <a:r>
              <a:rPr sz="900" b="1" i="1" spc="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900" b="1" i="1" spc="-2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mensagem</a:t>
            </a:r>
            <a:r>
              <a:rPr sz="900" b="1" i="1" spc="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900" b="1" i="1" spc="-10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de</a:t>
            </a:r>
            <a:r>
              <a:rPr sz="900" b="1" i="1" spc="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pt-BR" sz="900" b="1" i="1" spc="-6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diagnóstico  é </a:t>
            </a:r>
            <a:r>
              <a:rPr sz="900" b="1" i="1" spc="-40" dirty="0" err="1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armazenada</a:t>
            </a:r>
            <a:r>
              <a:rPr sz="900" b="1" i="1" spc="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900" b="1" i="1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no</a:t>
            </a:r>
            <a:r>
              <a:rPr sz="900" b="1" i="1" spc="10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900" b="1" i="1" spc="-10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buffer.”</a:t>
            </a:r>
            <a:endParaRPr sz="900" b="1" dirty="0">
              <a:solidFill>
                <a:schemeClr val="tx2">
                  <a:lumMod val="50000"/>
                </a:schemeClr>
              </a:solidFill>
              <a:latin typeface="Trebuchet MS"/>
              <a:cs typeface="Trebuchet MS"/>
            </a:endParaRPr>
          </a:p>
          <a:p>
            <a:pPr marL="265430">
              <a:spcBef>
                <a:spcPts val="580"/>
              </a:spcBef>
            </a:pPr>
            <a:r>
              <a:rPr sz="900" b="1" i="1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q</a:t>
            </a:r>
            <a:r>
              <a:rPr sz="900" b="1" dirty="0">
                <a:solidFill>
                  <a:schemeClr val="accent2">
                    <a:lumMod val="50000"/>
                  </a:schemeClr>
                </a:solidFill>
                <a:latin typeface="Tahoma"/>
                <a:cs typeface="Tahoma"/>
              </a:rPr>
              <a:t>: </a:t>
            </a:r>
            <a:r>
              <a:rPr sz="900" b="1" i="1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“A</a:t>
            </a:r>
            <a:r>
              <a:rPr sz="900" b="1" i="1" spc="5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900" b="1" i="1" spc="-25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mensagem</a:t>
            </a:r>
            <a:r>
              <a:rPr sz="900" b="1" i="1" spc="5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900" b="1" i="1" spc="-10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de</a:t>
            </a:r>
            <a:r>
              <a:rPr sz="900" b="1" i="1" spc="10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pt-BR" sz="900" b="1" i="1" spc="-65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diagnóstico é </a:t>
            </a:r>
            <a:r>
              <a:rPr sz="900" b="1" i="1" spc="-10" dirty="0" err="1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retransmitida</a:t>
            </a:r>
            <a:r>
              <a:rPr sz="900" b="1" i="1" spc="-10" dirty="0">
                <a:solidFill>
                  <a:schemeClr val="accent2">
                    <a:lumMod val="50000"/>
                  </a:schemeClr>
                </a:solidFill>
                <a:latin typeface="Trebuchet MS"/>
                <a:cs typeface="Trebuchet MS"/>
              </a:rPr>
              <a:t>.”</a:t>
            </a:r>
            <a:endParaRPr sz="900" b="1" dirty="0">
              <a:solidFill>
                <a:schemeClr val="accent2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57600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4607992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98399"/>
                </a:lnTo>
                <a:lnTo>
                  <a:pt x="2303983" y="98399"/>
                </a:lnTo>
                <a:lnTo>
                  <a:pt x="4607992" y="98399"/>
                </a:lnTo>
                <a:lnTo>
                  <a:pt x="4607992" y="0"/>
                </a:lnTo>
                <a:close/>
              </a:path>
            </a:pathLst>
          </a:custGeom>
          <a:solidFill>
            <a:srgbClr val="99C1AD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0F9ABB7-D7F9-531C-F743-49B954E3937D}"/>
                  </a:ext>
                </a:extLst>
              </p14:cNvPr>
              <p14:cNvContentPartPr/>
              <p14:nvPr/>
            </p14:nvContentPartPr>
            <p14:xfrm>
              <a:off x="1695450" y="1899796"/>
              <a:ext cx="1334160" cy="225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0F9ABB7-D7F9-531C-F743-49B954E393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6090" y="1890436"/>
                <a:ext cx="1352880" cy="24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 animBg="1"/>
      <p:bldP spid="9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8374" y="63591"/>
            <a:ext cx="29686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5" dirty="0"/>
              <a:t>Es</a:t>
            </a:r>
            <a:r>
              <a:rPr b="1" spc="-10" dirty="0"/>
              <a:t>p</a:t>
            </a:r>
            <a:r>
              <a:rPr b="1" spc="-45" dirty="0"/>
              <a:t>ecifica</a:t>
            </a:r>
            <a:r>
              <a:rPr b="1" spc="-819" dirty="0"/>
              <a:t>¸</a:t>
            </a:r>
            <a:r>
              <a:rPr b="1" spc="-65" dirty="0"/>
              <a:t>c</a:t>
            </a:r>
            <a:r>
              <a:rPr b="1" spc="-795" dirty="0"/>
              <a:t>˜</a:t>
            </a:r>
            <a:r>
              <a:rPr b="1" spc="-45" dirty="0"/>
              <a:t>ao</a:t>
            </a:r>
            <a:r>
              <a:rPr b="1" spc="30" dirty="0"/>
              <a:t> </a:t>
            </a:r>
            <a:r>
              <a:rPr b="1" spc="-50" dirty="0"/>
              <a:t>de</a:t>
            </a:r>
            <a:r>
              <a:rPr b="1" spc="15" dirty="0"/>
              <a:t> </a:t>
            </a:r>
            <a:r>
              <a:rPr b="1" spc="-5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638" y="451933"/>
            <a:ext cx="761669" cy="155171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b="1" spc="-25" dirty="0">
                <a:latin typeface="Tahoma"/>
                <a:cs typeface="Tahoma"/>
              </a:rPr>
              <a:t>Exe</a:t>
            </a:r>
            <a:r>
              <a:rPr lang="pt-BR" sz="1000" b="1" spc="-25" dirty="0" err="1">
                <a:latin typeface="Tahoma"/>
                <a:cs typeface="Tahoma"/>
              </a:rPr>
              <a:t>rcício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lang="pt-BR" sz="1000" b="1" spc="-50" dirty="0">
                <a:latin typeface="Tahoma"/>
                <a:cs typeface="Tahoma"/>
              </a:rPr>
              <a:t>2</a:t>
            </a:r>
            <a:endParaRPr sz="1000" b="1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307" y="422623"/>
            <a:ext cx="781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(Continu</a:t>
            </a:r>
            <a:r>
              <a:rPr sz="1000" spc="-35" dirty="0">
                <a:latin typeface="Tahoma"/>
                <a:cs typeface="Tahoma"/>
              </a:rPr>
              <a:t>a</a:t>
            </a:r>
            <a:r>
              <a:rPr sz="1000" spc="-495" dirty="0">
                <a:latin typeface="Tahoma"/>
                <a:cs typeface="Tahoma"/>
              </a:rPr>
              <a:t>c</a:t>
            </a:r>
            <a:r>
              <a:rPr sz="1000" spc="-40" dirty="0">
                <a:latin typeface="Tahoma"/>
                <a:cs typeface="Tahoma"/>
              </a:rPr>
              <a:t>¸</a:t>
            </a:r>
            <a:r>
              <a:rPr sz="1000" spc="-570" dirty="0">
                <a:latin typeface="Tahoma"/>
                <a:cs typeface="Tahoma"/>
              </a:rPr>
              <a:t>˜</a:t>
            </a:r>
            <a:r>
              <a:rPr sz="1000" spc="-35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o)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50" y="830477"/>
            <a:ext cx="4088129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Assim,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es</a:t>
            </a:r>
            <a:r>
              <a:rPr sz="1000" spc="-25" dirty="0">
                <a:latin typeface="Tahoma"/>
                <a:cs typeface="Tahoma"/>
              </a:rPr>
              <a:t>p</a:t>
            </a:r>
            <a:r>
              <a:rPr sz="1000" spc="-50" dirty="0">
                <a:latin typeface="Tahoma"/>
                <a:cs typeface="Tahoma"/>
              </a:rPr>
              <a:t>ecific</a:t>
            </a:r>
            <a:r>
              <a:rPr sz="1000" spc="-60" dirty="0">
                <a:latin typeface="Tahoma"/>
                <a:cs typeface="Tahoma"/>
              </a:rPr>
              <a:t>a</a:t>
            </a:r>
            <a:r>
              <a:rPr sz="1000" spc="-520" dirty="0">
                <a:latin typeface="Tahoma"/>
                <a:cs typeface="Tahoma"/>
              </a:rPr>
              <a:t>c</a:t>
            </a:r>
            <a:r>
              <a:rPr sz="1000" spc="-65" dirty="0">
                <a:latin typeface="Tahoma"/>
                <a:cs typeface="Tahoma"/>
              </a:rPr>
              <a:t>¸</a:t>
            </a:r>
            <a:r>
              <a:rPr sz="1000" spc="-595" dirty="0">
                <a:latin typeface="Tahoma"/>
                <a:cs typeface="Tahoma"/>
              </a:rPr>
              <a:t>˜</a:t>
            </a:r>
            <a:r>
              <a:rPr sz="1000" spc="-50" dirty="0">
                <a:latin typeface="Tahoma"/>
                <a:cs typeface="Tahoma"/>
              </a:rPr>
              <a:t>ao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sistema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reescrita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como:</a:t>
            </a:r>
            <a:endParaRPr sz="1000" dirty="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1200"/>
              </a:spcBef>
              <a:tabLst>
                <a:tab pos="1675130" algn="l"/>
                <a:tab pos="3084195" algn="l"/>
              </a:tabLst>
            </a:pPr>
            <a:r>
              <a:rPr lang="pt-BR" sz="900" i="1" dirty="0">
                <a:latin typeface="Trebuchet MS"/>
                <a:cs typeface="Trebuchet MS"/>
              </a:rPr>
              <a:t>I -</a:t>
            </a:r>
            <a:r>
              <a:rPr lang="pt-BR" sz="900" b="1" i="1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b="1" i="1" dirty="0">
                <a:solidFill>
                  <a:srgbClr val="7030A0"/>
                </a:solidFill>
                <a:latin typeface="Trebuchet MS"/>
                <a:cs typeface="Trebuchet MS"/>
              </a:rPr>
              <a:t>p</a:t>
            </a:r>
            <a:r>
              <a:rPr sz="900" b="1" i="1" spc="-5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900" b="1" spc="-100" dirty="0">
                <a:solidFill>
                  <a:srgbClr val="7030A0"/>
                </a:solidFill>
                <a:latin typeface="Segoe UI Symbol"/>
                <a:cs typeface="Segoe UI Symbol"/>
              </a:rPr>
              <a:t>∨</a:t>
            </a:r>
            <a:r>
              <a:rPr sz="900" b="1" spc="-45" dirty="0">
                <a:solidFill>
                  <a:srgbClr val="7030A0"/>
                </a:solidFill>
                <a:latin typeface="Segoe UI Symbol"/>
                <a:cs typeface="Segoe UI Symbol"/>
              </a:rPr>
              <a:t> </a:t>
            </a:r>
            <a:r>
              <a:rPr sz="900" b="1" i="1" spc="-50" dirty="0">
                <a:solidFill>
                  <a:srgbClr val="7030A0"/>
                </a:solidFill>
                <a:latin typeface="Trebuchet MS"/>
                <a:cs typeface="Trebuchet MS"/>
              </a:rPr>
              <a:t>q</a:t>
            </a:r>
            <a:r>
              <a:rPr sz="900" i="1" dirty="0">
                <a:latin typeface="Trebuchet MS"/>
                <a:cs typeface="Trebuchet MS"/>
              </a:rPr>
              <a:t>	</a:t>
            </a:r>
            <a:r>
              <a:rPr lang="pt-BR" sz="900" i="1" dirty="0">
                <a:latin typeface="Trebuchet MS"/>
                <a:cs typeface="Trebuchet MS"/>
              </a:rPr>
              <a:t>II - </a:t>
            </a:r>
            <a:r>
              <a:rPr sz="900" b="1" spc="-25" dirty="0">
                <a:solidFill>
                  <a:schemeClr val="tx2">
                    <a:lumMod val="50000"/>
                  </a:schemeClr>
                </a:solidFill>
                <a:latin typeface="Segoe UI Symbol"/>
                <a:cs typeface="Segoe UI Symbol"/>
              </a:rPr>
              <a:t>¬</a:t>
            </a:r>
            <a:r>
              <a:rPr sz="900" b="1" i="1" spc="-25" dirty="0">
                <a:solidFill>
                  <a:schemeClr val="tx2">
                    <a:lumMod val="50000"/>
                  </a:schemeClr>
                </a:solidFill>
                <a:latin typeface="Trebuchet MS"/>
                <a:cs typeface="Trebuchet MS"/>
              </a:rPr>
              <a:t>p</a:t>
            </a:r>
            <a:r>
              <a:rPr sz="900" i="1" dirty="0">
                <a:latin typeface="Trebuchet MS"/>
                <a:cs typeface="Trebuchet MS"/>
              </a:rPr>
              <a:t>	</a:t>
            </a:r>
            <a:r>
              <a:rPr lang="pt-BR" sz="900" i="1" dirty="0">
                <a:latin typeface="Trebuchet MS"/>
                <a:cs typeface="Trebuchet MS"/>
              </a:rPr>
              <a:t>III- </a:t>
            </a:r>
            <a:r>
              <a:rPr sz="900" b="1" i="1" dirty="0">
                <a:solidFill>
                  <a:srgbClr val="C00000"/>
                </a:solidFill>
                <a:latin typeface="Trebuchet MS"/>
                <a:cs typeface="Trebuchet MS"/>
              </a:rPr>
              <a:t>p</a:t>
            </a:r>
            <a:r>
              <a:rPr sz="900" b="1" i="1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00" b="1" spc="135" dirty="0">
                <a:solidFill>
                  <a:srgbClr val="C00000"/>
                </a:solidFill>
                <a:latin typeface="Segoe UI Symbol"/>
                <a:cs typeface="Segoe UI Symbol"/>
              </a:rPr>
              <a:t>→</a:t>
            </a:r>
            <a:r>
              <a:rPr sz="900" b="1" dirty="0">
                <a:solidFill>
                  <a:srgbClr val="C00000"/>
                </a:solidFill>
                <a:latin typeface="Segoe UI Symbol"/>
                <a:cs typeface="Segoe UI Symbol"/>
              </a:rPr>
              <a:t> </a:t>
            </a:r>
            <a:r>
              <a:rPr sz="900" b="1" i="1" spc="-50" dirty="0">
                <a:solidFill>
                  <a:srgbClr val="C00000"/>
                </a:solidFill>
                <a:latin typeface="Trebuchet MS"/>
                <a:cs typeface="Trebuchet MS"/>
              </a:rPr>
              <a:t>q</a:t>
            </a:r>
            <a:endParaRPr sz="900" b="1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000" spc="-30" dirty="0">
                <a:latin typeface="Tahoma"/>
                <a:cs typeface="Tahoma"/>
              </a:rPr>
              <a:t>Podemos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verificar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es</a:t>
            </a:r>
            <a:r>
              <a:rPr sz="1000" spc="-20" dirty="0">
                <a:latin typeface="Tahoma"/>
                <a:cs typeface="Tahoma"/>
              </a:rPr>
              <a:t>p</a:t>
            </a:r>
            <a:r>
              <a:rPr sz="1000" spc="-45" dirty="0">
                <a:latin typeface="Tahoma"/>
                <a:cs typeface="Tahoma"/>
              </a:rPr>
              <a:t>ecifica</a:t>
            </a:r>
            <a:r>
              <a:rPr sz="1000" spc="-605" dirty="0">
                <a:latin typeface="Tahoma"/>
                <a:cs typeface="Tahoma"/>
              </a:rPr>
              <a:t>¸</a:t>
            </a:r>
            <a:r>
              <a:rPr sz="1000" spc="-60" dirty="0">
                <a:latin typeface="Tahoma"/>
                <a:cs typeface="Tahoma"/>
              </a:rPr>
              <a:t>c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consistente</a:t>
            </a:r>
            <a:r>
              <a:rPr sz="1000" spc="-10" dirty="0">
                <a:latin typeface="Tahoma"/>
                <a:cs typeface="Tahoma"/>
              </a:rPr>
              <a:t> com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uma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tabela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</a:t>
            </a:r>
            <a:r>
              <a:rPr sz="1000" spc="-10" dirty="0">
                <a:latin typeface="Tahoma"/>
                <a:cs typeface="Tahoma"/>
              </a:rPr>
              <a:t> verdade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mostra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80" dirty="0">
                <a:latin typeface="Tahoma"/>
                <a:cs typeface="Tahoma"/>
              </a:rPr>
              <a:t>se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0" dirty="0" err="1">
                <a:latin typeface="Tahoma"/>
                <a:cs typeface="Tahoma"/>
              </a:rPr>
              <a:t>poss</a:t>
            </a:r>
            <a:r>
              <a:rPr lang="pt-BR" sz="1000" spc="-100" dirty="0">
                <a:latin typeface="Tahoma"/>
                <a:cs typeface="Tahoma"/>
              </a:rPr>
              <a:t>í</a:t>
            </a:r>
            <a:r>
              <a:rPr sz="1000" spc="-100" dirty="0" err="1">
                <a:latin typeface="Tahoma"/>
                <a:cs typeface="Tahoma"/>
              </a:rPr>
              <a:t>ıvel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satisfazer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todos os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</a:t>
            </a:r>
            <a:r>
              <a:rPr sz="1000" spc="-75" dirty="0">
                <a:latin typeface="Tahoma"/>
                <a:cs typeface="Tahoma"/>
              </a:rPr>
              <a:t>r</a:t>
            </a:r>
            <a:r>
              <a:rPr sz="1000" spc="-570" dirty="0">
                <a:latin typeface="Tahoma"/>
                <a:cs typeface="Tahoma"/>
              </a:rPr>
              <a:t>ˆ</a:t>
            </a:r>
            <a:r>
              <a:rPr sz="1000" spc="-40" dirty="0">
                <a:latin typeface="Tahoma"/>
                <a:cs typeface="Tahoma"/>
              </a:rPr>
              <a:t>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requisitos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mesmo</a:t>
            </a:r>
            <a:r>
              <a:rPr sz="1000" spc="-10" dirty="0">
                <a:latin typeface="Tahoma"/>
                <a:cs typeface="Tahoma"/>
              </a:rPr>
              <a:t> tempo.</a:t>
            </a:r>
            <a:endParaRPr sz="1000" dirty="0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301034"/>
              </p:ext>
            </p:extLst>
          </p:nvPr>
        </p:nvGraphicFramePr>
        <p:xfrm>
          <a:off x="1606524" y="1918373"/>
          <a:ext cx="1642109" cy="813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055"/>
                        </a:lnSpc>
                      </a:pPr>
                      <a:r>
                        <a:rPr sz="1000" b="1" spc="-4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000" b="1" spc="-9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34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∨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4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 </a:t>
                      </a:r>
                      <a:r>
                        <a:rPr sz="1000" b="1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→</a:t>
                      </a:r>
                      <a:r>
                        <a:rPr sz="1000" b="1" spc="-1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lang="pt-BR" sz="100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6161" y="2845898"/>
            <a:ext cx="43988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Note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spc="-40" dirty="0">
                <a:solidFill>
                  <a:srgbClr val="002060"/>
                </a:solidFill>
                <a:latin typeface="Tahoma"/>
                <a:cs typeface="Tahoma"/>
              </a:rPr>
              <a:t>es</a:t>
            </a:r>
            <a:r>
              <a:rPr sz="1000" b="1" spc="-15" dirty="0">
                <a:solidFill>
                  <a:srgbClr val="002060"/>
                </a:solidFill>
                <a:latin typeface="Tahoma"/>
                <a:cs typeface="Tahoma"/>
              </a:rPr>
              <a:t>p</a:t>
            </a:r>
            <a:r>
              <a:rPr sz="1000" b="1" spc="-40" dirty="0">
                <a:solidFill>
                  <a:srgbClr val="002060"/>
                </a:solidFill>
                <a:latin typeface="Tahoma"/>
                <a:cs typeface="Tahoma"/>
              </a:rPr>
              <a:t>ecifica</a:t>
            </a:r>
            <a:r>
              <a:rPr sz="1000" b="1" spc="-600" dirty="0">
                <a:solidFill>
                  <a:srgbClr val="002060"/>
                </a:solidFill>
                <a:latin typeface="Tahoma"/>
                <a:cs typeface="Tahoma"/>
              </a:rPr>
              <a:t>¸</a:t>
            </a:r>
            <a:r>
              <a:rPr sz="1000" b="1" spc="-55" dirty="0">
                <a:solidFill>
                  <a:srgbClr val="002060"/>
                </a:solidFill>
                <a:latin typeface="Tahoma"/>
                <a:cs typeface="Tahoma"/>
              </a:rPr>
              <a:t>c</a:t>
            </a:r>
            <a:r>
              <a:rPr sz="1000" b="1" spc="-585" dirty="0">
                <a:solidFill>
                  <a:srgbClr val="002060"/>
                </a:solidFill>
                <a:latin typeface="Tahoma"/>
                <a:cs typeface="Tahoma"/>
              </a:rPr>
              <a:t>˜</a:t>
            </a:r>
            <a:r>
              <a:rPr sz="1000" b="1" spc="-40" dirty="0">
                <a:solidFill>
                  <a:srgbClr val="002060"/>
                </a:solidFill>
                <a:latin typeface="Tahoma"/>
                <a:cs typeface="Tahoma"/>
              </a:rPr>
              <a:t>ao</a:t>
            </a:r>
            <a:r>
              <a:rPr sz="1000" b="1" spc="15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do</a:t>
            </a:r>
            <a:r>
              <a:rPr sz="1000" b="1" spc="-10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b="1" spc="-40" dirty="0">
                <a:solidFill>
                  <a:srgbClr val="002060"/>
                </a:solidFill>
                <a:latin typeface="Tahoma"/>
                <a:cs typeface="Tahoma"/>
              </a:rPr>
              <a:t>sistema</a:t>
            </a:r>
            <a:r>
              <a:rPr sz="1000" b="1" spc="-35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b="1" spc="-595" dirty="0">
                <a:solidFill>
                  <a:srgbClr val="002060"/>
                </a:solidFill>
                <a:latin typeface="Tahoma"/>
                <a:cs typeface="Tahoma"/>
              </a:rPr>
              <a:t>´</a:t>
            </a:r>
            <a:r>
              <a:rPr sz="1000" b="1" spc="-65" dirty="0">
                <a:solidFill>
                  <a:srgbClr val="002060"/>
                </a:solidFill>
                <a:latin typeface="Tahoma"/>
                <a:cs typeface="Tahoma"/>
              </a:rPr>
              <a:t>e</a:t>
            </a:r>
            <a:r>
              <a:rPr sz="1000" b="1" spc="15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b="1" spc="-40" dirty="0">
                <a:solidFill>
                  <a:srgbClr val="002060"/>
                </a:solidFill>
                <a:latin typeface="Tahoma"/>
                <a:cs typeface="Tahoma"/>
              </a:rPr>
              <a:t>consistente</a:t>
            </a:r>
            <a:r>
              <a:rPr sz="1000" spc="-40" dirty="0">
                <a:latin typeface="Tahoma"/>
                <a:cs typeface="Tahoma"/>
              </a:rPr>
              <a:t>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ela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satisfeita</a:t>
            </a:r>
            <a:r>
              <a:rPr sz="1000" spc="-10" dirty="0">
                <a:latin typeface="Tahoma"/>
                <a:cs typeface="Tahoma"/>
              </a:rPr>
              <a:t> quando</a:t>
            </a:r>
            <a:endParaRPr sz="1000" dirty="0">
              <a:latin typeface="Tahoma"/>
              <a:cs typeface="Tahoma"/>
            </a:endParaRPr>
          </a:p>
          <a:p>
            <a:pPr marL="12700">
              <a:lnSpc>
                <a:spcPts val="1195"/>
              </a:lnSpc>
            </a:pP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p</a:t>
            </a:r>
            <a:r>
              <a:rPr sz="1000" b="1" i="1" spc="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=</a:t>
            </a:r>
            <a:r>
              <a:rPr sz="1000" b="1" spc="-50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F</a:t>
            </a:r>
            <a:r>
              <a:rPr sz="1000" b="1" i="1" spc="16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e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b="1" i="1" spc="2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=</a:t>
            </a:r>
            <a:r>
              <a:rPr sz="1000" b="1" spc="-50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lang="pt-BR" sz="1000" b="1" i="1" spc="60" dirty="0">
                <a:solidFill>
                  <a:srgbClr val="002060"/>
                </a:solidFill>
                <a:latin typeface="Arial"/>
                <a:cs typeface="Arial"/>
              </a:rPr>
              <a:t>V</a:t>
            </a:r>
            <a:endParaRPr sz="1000" b="1" dirty="0">
              <a:solidFill>
                <a:srgbClr val="002060"/>
              </a:solidFill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57600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4607992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98399"/>
                </a:lnTo>
                <a:lnTo>
                  <a:pt x="2303983" y="98399"/>
                </a:lnTo>
                <a:lnTo>
                  <a:pt x="4607992" y="98399"/>
                </a:lnTo>
                <a:lnTo>
                  <a:pt x="4607992" y="0"/>
                </a:lnTo>
                <a:close/>
              </a:path>
            </a:pathLst>
          </a:custGeom>
          <a:solidFill>
            <a:srgbClr val="99C1A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2050" y="51658"/>
            <a:ext cx="29686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5" dirty="0"/>
              <a:t>Es</a:t>
            </a:r>
            <a:r>
              <a:rPr b="1" spc="-10" dirty="0"/>
              <a:t>p</a:t>
            </a:r>
            <a:r>
              <a:rPr b="1" spc="-45" dirty="0"/>
              <a:t>ecifica</a:t>
            </a:r>
            <a:r>
              <a:rPr b="1" spc="-819" dirty="0"/>
              <a:t>¸</a:t>
            </a:r>
            <a:r>
              <a:rPr b="1" spc="-65" dirty="0"/>
              <a:t>c</a:t>
            </a:r>
            <a:r>
              <a:rPr b="1" spc="-795" dirty="0"/>
              <a:t>˜</a:t>
            </a:r>
            <a:r>
              <a:rPr b="1" spc="-45" dirty="0"/>
              <a:t>ao</a:t>
            </a:r>
            <a:r>
              <a:rPr b="1" spc="30" dirty="0"/>
              <a:t> </a:t>
            </a:r>
            <a:r>
              <a:rPr b="1" spc="-50" dirty="0"/>
              <a:t>de</a:t>
            </a:r>
            <a:r>
              <a:rPr b="1" spc="15" dirty="0"/>
              <a:t> </a:t>
            </a:r>
            <a:r>
              <a:rPr b="1" spc="-5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7277" y="441442"/>
            <a:ext cx="796200" cy="155171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b="1" spc="-25" dirty="0">
                <a:latin typeface="Tahoma"/>
                <a:cs typeface="Tahoma"/>
              </a:rPr>
              <a:t>Exe</a:t>
            </a:r>
            <a:r>
              <a:rPr lang="pt-BR" sz="1000" b="1" spc="-25" dirty="0" err="1">
                <a:latin typeface="Tahoma"/>
                <a:cs typeface="Tahoma"/>
              </a:rPr>
              <a:t>rcício</a:t>
            </a:r>
            <a:r>
              <a:rPr lang="pt-BR" sz="1000" b="1" spc="-25" dirty="0">
                <a:latin typeface="Tahoma"/>
                <a:cs typeface="Tahoma"/>
              </a:rPr>
              <a:t> 2</a:t>
            </a:r>
            <a:endParaRPr sz="1000" b="1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4928" y="426863"/>
            <a:ext cx="341693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000" spc="-35" dirty="0">
                <a:latin typeface="Tahoma"/>
                <a:cs typeface="Tahoma"/>
              </a:rPr>
              <a:t>(Continuação) </a:t>
            </a:r>
            <a:r>
              <a:rPr sz="1000" spc="-35" dirty="0" err="1">
                <a:latin typeface="Tahoma"/>
                <a:cs typeface="Tahoma"/>
              </a:rPr>
              <a:t>Suponha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adicionemos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90" dirty="0">
                <a:latin typeface="Tahoma"/>
                <a:cs typeface="Tahoma"/>
              </a:rPr>
              <a:t>`</a:t>
            </a:r>
            <a:r>
              <a:rPr sz="1000" spc="-45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es</a:t>
            </a:r>
            <a:r>
              <a:rPr sz="1000" spc="-25" dirty="0">
                <a:latin typeface="Tahoma"/>
                <a:cs typeface="Tahoma"/>
              </a:rPr>
              <a:t>p</a:t>
            </a:r>
            <a:r>
              <a:rPr sz="1000" spc="-50" dirty="0">
                <a:latin typeface="Tahoma"/>
                <a:cs typeface="Tahoma"/>
              </a:rPr>
              <a:t>ecific</a:t>
            </a:r>
            <a:r>
              <a:rPr sz="1000" spc="-60" dirty="0">
                <a:latin typeface="Tahoma"/>
                <a:cs typeface="Tahoma"/>
              </a:rPr>
              <a:t>a</a:t>
            </a:r>
            <a:r>
              <a:rPr sz="1000" spc="-520" dirty="0">
                <a:latin typeface="Tahoma"/>
                <a:cs typeface="Tahoma"/>
              </a:rPr>
              <a:t>c</a:t>
            </a:r>
            <a:r>
              <a:rPr sz="1000" spc="-65" dirty="0">
                <a:latin typeface="Tahoma"/>
                <a:cs typeface="Tahoma"/>
              </a:rPr>
              <a:t>¸</a:t>
            </a:r>
            <a:r>
              <a:rPr sz="1000" spc="-595" dirty="0">
                <a:latin typeface="Tahoma"/>
                <a:cs typeface="Tahoma"/>
              </a:rPr>
              <a:t>˜</a:t>
            </a:r>
            <a:r>
              <a:rPr sz="1000" spc="-50" dirty="0">
                <a:latin typeface="Tahoma"/>
                <a:cs typeface="Tahoma"/>
              </a:rPr>
              <a:t>ao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 </a:t>
            </a:r>
            <a:r>
              <a:rPr sz="1000" spc="-40" dirty="0">
                <a:latin typeface="Tahoma"/>
                <a:cs typeface="Tahoma"/>
              </a:rPr>
              <a:t>exemplo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anterior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</a:t>
            </a:r>
            <a:r>
              <a:rPr lang="pt-BR" sz="1000" spc="-50" dirty="0">
                <a:latin typeface="Tahoma"/>
                <a:cs typeface="Tahoma"/>
              </a:rPr>
              <a:t> seguinte requisito: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306" y="750484"/>
            <a:ext cx="4071620" cy="856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750"/>
              </a:spcBef>
            </a:pPr>
            <a:r>
              <a:rPr sz="900" b="1" i="1" dirty="0">
                <a:solidFill>
                  <a:schemeClr val="tx2"/>
                </a:solidFill>
                <a:latin typeface="Trebuchet MS"/>
                <a:cs typeface="Trebuchet MS"/>
              </a:rPr>
              <a:t>“A </a:t>
            </a:r>
            <a:r>
              <a:rPr sz="900" b="1" i="1" spc="-25" dirty="0">
                <a:solidFill>
                  <a:schemeClr val="tx2"/>
                </a:solidFill>
                <a:latin typeface="Trebuchet MS"/>
                <a:cs typeface="Trebuchet MS"/>
              </a:rPr>
              <a:t>mensagem</a:t>
            </a:r>
            <a:r>
              <a:rPr sz="900" b="1" i="1" spc="20" dirty="0">
                <a:solidFill>
                  <a:schemeClr val="tx2"/>
                </a:solidFill>
                <a:latin typeface="Trebuchet MS"/>
                <a:cs typeface="Trebuchet MS"/>
              </a:rPr>
              <a:t> </a:t>
            </a:r>
            <a:r>
              <a:rPr sz="900" b="1" i="1" spc="-10" dirty="0">
                <a:solidFill>
                  <a:schemeClr val="tx2"/>
                </a:solidFill>
                <a:latin typeface="Trebuchet MS"/>
                <a:cs typeface="Trebuchet MS"/>
              </a:rPr>
              <a:t>de</a:t>
            </a:r>
            <a:r>
              <a:rPr sz="900" b="1" i="1" spc="25" dirty="0">
                <a:solidFill>
                  <a:schemeClr val="tx2"/>
                </a:solidFill>
                <a:latin typeface="Trebuchet MS"/>
                <a:cs typeface="Trebuchet MS"/>
              </a:rPr>
              <a:t> </a:t>
            </a:r>
            <a:r>
              <a:rPr sz="900" b="1" i="1" spc="-65" dirty="0" err="1">
                <a:solidFill>
                  <a:schemeClr val="tx2"/>
                </a:solidFill>
                <a:latin typeface="Trebuchet MS"/>
                <a:cs typeface="Trebuchet MS"/>
              </a:rPr>
              <a:t>diagn</a:t>
            </a:r>
            <a:r>
              <a:rPr lang="pt-BR" sz="900" b="1" i="1" spc="-65" dirty="0">
                <a:solidFill>
                  <a:schemeClr val="tx2"/>
                </a:solidFill>
                <a:latin typeface="Trebuchet MS"/>
                <a:cs typeface="Trebuchet MS"/>
              </a:rPr>
              <a:t>ó</a:t>
            </a:r>
            <a:r>
              <a:rPr sz="900" b="1" i="1" spc="-65" dirty="0" err="1">
                <a:solidFill>
                  <a:schemeClr val="tx2"/>
                </a:solidFill>
                <a:latin typeface="Trebuchet MS"/>
                <a:cs typeface="Trebuchet MS"/>
              </a:rPr>
              <a:t>stico</a:t>
            </a:r>
            <a:r>
              <a:rPr sz="900" b="1" i="1" spc="25" dirty="0">
                <a:solidFill>
                  <a:schemeClr val="tx2"/>
                </a:solidFill>
                <a:latin typeface="Trebuchet MS"/>
                <a:cs typeface="Trebuchet MS"/>
              </a:rPr>
              <a:t> </a:t>
            </a:r>
            <a:r>
              <a:rPr lang="pt-BR" sz="900" b="1" i="1" spc="25" dirty="0">
                <a:solidFill>
                  <a:schemeClr val="tx2"/>
                </a:solidFill>
                <a:latin typeface="Trebuchet MS"/>
                <a:cs typeface="Trebuchet MS"/>
              </a:rPr>
              <a:t>não é</a:t>
            </a:r>
            <a:r>
              <a:rPr sz="900" b="1" i="1" spc="35" dirty="0">
                <a:solidFill>
                  <a:schemeClr val="tx2"/>
                </a:solidFill>
                <a:latin typeface="Trebuchet MS"/>
                <a:cs typeface="Trebuchet MS"/>
              </a:rPr>
              <a:t> </a:t>
            </a:r>
            <a:r>
              <a:rPr sz="900" b="1" i="1" spc="-10" dirty="0">
                <a:solidFill>
                  <a:schemeClr val="tx2"/>
                </a:solidFill>
                <a:latin typeface="Trebuchet MS"/>
                <a:cs typeface="Trebuchet MS"/>
              </a:rPr>
              <a:t>retransmitida.”</a:t>
            </a:r>
            <a:endParaRPr sz="900" b="1" dirty="0">
              <a:solidFill>
                <a:schemeClr val="tx2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00" spc="-25" dirty="0">
                <a:latin typeface="Tahoma"/>
                <a:cs typeface="Tahoma"/>
              </a:rPr>
              <a:t>Neste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caso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es</a:t>
            </a:r>
            <a:r>
              <a:rPr sz="1000" spc="-15" dirty="0">
                <a:latin typeface="Tahoma"/>
                <a:cs typeface="Tahoma"/>
              </a:rPr>
              <a:t>p</a:t>
            </a:r>
            <a:r>
              <a:rPr sz="1000" spc="-40" dirty="0">
                <a:latin typeface="Tahoma"/>
                <a:cs typeface="Tahoma"/>
              </a:rPr>
              <a:t>ecifica</a:t>
            </a:r>
            <a:r>
              <a:rPr sz="1000" spc="-600" dirty="0">
                <a:latin typeface="Tahoma"/>
                <a:cs typeface="Tahoma"/>
              </a:rPr>
              <a:t>¸</a:t>
            </a:r>
            <a:r>
              <a:rPr sz="1000" spc="-55" dirty="0">
                <a:latin typeface="Tahoma"/>
                <a:cs typeface="Tahoma"/>
              </a:rPr>
              <a:t>c</a:t>
            </a:r>
            <a:r>
              <a:rPr sz="1000" spc="-585" dirty="0">
                <a:latin typeface="Tahoma"/>
                <a:cs typeface="Tahoma"/>
              </a:rPr>
              <a:t>˜</a:t>
            </a:r>
            <a:r>
              <a:rPr sz="1000" spc="-4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sistema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continua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consistente?</a:t>
            </a:r>
            <a:endParaRPr sz="10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130"/>
              </a:spcBef>
            </a:pPr>
            <a:r>
              <a:rPr sz="1000" b="1" spc="-55" dirty="0">
                <a:latin typeface="Tahoma"/>
                <a:cs typeface="Tahoma"/>
              </a:rPr>
              <a:t>Solu</a:t>
            </a:r>
            <a:r>
              <a:rPr sz="1000" b="1" spc="-590" dirty="0">
                <a:latin typeface="Tahoma"/>
                <a:cs typeface="Tahoma"/>
              </a:rPr>
              <a:t>c</a:t>
            </a:r>
            <a:r>
              <a:rPr sz="1000" b="1" spc="-75" dirty="0">
                <a:latin typeface="Tahoma"/>
                <a:cs typeface="Tahoma"/>
              </a:rPr>
              <a:t>¸</a:t>
            </a:r>
            <a:r>
              <a:rPr sz="1000" b="1" spc="-605" dirty="0">
                <a:latin typeface="Tahoma"/>
                <a:cs typeface="Tahoma"/>
              </a:rPr>
              <a:t>˜</a:t>
            </a:r>
            <a:r>
              <a:rPr sz="1000" b="1" spc="-55" dirty="0">
                <a:latin typeface="Tahoma"/>
                <a:cs typeface="Tahoma"/>
              </a:rPr>
              <a:t>ao.</a:t>
            </a:r>
            <a:r>
              <a:rPr sz="1000" b="1" spc="10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novo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requisito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representado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logicamente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0206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 </a:t>
            </a:r>
            <a:r>
              <a:rPr sz="1000" spc="-20" dirty="0">
                <a:latin typeface="Tahoma"/>
                <a:cs typeface="Tahoma"/>
              </a:rPr>
              <a:t>tabela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verdade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atualizada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seguinte.</a:t>
            </a:r>
            <a:endParaRPr sz="1000" dirty="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44247"/>
              </p:ext>
            </p:extLst>
          </p:nvPr>
        </p:nvGraphicFramePr>
        <p:xfrm>
          <a:off x="1419898" y="1901850"/>
          <a:ext cx="1971826" cy="813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055"/>
                        </a:lnSpc>
                      </a:pPr>
                      <a:r>
                        <a:rPr sz="1000" b="1" spc="-4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000" b="1" spc="-9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34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∨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4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 </a:t>
                      </a:r>
                      <a:r>
                        <a:rPr sz="1000" b="1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→</a:t>
                      </a:r>
                      <a:r>
                        <a:rPr sz="1000" b="1" spc="-1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i="1" spc="-25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30874" y="2841783"/>
            <a:ext cx="41275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95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Tahoma"/>
                <a:cs typeface="Tahoma"/>
              </a:rPr>
              <a:t>Pode-</a:t>
            </a:r>
            <a:r>
              <a:rPr sz="1000" spc="-35" dirty="0">
                <a:latin typeface="Tahoma"/>
                <a:cs typeface="Tahoma"/>
              </a:rPr>
              <a:t>se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notar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agora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90" dirty="0" err="1">
                <a:latin typeface="Tahoma"/>
                <a:cs typeface="Tahoma"/>
              </a:rPr>
              <a:t>imposs</a:t>
            </a:r>
            <a:r>
              <a:rPr lang="pt-BR" sz="1000" spc="-90" dirty="0">
                <a:latin typeface="Tahoma"/>
                <a:cs typeface="Tahoma"/>
              </a:rPr>
              <a:t>í</a:t>
            </a:r>
            <a:r>
              <a:rPr sz="1000" spc="-90" dirty="0" err="1">
                <a:latin typeface="Tahoma"/>
                <a:cs typeface="Tahoma"/>
              </a:rPr>
              <a:t>ıvel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satisfazer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todos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os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requisitos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mesmo </a:t>
            </a:r>
            <a:r>
              <a:rPr sz="1000" spc="-25" dirty="0">
                <a:latin typeface="Tahoma"/>
                <a:cs typeface="Tahoma"/>
              </a:rPr>
              <a:t>tempo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portanto,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spc="-40" dirty="0">
                <a:solidFill>
                  <a:srgbClr val="FF0000"/>
                </a:solidFill>
                <a:latin typeface="Tahoma"/>
                <a:cs typeface="Tahoma"/>
              </a:rPr>
              <a:t>es</a:t>
            </a:r>
            <a:r>
              <a:rPr sz="1000" b="1" spc="-15" dirty="0">
                <a:solidFill>
                  <a:srgbClr val="FF0000"/>
                </a:solidFill>
                <a:latin typeface="Tahoma"/>
                <a:cs typeface="Tahoma"/>
              </a:rPr>
              <a:t>p</a:t>
            </a:r>
            <a:r>
              <a:rPr sz="1000" b="1" spc="-40" dirty="0">
                <a:solidFill>
                  <a:srgbClr val="FF0000"/>
                </a:solidFill>
                <a:latin typeface="Tahoma"/>
                <a:cs typeface="Tahoma"/>
              </a:rPr>
              <a:t>ecifica</a:t>
            </a:r>
            <a:r>
              <a:rPr sz="1000" b="1" spc="-600" dirty="0">
                <a:solidFill>
                  <a:srgbClr val="FF0000"/>
                </a:solidFill>
                <a:latin typeface="Tahoma"/>
                <a:cs typeface="Tahoma"/>
              </a:rPr>
              <a:t>¸</a:t>
            </a:r>
            <a:r>
              <a:rPr sz="1000" b="1" spc="-55" dirty="0">
                <a:solidFill>
                  <a:srgbClr val="FF0000"/>
                </a:solidFill>
                <a:latin typeface="Tahoma"/>
                <a:cs typeface="Tahoma"/>
              </a:rPr>
              <a:t>c</a:t>
            </a:r>
            <a:r>
              <a:rPr sz="1000" b="1" spc="-585" dirty="0">
                <a:solidFill>
                  <a:srgbClr val="FF0000"/>
                </a:solidFill>
                <a:latin typeface="Tahoma"/>
                <a:cs typeface="Tahoma"/>
              </a:rPr>
              <a:t>˜</a:t>
            </a:r>
            <a:r>
              <a:rPr sz="1000" b="1" spc="-40" dirty="0">
                <a:solidFill>
                  <a:srgbClr val="FF0000"/>
                </a:solidFill>
                <a:latin typeface="Tahoma"/>
                <a:cs typeface="Tahoma"/>
              </a:rPr>
              <a:t>ao</a:t>
            </a:r>
            <a:r>
              <a:rPr sz="1000" b="1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1000" b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b="1" spc="-40" dirty="0">
                <a:solidFill>
                  <a:srgbClr val="FF0000"/>
                </a:solidFill>
                <a:latin typeface="Tahoma"/>
                <a:cs typeface="Tahoma"/>
              </a:rPr>
              <a:t>sistema</a:t>
            </a:r>
            <a:r>
              <a:rPr sz="1000" b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b="1" spc="-595" dirty="0">
                <a:solidFill>
                  <a:srgbClr val="FF0000"/>
                </a:solidFill>
                <a:latin typeface="Tahoma"/>
                <a:cs typeface="Tahoma"/>
              </a:rPr>
              <a:t>´</a:t>
            </a:r>
            <a:r>
              <a:rPr sz="1000" b="1" spc="-65" dirty="0">
                <a:solidFill>
                  <a:srgbClr val="FF0000"/>
                </a:solidFill>
                <a:latin typeface="Tahoma"/>
                <a:cs typeface="Tahoma"/>
              </a:rPr>
              <a:t>e</a:t>
            </a:r>
            <a:r>
              <a:rPr sz="1000" b="1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00" b="1" spc="-10" dirty="0" err="1">
                <a:solidFill>
                  <a:srgbClr val="FF0000"/>
                </a:solidFill>
                <a:latin typeface="Tahoma"/>
                <a:cs typeface="Tahoma"/>
              </a:rPr>
              <a:t>inconsistente</a:t>
            </a:r>
            <a:r>
              <a:rPr sz="1000" spc="-10" dirty="0">
                <a:latin typeface="Tahoma"/>
                <a:cs typeface="Tahoma"/>
              </a:rPr>
              <a:t>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5879" y="1129816"/>
            <a:ext cx="409892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-125" dirty="0">
                <a:solidFill>
                  <a:srgbClr val="006300"/>
                </a:solidFill>
                <a:latin typeface="Tahoma"/>
                <a:cs typeface="Tahoma"/>
              </a:rPr>
              <a:t>Equiva</a:t>
            </a:r>
            <a:r>
              <a:rPr sz="2450" b="1" spc="-180" dirty="0">
                <a:solidFill>
                  <a:srgbClr val="006300"/>
                </a:solidFill>
                <a:latin typeface="Tahoma"/>
                <a:cs typeface="Tahoma"/>
              </a:rPr>
              <a:t>l</a:t>
            </a:r>
            <a:r>
              <a:rPr sz="2450" b="1" spc="-1430" dirty="0">
                <a:solidFill>
                  <a:srgbClr val="006300"/>
                </a:solidFill>
                <a:latin typeface="Tahoma"/>
                <a:cs typeface="Tahoma"/>
              </a:rPr>
              <a:t>ˆ</a:t>
            </a:r>
            <a:r>
              <a:rPr sz="2450" b="1" spc="-125" dirty="0">
                <a:solidFill>
                  <a:srgbClr val="006300"/>
                </a:solidFill>
                <a:latin typeface="Tahoma"/>
                <a:cs typeface="Tahoma"/>
              </a:rPr>
              <a:t>encias</a:t>
            </a:r>
            <a:r>
              <a:rPr sz="2450" b="1" spc="95" dirty="0">
                <a:solidFill>
                  <a:srgbClr val="006300"/>
                </a:solidFill>
                <a:latin typeface="Tahoma"/>
                <a:cs typeface="Tahoma"/>
              </a:rPr>
              <a:t> </a:t>
            </a:r>
            <a:r>
              <a:rPr sz="2450" b="1" spc="-114" dirty="0">
                <a:solidFill>
                  <a:srgbClr val="006300"/>
                </a:solidFill>
                <a:latin typeface="Tahoma"/>
                <a:cs typeface="Tahoma"/>
              </a:rPr>
              <a:t>Proposicionais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49" y="91271"/>
            <a:ext cx="373428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0" dirty="0"/>
              <a:t>Equiva</a:t>
            </a:r>
            <a:r>
              <a:rPr b="1" spc="-85" dirty="0"/>
              <a:t>l</a:t>
            </a:r>
            <a:r>
              <a:rPr b="1" spc="-765" dirty="0"/>
              <a:t>ˆ</a:t>
            </a:r>
            <a:r>
              <a:rPr b="1" spc="-40" dirty="0"/>
              <a:t>encia</a:t>
            </a:r>
            <a:r>
              <a:rPr b="1" spc="-10" dirty="0"/>
              <a:t> </a:t>
            </a:r>
            <a:r>
              <a:rPr b="1" spc="-50" dirty="0"/>
              <a:t>de</a:t>
            </a:r>
            <a:r>
              <a:rPr b="1" spc="-5" dirty="0"/>
              <a:t> </a:t>
            </a:r>
            <a:r>
              <a:rPr b="1" spc="-100" dirty="0"/>
              <a:t>p</a:t>
            </a:r>
            <a:r>
              <a:rPr b="1" spc="-55" dirty="0"/>
              <a:t>ro</a:t>
            </a:r>
            <a:r>
              <a:rPr b="1" spc="-20" dirty="0"/>
              <a:t>p</a:t>
            </a:r>
            <a:r>
              <a:rPr b="1" spc="-55" dirty="0"/>
              <a:t>osi</a:t>
            </a:r>
            <a:r>
              <a:rPr b="1" spc="-830" dirty="0"/>
              <a:t>¸</a:t>
            </a:r>
            <a:r>
              <a:rPr b="1" spc="-55" dirty="0"/>
              <a:t>c</a:t>
            </a:r>
            <a:r>
              <a:rPr b="1" spc="-825" dirty="0"/>
              <a:t>o</a:t>
            </a:r>
            <a:r>
              <a:rPr b="1" spc="-55" dirty="0"/>
              <a:t>˜es:</a:t>
            </a:r>
            <a:r>
              <a:rPr b="1" spc="140" dirty="0"/>
              <a:t> </a:t>
            </a:r>
            <a:r>
              <a:rPr b="1" spc="-35" dirty="0"/>
              <a:t>Intr</a:t>
            </a:r>
            <a:r>
              <a:rPr b="1" dirty="0"/>
              <a:t>o</a:t>
            </a:r>
            <a:r>
              <a:rPr b="1" spc="-35" dirty="0"/>
              <a:t>du</a:t>
            </a:r>
            <a:r>
              <a:rPr b="1" spc="-810" dirty="0"/>
              <a:t>¸</a:t>
            </a:r>
            <a:r>
              <a:rPr b="1" spc="-60" dirty="0"/>
              <a:t>c</a:t>
            </a:r>
            <a:r>
              <a:rPr b="1" spc="-785" dirty="0"/>
              <a:t>˜</a:t>
            </a:r>
            <a:r>
              <a:rPr b="1" spc="-35" dirty="0"/>
              <a:t>ao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877" y="828070"/>
            <a:ext cx="4021454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Um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passo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importante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na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resolu</a:t>
            </a:r>
            <a:r>
              <a:rPr sz="1000" spc="-605" dirty="0">
                <a:latin typeface="Tahoma"/>
                <a:cs typeface="Tahoma"/>
              </a:rPr>
              <a:t>¸</a:t>
            </a:r>
            <a:r>
              <a:rPr sz="1000" spc="-60" dirty="0">
                <a:latin typeface="Tahoma"/>
                <a:cs typeface="Tahoma"/>
              </a:rPr>
              <a:t>c</a:t>
            </a:r>
            <a:r>
              <a:rPr sz="1000" spc="-590" dirty="0">
                <a:latin typeface="Tahoma"/>
                <a:cs typeface="Tahoma"/>
              </a:rPr>
              <a:t>˜</a:t>
            </a:r>
            <a:r>
              <a:rPr sz="1000" spc="-45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muitos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problemas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95" dirty="0">
                <a:latin typeface="Tahoma"/>
                <a:cs typeface="Tahoma"/>
              </a:rPr>
              <a:t>´</a:t>
            </a:r>
            <a:r>
              <a:rPr sz="1000" spc="-65" dirty="0">
                <a:latin typeface="Tahoma"/>
                <a:cs typeface="Tahoma"/>
              </a:rPr>
              <a:t>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</a:t>
            </a:r>
            <a:r>
              <a:rPr sz="1000" spc="-35" dirty="0">
                <a:latin typeface="Tahoma"/>
                <a:cs typeface="Tahoma"/>
              </a:rPr>
              <a:t>substitui</a:t>
            </a:r>
            <a:r>
              <a:rPr sz="1000" spc="-595" dirty="0">
                <a:latin typeface="Tahoma"/>
                <a:cs typeface="Tahoma"/>
              </a:rPr>
              <a:t>¸</a:t>
            </a:r>
            <a:r>
              <a:rPr sz="1000" spc="-50" dirty="0">
                <a:latin typeface="Tahoma"/>
                <a:cs typeface="Tahoma"/>
              </a:rPr>
              <a:t>c</a:t>
            </a:r>
            <a:r>
              <a:rPr sz="1000" spc="-580" dirty="0">
                <a:latin typeface="Tahoma"/>
                <a:cs typeface="Tahoma"/>
              </a:rPr>
              <a:t>˜</a:t>
            </a:r>
            <a:r>
              <a:rPr sz="1000" spc="-35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de </a:t>
            </a:r>
            <a:r>
              <a:rPr sz="1000" spc="-40" dirty="0">
                <a:latin typeface="Tahoma"/>
                <a:cs typeface="Tahoma"/>
              </a:rPr>
              <a:t>uma </a:t>
            </a:r>
            <a:r>
              <a:rPr sz="1000" spc="-35" dirty="0">
                <a:latin typeface="Tahoma"/>
                <a:cs typeface="Tahoma"/>
              </a:rPr>
              <a:t>afirma</a:t>
            </a:r>
            <a:r>
              <a:rPr sz="1000" spc="-595" dirty="0">
                <a:latin typeface="Tahoma"/>
                <a:cs typeface="Tahoma"/>
              </a:rPr>
              <a:t>¸</a:t>
            </a:r>
            <a:r>
              <a:rPr sz="1000" spc="-50" dirty="0">
                <a:latin typeface="Tahoma"/>
                <a:cs typeface="Tahoma"/>
              </a:rPr>
              <a:t>c</a:t>
            </a:r>
            <a:r>
              <a:rPr sz="1000" spc="-580" dirty="0">
                <a:latin typeface="Tahoma"/>
                <a:cs typeface="Tahoma"/>
              </a:rPr>
              <a:t>˜</a:t>
            </a:r>
            <a:r>
              <a:rPr sz="1000" spc="-35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por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outra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mesmo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valor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verdade.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877" y="1461988"/>
            <a:ext cx="399605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Como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determinar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duas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</a:t>
            </a:r>
            <a:r>
              <a:rPr sz="1000" spc="-600" dirty="0">
                <a:latin typeface="Tahoma"/>
                <a:cs typeface="Tahoma"/>
              </a:rPr>
              <a:t>´</a:t>
            </a:r>
            <a:r>
              <a:rPr sz="1000" spc="-40" dirty="0">
                <a:latin typeface="Tahoma"/>
                <a:cs typeface="Tahoma"/>
              </a:rPr>
              <a:t>ormul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-40" dirty="0">
                <a:latin typeface="Tahoma"/>
                <a:cs typeface="Tahoma"/>
              </a:rPr>
              <a:t>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tem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spc="-65" dirty="0">
                <a:solidFill>
                  <a:srgbClr val="002060"/>
                </a:solidFill>
                <a:latin typeface="Tahoma"/>
                <a:cs typeface="Tahoma"/>
              </a:rPr>
              <a:t>sempre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mesmo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valor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verdade?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877" y="2138354"/>
            <a:ext cx="3978910" cy="439223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314960">
              <a:lnSpc>
                <a:spcPts val="1100"/>
              </a:lnSpc>
              <a:spcBef>
                <a:spcPts val="215"/>
              </a:spcBef>
            </a:pPr>
            <a:r>
              <a:rPr sz="1000" spc="-20" dirty="0">
                <a:latin typeface="Tahoma"/>
                <a:cs typeface="Tahoma"/>
              </a:rPr>
              <a:t>Duas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</a:t>
            </a:r>
            <a:r>
              <a:rPr sz="1000" spc="-600" dirty="0">
                <a:latin typeface="Tahoma"/>
                <a:cs typeface="Tahoma"/>
              </a:rPr>
              <a:t>´</a:t>
            </a:r>
            <a:r>
              <a:rPr sz="1000" spc="-40" dirty="0">
                <a:latin typeface="Tahoma"/>
                <a:cs typeface="Tahoma"/>
              </a:rPr>
              <a:t>ormulas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s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6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equivalentes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quando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elas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t</a:t>
            </a:r>
            <a:r>
              <a:rPr sz="1000" spc="-565" dirty="0">
                <a:latin typeface="Tahoma"/>
                <a:cs typeface="Tahoma"/>
              </a:rPr>
              <a:t>ˆ</a:t>
            </a:r>
            <a:r>
              <a:rPr sz="1000" spc="-35" dirty="0">
                <a:latin typeface="Tahoma"/>
                <a:cs typeface="Tahoma"/>
              </a:rPr>
              <a:t>em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 </a:t>
            </a:r>
            <a:r>
              <a:rPr sz="1000" spc="-55" dirty="0">
                <a:latin typeface="Tahoma"/>
                <a:cs typeface="Tahoma"/>
              </a:rPr>
              <a:t>mesmo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valor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para </a:t>
            </a:r>
            <a:r>
              <a:rPr sz="1000" spc="-35" dirty="0">
                <a:latin typeface="Tahoma"/>
                <a:cs typeface="Tahoma"/>
              </a:rPr>
              <a:t>qualquer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atribui</a:t>
            </a:r>
            <a:r>
              <a:rPr sz="1000" spc="-590" dirty="0">
                <a:latin typeface="Tahoma"/>
                <a:cs typeface="Tahoma"/>
              </a:rPr>
              <a:t>¸</a:t>
            </a:r>
            <a:r>
              <a:rPr sz="1000" spc="-45" dirty="0">
                <a:latin typeface="Tahoma"/>
                <a:cs typeface="Tahoma"/>
              </a:rPr>
              <a:t>c</a:t>
            </a:r>
            <a:r>
              <a:rPr sz="1000" spc="-575" dirty="0">
                <a:latin typeface="Tahoma"/>
                <a:cs typeface="Tahoma"/>
              </a:rPr>
              <a:t>˜</a:t>
            </a:r>
            <a:r>
              <a:rPr sz="1000" spc="-3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suas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40" dirty="0" err="1">
                <a:latin typeface="Tahoma"/>
                <a:cs typeface="Tahoma"/>
              </a:rPr>
              <a:t>v</a:t>
            </a:r>
            <a:r>
              <a:rPr sz="1000" spc="5" dirty="0" err="1">
                <a:latin typeface="Tahoma"/>
                <a:cs typeface="Tahoma"/>
              </a:rPr>
              <a:t>a</a:t>
            </a:r>
            <a:r>
              <a:rPr sz="1000" spc="40" dirty="0" err="1">
                <a:latin typeface="Tahoma"/>
                <a:cs typeface="Tahoma"/>
              </a:rPr>
              <a:t>r</a:t>
            </a:r>
            <a:r>
              <a:rPr sz="1000" spc="25" dirty="0" err="1">
                <a:latin typeface="Tahoma"/>
                <a:cs typeface="Tahoma"/>
              </a:rPr>
              <a:t>i</a:t>
            </a:r>
            <a:r>
              <a:rPr sz="1000" spc="-505" dirty="0" err="1">
                <a:latin typeface="Tahoma"/>
                <a:cs typeface="Tahoma"/>
              </a:rPr>
              <a:t>´</a:t>
            </a:r>
            <a:r>
              <a:rPr sz="1000" spc="40" dirty="0" err="1">
                <a:latin typeface="Tahoma"/>
                <a:cs typeface="Tahoma"/>
              </a:rPr>
              <a:t>aveis</a:t>
            </a:r>
            <a:r>
              <a:rPr lang="pt-BR" sz="1000" spc="40" dirty="0">
                <a:latin typeface="Tahoma"/>
                <a:cs typeface="Tahoma"/>
              </a:rPr>
              <a:t> (o</a:t>
            </a:r>
            <a:r>
              <a:rPr sz="900" dirty="0">
                <a:latin typeface="Tahoma"/>
                <a:cs typeface="Tahoma"/>
              </a:rPr>
              <a:t>u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seja,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para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quaisquer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valores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que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70" dirty="0">
                <a:latin typeface="Tahoma"/>
                <a:cs typeface="Tahoma"/>
              </a:rPr>
              <a:t>p</a:t>
            </a:r>
            <a:r>
              <a:rPr sz="900" spc="-40" dirty="0">
                <a:latin typeface="Tahoma"/>
                <a:cs typeface="Tahoma"/>
              </a:rPr>
              <a:t>ro</a:t>
            </a:r>
            <a:r>
              <a:rPr sz="900" spc="-15" dirty="0">
                <a:latin typeface="Tahoma"/>
                <a:cs typeface="Tahoma"/>
              </a:rPr>
              <a:t>p</a:t>
            </a:r>
            <a:r>
              <a:rPr sz="900" spc="-40" dirty="0">
                <a:latin typeface="Tahoma"/>
                <a:cs typeface="Tahoma"/>
              </a:rPr>
              <a:t>osi</a:t>
            </a:r>
            <a:r>
              <a:rPr sz="900" spc="-455" dirty="0">
                <a:latin typeface="Tahoma"/>
                <a:cs typeface="Tahoma"/>
              </a:rPr>
              <a:t>c</a:t>
            </a:r>
            <a:r>
              <a:rPr sz="900" spc="-40" dirty="0">
                <a:latin typeface="Tahoma"/>
                <a:cs typeface="Tahoma"/>
              </a:rPr>
              <a:t>¸</a:t>
            </a:r>
            <a:r>
              <a:rPr sz="900" spc="-530" dirty="0">
                <a:latin typeface="Tahoma"/>
                <a:cs typeface="Tahoma"/>
              </a:rPr>
              <a:t>˜</a:t>
            </a:r>
            <a:r>
              <a:rPr sz="900" spc="-40" dirty="0" err="1">
                <a:latin typeface="Tahoma"/>
                <a:cs typeface="Tahoma"/>
              </a:rPr>
              <a:t>oes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20" dirty="0" err="1">
                <a:latin typeface="Tahoma"/>
                <a:cs typeface="Tahoma"/>
              </a:rPr>
              <a:t>possam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 err="1">
                <a:latin typeface="Tahoma"/>
                <a:cs typeface="Tahoma"/>
              </a:rPr>
              <a:t>tomar</a:t>
            </a:r>
            <a:r>
              <a:rPr lang="pt-BR" sz="900" spc="-10" dirty="0">
                <a:latin typeface="Tahoma"/>
                <a:cs typeface="Tahoma"/>
              </a:rPr>
              <a:t>).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98412"/>
                </a:lnTo>
                <a:lnTo>
                  <a:pt x="2303996" y="98412"/>
                </a:lnTo>
                <a:lnTo>
                  <a:pt x="4607992" y="98412"/>
                </a:lnTo>
                <a:lnTo>
                  <a:pt x="4607992" y="0"/>
                </a:lnTo>
                <a:close/>
              </a:path>
            </a:pathLst>
          </a:custGeom>
          <a:solidFill>
            <a:srgbClr val="99C1A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1737" y="83839"/>
            <a:ext cx="196771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5" dirty="0"/>
              <a:t>Equiva</a:t>
            </a:r>
            <a:r>
              <a:rPr b="1" spc="-90" dirty="0"/>
              <a:t>l</a:t>
            </a:r>
            <a:r>
              <a:rPr b="1" spc="-770" dirty="0"/>
              <a:t>ˆ</a:t>
            </a:r>
            <a:r>
              <a:rPr b="1" spc="-45" dirty="0"/>
              <a:t>encias</a:t>
            </a:r>
            <a:r>
              <a:rPr b="1" spc="110" dirty="0"/>
              <a:t> </a:t>
            </a:r>
            <a:r>
              <a:rPr b="1" spc="-30" dirty="0"/>
              <a:t>l</a:t>
            </a:r>
            <a:r>
              <a:rPr b="1" spc="-800" dirty="0"/>
              <a:t>o</a:t>
            </a:r>
            <a:r>
              <a:rPr b="1" spc="-40" dirty="0"/>
              <a:t>´</a:t>
            </a:r>
            <a:r>
              <a:rPr b="1" spc="-30" dirty="0"/>
              <a:t>gicas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95250" y="405554"/>
                <a:ext cx="4399165" cy="78162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spc="-20" dirty="0">
                    <a:latin typeface="Tahoma"/>
                    <a:cs typeface="Tahoma"/>
                  </a:rPr>
                  <a:t>Duas</a:t>
                </a:r>
                <a:r>
                  <a:rPr sz="1000" spc="-60" dirty="0">
                    <a:latin typeface="Tahoma"/>
                    <a:cs typeface="Tahoma"/>
                  </a:rPr>
                  <a:t> </a:t>
                </a:r>
                <a:r>
                  <a:rPr sz="1000" spc="-40" dirty="0">
                    <a:latin typeface="Tahoma"/>
                    <a:cs typeface="Tahoma"/>
                  </a:rPr>
                  <a:t>f</a:t>
                </a:r>
                <a:r>
                  <a:rPr sz="1000" spc="-600" dirty="0">
                    <a:latin typeface="Tahoma"/>
                    <a:cs typeface="Tahoma"/>
                  </a:rPr>
                  <a:t>´</a:t>
                </a:r>
                <a:r>
                  <a:rPr sz="1000" spc="-40" dirty="0">
                    <a:latin typeface="Tahoma"/>
                    <a:cs typeface="Tahoma"/>
                  </a:rPr>
                  <a:t>ormulas</a:t>
                </a:r>
                <a:r>
                  <a:rPr sz="1000" spc="20" dirty="0">
                    <a:latin typeface="Tahoma"/>
                    <a:cs typeface="Tahoma"/>
                  </a:rPr>
                  <a:t> </a:t>
                </a:r>
                <a:r>
                  <a:rPr sz="1000" b="1" i="1" spc="95" dirty="0">
                    <a:solidFill>
                      <a:srgbClr val="002060"/>
                    </a:solidFill>
                    <a:latin typeface="Arial"/>
                    <a:cs typeface="Arial"/>
                  </a:rPr>
                  <a:t>ϕ</a:t>
                </a:r>
                <a:r>
                  <a:rPr sz="1000" i="1" spc="10" dirty="0">
                    <a:latin typeface="Arial"/>
                    <a:cs typeface="Arial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e 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ψ</a:t>
                </a:r>
                <a:r>
                  <a:rPr sz="1000" i="1" spc="65" dirty="0">
                    <a:latin typeface="Arial"/>
                    <a:cs typeface="Arial"/>
                  </a:rPr>
                  <a:t> </a:t>
                </a:r>
                <a:r>
                  <a:rPr sz="1000" spc="-75" dirty="0">
                    <a:latin typeface="Tahoma"/>
                    <a:cs typeface="Tahoma"/>
                  </a:rPr>
                  <a:t>s</a:t>
                </a:r>
                <a:r>
                  <a:rPr sz="1000" spc="-605" dirty="0">
                    <a:latin typeface="Tahoma"/>
                    <a:cs typeface="Tahoma"/>
                  </a:rPr>
                  <a:t>˜</a:t>
                </a:r>
                <a:r>
                  <a:rPr sz="1000" spc="-60" dirty="0">
                    <a:latin typeface="Tahoma"/>
                    <a:cs typeface="Tahoma"/>
                  </a:rPr>
                  <a:t>ao</a:t>
                </a:r>
                <a:r>
                  <a:rPr sz="1000" spc="20" dirty="0">
                    <a:latin typeface="Tahoma"/>
                    <a:cs typeface="Tahoma"/>
                  </a:rPr>
                  <a:t> </a:t>
                </a:r>
                <a:r>
                  <a:rPr sz="1000" b="1" spc="-65" dirty="0">
                    <a:latin typeface="Tahoma"/>
                    <a:cs typeface="Tahoma"/>
                  </a:rPr>
                  <a:t>logicamente</a:t>
                </a:r>
                <a:r>
                  <a:rPr sz="1000" b="1" spc="45" dirty="0">
                    <a:latin typeface="Tahoma"/>
                    <a:cs typeface="Tahoma"/>
                  </a:rPr>
                  <a:t> </a:t>
                </a:r>
                <a:r>
                  <a:rPr sz="1000" b="1" spc="-75" dirty="0">
                    <a:latin typeface="Tahoma"/>
                    <a:cs typeface="Tahoma"/>
                  </a:rPr>
                  <a:t>equivalentes</a:t>
                </a:r>
                <a:r>
                  <a:rPr sz="1000" b="1" spc="15" dirty="0">
                    <a:latin typeface="Tahoma"/>
                    <a:cs typeface="Tahoma"/>
                  </a:rPr>
                  <a:t> </a:t>
                </a:r>
                <a:r>
                  <a:rPr sz="1000" spc="-65" dirty="0">
                    <a:latin typeface="Tahoma"/>
                    <a:cs typeface="Tahoma"/>
                  </a:rPr>
                  <a:t>se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b="1" i="1" spc="95" dirty="0">
                    <a:solidFill>
                      <a:schemeClr val="tx2"/>
                    </a:solidFill>
                    <a:latin typeface="Arial"/>
                    <a:cs typeface="Arial"/>
                  </a:rPr>
                  <a:t>ϕ</a:t>
                </a:r>
                <a:r>
                  <a:rPr sz="1000" b="1" i="1" spc="-20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:r>
                  <a:rPr sz="1000" b="1" dirty="0">
                    <a:solidFill>
                      <a:schemeClr val="tx2"/>
                    </a:solidFill>
                    <a:latin typeface="Yu Gothic UI Semilight"/>
                    <a:cs typeface="Yu Gothic UI Semilight"/>
                  </a:rPr>
                  <a:t>↔</a:t>
                </a:r>
                <a:r>
                  <a:rPr sz="1000" b="1" spc="-20" dirty="0">
                    <a:solidFill>
                      <a:schemeClr val="tx2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chemeClr val="tx2"/>
                    </a:solidFill>
                    <a:latin typeface="Arial"/>
                    <a:cs typeface="Arial"/>
                  </a:rPr>
                  <a:t>ψ</a:t>
                </a:r>
                <a:r>
                  <a:rPr sz="1000" b="1" i="1" spc="35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:r>
                  <a:rPr sz="1000" spc="-595" dirty="0">
                    <a:latin typeface="Tahoma"/>
                    <a:cs typeface="Tahoma"/>
                  </a:rPr>
                  <a:t>´</a:t>
                </a:r>
                <a:r>
                  <a:rPr sz="1000" spc="-65" dirty="0">
                    <a:latin typeface="Tahoma"/>
                    <a:cs typeface="Tahoma"/>
                  </a:rPr>
                  <a:t>e</a:t>
                </a:r>
                <a:r>
                  <a:rPr sz="1000" spc="15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uma </a:t>
                </a:r>
                <a:r>
                  <a:rPr sz="1000" spc="-10" dirty="0">
                    <a:latin typeface="Tahoma"/>
                    <a:cs typeface="Tahoma"/>
                  </a:rPr>
                  <a:t>tautologia.</a:t>
                </a:r>
                <a:endParaRPr sz="1000" dirty="0">
                  <a:latin typeface="Tahoma"/>
                  <a:cs typeface="Tahoma"/>
                </a:endParaRPr>
              </a:p>
              <a:p>
                <a:pPr marL="12700" marR="163195">
                  <a:lnSpc>
                    <a:spcPts val="1810"/>
                  </a:lnSpc>
                  <a:spcBef>
                    <a:spcPts val="45"/>
                  </a:spcBef>
                </a:pPr>
                <a:r>
                  <a:rPr sz="1000" spc="60" dirty="0">
                    <a:latin typeface="Tahoma"/>
                    <a:cs typeface="Tahoma"/>
                  </a:rPr>
                  <a:t>A</a:t>
                </a:r>
                <a:r>
                  <a:rPr sz="1000" spc="-80" dirty="0">
                    <a:latin typeface="Tahoma"/>
                    <a:cs typeface="Tahoma"/>
                  </a:rPr>
                  <a:t> </a:t>
                </a:r>
                <a:r>
                  <a:rPr sz="1000" spc="-35" dirty="0">
                    <a:latin typeface="Tahoma"/>
                    <a:cs typeface="Tahoma"/>
                  </a:rPr>
                  <a:t>nota</a:t>
                </a:r>
                <a:r>
                  <a:rPr sz="1000" spc="-595" dirty="0">
                    <a:latin typeface="Tahoma"/>
                    <a:cs typeface="Tahoma"/>
                  </a:rPr>
                  <a:t>¸</a:t>
                </a:r>
                <a:r>
                  <a:rPr sz="1000" spc="-50" dirty="0">
                    <a:latin typeface="Tahoma"/>
                    <a:cs typeface="Tahoma"/>
                  </a:rPr>
                  <a:t>c</a:t>
                </a:r>
                <a:r>
                  <a:rPr sz="1000" spc="-580" dirty="0">
                    <a:latin typeface="Tahoma"/>
                    <a:cs typeface="Tahoma"/>
                  </a:rPr>
                  <a:t>˜</a:t>
                </a:r>
                <a:r>
                  <a:rPr sz="1000" spc="-35" dirty="0">
                    <a:latin typeface="Tahoma"/>
                    <a:cs typeface="Tahoma"/>
                  </a:rPr>
                  <a:t>ao</a:t>
                </a:r>
                <a:r>
                  <a:rPr sz="1000" spc="15" dirty="0">
                    <a:latin typeface="Tahoma"/>
                    <a:cs typeface="Tahoma"/>
                  </a:rPr>
                  <a:t> </a:t>
                </a:r>
                <a:r>
                  <a:rPr sz="1000" b="1" i="1" spc="95" dirty="0">
                    <a:solidFill>
                      <a:schemeClr val="tx2"/>
                    </a:solidFill>
                    <a:latin typeface="Arial"/>
                    <a:cs typeface="Arial"/>
                  </a:rPr>
                  <a:t>ϕ</a:t>
                </a:r>
                <a:r>
                  <a:rPr sz="1000" b="1" i="1" spc="-25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:r>
                  <a:rPr lang="ar-AE" sz="1000" b="1" i="1" spc="-30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vertJc m:val="top"/>
                        <m:ctrlPr>
                          <a:rPr lang="ar-AE" sz="1000" b="1" i="1" spc="-3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groupChrPr>
                      <m:e/>
                    </m:groupChr>
                  </m:oMath>
                </a14:m>
                <a:r>
                  <a:rPr sz="1000" b="1" dirty="0">
                    <a:solidFill>
                      <a:schemeClr val="tx2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chemeClr val="tx2"/>
                    </a:solidFill>
                    <a:latin typeface="Arial"/>
                    <a:cs typeface="Arial"/>
                  </a:rPr>
                  <a:t>ψ</a:t>
                </a:r>
                <a:r>
                  <a:rPr sz="1000" b="1" i="1" spc="60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:r>
                  <a:rPr sz="1000" spc="-35" dirty="0">
                    <a:latin typeface="Tahoma"/>
                    <a:cs typeface="Tahoma"/>
                  </a:rPr>
                  <a:t>denota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45" dirty="0">
                    <a:latin typeface="Tahoma"/>
                    <a:cs typeface="Tahoma"/>
                  </a:rPr>
                  <a:t>que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b="1" i="1" spc="95" dirty="0">
                    <a:solidFill>
                      <a:schemeClr val="tx2"/>
                    </a:solidFill>
                    <a:latin typeface="Arial"/>
                    <a:cs typeface="Arial"/>
                  </a:rPr>
                  <a:t>ϕ</a:t>
                </a:r>
                <a:r>
                  <a:rPr sz="1000" i="1" spc="25" dirty="0">
                    <a:latin typeface="Arial"/>
                    <a:cs typeface="Arial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e</a:t>
                </a:r>
                <a:r>
                  <a:rPr sz="1000" spc="-5" dirty="0">
                    <a:latin typeface="Tahoma"/>
                    <a:cs typeface="Tahoma"/>
                  </a:rPr>
                  <a:t> </a:t>
                </a:r>
                <a:r>
                  <a:rPr sz="1000" b="1" i="1" dirty="0">
                    <a:solidFill>
                      <a:schemeClr val="tx2"/>
                    </a:solidFill>
                    <a:latin typeface="Arial"/>
                    <a:cs typeface="Arial"/>
                  </a:rPr>
                  <a:t>ψ</a:t>
                </a:r>
                <a:r>
                  <a:rPr sz="1000" i="1" spc="60" dirty="0">
                    <a:latin typeface="Arial"/>
                    <a:cs typeface="Arial"/>
                  </a:rPr>
                  <a:t> </a:t>
                </a:r>
                <a:r>
                  <a:rPr sz="1000" spc="-75" dirty="0">
                    <a:latin typeface="Tahoma"/>
                    <a:cs typeface="Tahoma"/>
                  </a:rPr>
                  <a:t>s</a:t>
                </a:r>
                <a:r>
                  <a:rPr sz="1000" spc="-605" dirty="0">
                    <a:latin typeface="Tahoma"/>
                    <a:cs typeface="Tahoma"/>
                  </a:rPr>
                  <a:t>˜</a:t>
                </a:r>
                <a:r>
                  <a:rPr sz="1000" spc="-60" dirty="0">
                    <a:latin typeface="Tahoma"/>
                    <a:cs typeface="Tahoma"/>
                  </a:rPr>
                  <a:t>ao</a:t>
                </a:r>
                <a:r>
                  <a:rPr sz="1000" spc="15" dirty="0">
                    <a:latin typeface="Tahoma"/>
                    <a:cs typeface="Tahoma"/>
                  </a:rPr>
                  <a:t> </a:t>
                </a:r>
                <a:r>
                  <a:rPr sz="1000" spc="-35" dirty="0">
                    <a:latin typeface="Tahoma"/>
                    <a:cs typeface="Tahoma"/>
                  </a:rPr>
                  <a:t>logicamente</a:t>
                </a:r>
                <a:r>
                  <a:rPr sz="1000" spc="-5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equivalentes. </a:t>
                </a:r>
                <a:r>
                  <a:rPr sz="1000" dirty="0">
                    <a:latin typeface="Tahoma"/>
                    <a:cs typeface="Tahoma"/>
                  </a:rPr>
                  <a:t>Uma</a:t>
                </a:r>
                <a:r>
                  <a:rPr sz="1000" spc="-75" dirty="0">
                    <a:latin typeface="Tahoma"/>
                    <a:cs typeface="Tahoma"/>
                  </a:rPr>
                  <a:t> </a:t>
                </a:r>
                <a:r>
                  <a:rPr sz="1000" spc="-35" dirty="0">
                    <a:latin typeface="Tahoma"/>
                    <a:cs typeface="Tahoma"/>
                  </a:rPr>
                  <a:t>maneira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45" dirty="0">
                    <a:latin typeface="Tahoma"/>
                    <a:cs typeface="Tahoma"/>
                  </a:rPr>
                  <a:t>de</a:t>
                </a:r>
                <a:r>
                  <a:rPr sz="1000" spc="-15" dirty="0">
                    <a:latin typeface="Tahoma"/>
                    <a:cs typeface="Tahoma"/>
                  </a:rPr>
                  <a:t> </a:t>
                </a:r>
                <a:r>
                  <a:rPr sz="1000" spc="-40" dirty="0">
                    <a:latin typeface="Tahoma"/>
                    <a:cs typeface="Tahoma"/>
                  </a:rPr>
                  <a:t>determinar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65" dirty="0">
                    <a:latin typeface="Tahoma"/>
                    <a:cs typeface="Tahoma"/>
                  </a:rPr>
                  <a:t>se</a:t>
                </a:r>
                <a:r>
                  <a:rPr sz="1000" spc="-15" dirty="0">
                    <a:latin typeface="Tahoma"/>
                    <a:cs typeface="Tahoma"/>
                  </a:rPr>
                  <a:t> </a:t>
                </a:r>
                <a:r>
                  <a:rPr sz="1000" b="1" i="1" spc="95" dirty="0">
                    <a:solidFill>
                      <a:schemeClr val="tx2"/>
                    </a:solidFill>
                    <a:latin typeface="Arial"/>
                    <a:cs typeface="Arial"/>
                  </a:rPr>
                  <a:t>ϕ</a:t>
                </a:r>
                <a:r>
                  <a:rPr sz="1000" b="1" i="1" spc="-30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vertJc m:val="top"/>
                        <m:ctrlPr>
                          <a:rPr lang="pt-BR" sz="1000" b="1" i="1" spc="-3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groupChrPr>
                      <m:e/>
                    </m:groupChr>
                  </m:oMath>
                </a14:m>
                <a:r>
                  <a:rPr sz="1000" b="1" i="1" dirty="0">
                    <a:solidFill>
                      <a:schemeClr val="tx2"/>
                    </a:solidFill>
                    <a:latin typeface="Arial"/>
                    <a:cs typeface="Arial"/>
                  </a:rPr>
                  <a:t>ψ</a:t>
                </a:r>
                <a:r>
                  <a:rPr sz="1000" b="1" i="1" spc="30" dirty="0">
                    <a:solidFill>
                      <a:schemeClr val="tx2"/>
                    </a:solidFill>
                    <a:latin typeface="Arial"/>
                    <a:cs typeface="Arial"/>
                  </a:rPr>
                  <a:t> </a:t>
                </a:r>
                <a:r>
                  <a:rPr sz="1000" spc="-595" dirty="0">
                    <a:latin typeface="Tahoma"/>
                    <a:cs typeface="Tahoma"/>
                  </a:rPr>
                  <a:t>´</a:t>
                </a:r>
                <a:r>
                  <a:rPr sz="1000" spc="-65" dirty="0">
                    <a:latin typeface="Tahoma"/>
                    <a:cs typeface="Tahoma"/>
                  </a:rPr>
                  <a:t>e</a:t>
                </a:r>
                <a:r>
                  <a:rPr sz="1000" spc="15" dirty="0">
                    <a:latin typeface="Tahoma"/>
                    <a:cs typeface="Tahoma"/>
                  </a:rPr>
                  <a:t> </a:t>
                </a:r>
                <a:r>
                  <a:rPr sz="1000" spc="-55" dirty="0">
                    <a:latin typeface="Tahoma"/>
                    <a:cs typeface="Tahoma"/>
                  </a:rPr>
                  <a:t>usando</a:t>
                </a:r>
                <a:r>
                  <a:rPr sz="1000" spc="-15" dirty="0">
                    <a:latin typeface="Tahoma"/>
                    <a:cs typeface="Tahoma"/>
                  </a:rPr>
                  <a:t> </a:t>
                </a:r>
                <a:r>
                  <a:rPr sz="1000" spc="-30" dirty="0">
                    <a:latin typeface="Tahoma"/>
                    <a:cs typeface="Tahoma"/>
                  </a:rPr>
                  <a:t>tabelas</a:t>
                </a:r>
                <a:r>
                  <a:rPr sz="1000" spc="-1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da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35" dirty="0">
                    <a:latin typeface="Tahoma"/>
                    <a:cs typeface="Tahoma"/>
                  </a:rPr>
                  <a:t>verdade.</a:t>
                </a:r>
                <a:endParaRPr sz="100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" y="405554"/>
                <a:ext cx="4399165" cy="781624"/>
              </a:xfrm>
              <a:prstGeom prst="rect">
                <a:avLst/>
              </a:prstGeom>
              <a:blipFill>
                <a:blip r:embed="rId2"/>
                <a:stretch>
                  <a:fillRect l="-1526" t="-4688" b="-195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204585" y="1339735"/>
            <a:ext cx="813789" cy="155171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b="1" spc="-25" dirty="0">
                <a:latin typeface="Tahoma"/>
                <a:cs typeface="Tahoma"/>
              </a:rPr>
              <a:t>Exe</a:t>
            </a:r>
            <a:r>
              <a:rPr lang="pt-BR" sz="1000" b="1" spc="-25" dirty="0" err="1">
                <a:latin typeface="Tahoma"/>
                <a:cs typeface="Tahoma"/>
              </a:rPr>
              <a:t>rcício</a:t>
            </a:r>
            <a:r>
              <a:rPr lang="pt-BR" sz="1000" b="1" spc="-25" dirty="0">
                <a:latin typeface="Tahoma"/>
                <a:cs typeface="Tahoma"/>
              </a:rPr>
              <a:t> 3</a:t>
            </a:r>
            <a:endParaRPr sz="1000" b="1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1143" y="1328856"/>
            <a:ext cx="333437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Mostre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p </a:t>
            </a:r>
            <a:r>
              <a:rPr sz="1000" b="1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→</a:t>
            </a:r>
            <a:r>
              <a:rPr sz="1000" b="1" spc="-2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b="1" i="1" spc="5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7030A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dirty="0">
                <a:solidFill>
                  <a:srgbClr val="7030A0"/>
                </a:solidFill>
                <a:latin typeface="Arial"/>
                <a:cs typeface="Arial"/>
              </a:rPr>
              <a:t>p</a:t>
            </a:r>
            <a:r>
              <a:rPr sz="1000" b="1" i="1" spc="-5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000" b="1" spc="-340" dirty="0">
                <a:solidFill>
                  <a:srgbClr val="7030A0"/>
                </a:solidFill>
                <a:latin typeface="Yu Gothic UI Semilight"/>
                <a:cs typeface="Yu Gothic UI Semilight"/>
              </a:rPr>
              <a:t>∨</a:t>
            </a:r>
            <a:r>
              <a:rPr sz="1000" b="1" spc="-55" dirty="0">
                <a:solidFill>
                  <a:srgbClr val="7030A0"/>
                </a:solidFill>
                <a:latin typeface="Yu Gothic UI Semilight"/>
                <a:cs typeface="Yu Gothic UI Semilight"/>
              </a:rPr>
              <a:t> </a:t>
            </a:r>
            <a:r>
              <a:rPr sz="1000" b="1" i="1" dirty="0">
                <a:solidFill>
                  <a:srgbClr val="7030A0"/>
                </a:solidFill>
                <a:latin typeface="Arial"/>
                <a:cs typeface="Arial"/>
              </a:rPr>
              <a:t>q</a:t>
            </a:r>
            <a:r>
              <a:rPr sz="1000" b="1" i="1" spc="6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000" spc="-75" dirty="0">
                <a:latin typeface="Tahoma"/>
                <a:cs typeface="Tahoma"/>
              </a:rPr>
              <a:t>s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6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logicamente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equivalentes.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877" y="1640997"/>
            <a:ext cx="5130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ahoma"/>
                <a:cs typeface="Tahoma"/>
              </a:rPr>
              <a:t>Solu</a:t>
            </a:r>
            <a:r>
              <a:rPr sz="1000" b="1" spc="-585" dirty="0">
                <a:latin typeface="Tahoma"/>
                <a:cs typeface="Tahoma"/>
              </a:rPr>
              <a:t>c</a:t>
            </a:r>
            <a:r>
              <a:rPr sz="1000" b="1" spc="-70" dirty="0">
                <a:latin typeface="Tahoma"/>
                <a:cs typeface="Tahoma"/>
              </a:rPr>
              <a:t>¸</a:t>
            </a:r>
            <a:r>
              <a:rPr sz="1000" b="1" spc="-600" dirty="0">
                <a:latin typeface="Tahoma"/>
                <a:cs typeface="Tahoma"/>
              </a:rPr>
              <a:t>˜</a:t>
            </a:r>
            <a:r>
              <a:rPr sz="1000" b="1" spc="-50" dirty="0">
                <a:latin typeface="Tahoma"/>
                <a:cs typeface="Tahoma"/>
              </a:rPr>
              <a:t>ao.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01" y="1912548"/>
            <a:ext cx="238427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 err="1">
                <a:latin typeface="Tahoma"/>
                <a:cs typeface="Tahoma"/>
              </a:rPr>
              <a:t>Tabela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 err="1">
                <a:latin typeface="Tahoma"/>
                <a:cs typeface="Tahoma"/>
              </a:rPr>
              <a:t>verdade</a:t>
            </a:r>
            <a:r>
              <a:rPr sz="1000" spc="-30" dirty="0">
                <a:latin typeface="Tahoma"/>
                <a:cs typeface="Tahoma"/>
              </a:rPr>
              <a:t> para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p</a:t>
            </a:r>
            <a:r>
              <a:rPr sz="1000" b="1" i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→</a:t>
            </a:r>
            <a:r>
              <a:rPr sz="1000" b="1" spc="-4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e</a:t>
            </a:r>
            <a:r>
              <a:rPr lang="pt-BR" sz="1000" spc="-50" dirty="0"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p</a:t>
            </a:r>
            <a:r>
              <a:rPr lang="pt-BR" sz="1000" b="1" spc="-34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∨</a:t>
            </a:r>
            <a:r>
              <a:rPr sz="1000" b="1" spc="-5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i="1" spc="-25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spc="-25" dirty="0">
                <a:latin typeface="Tahoma"/>
                <a:cs typeface="Tahoma"/>
              </a:rPr>
              <a:t>:</a:t>
            </a:r>
            <a:endParaRPr sz="1000" dirty="0"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919300"/>
              </p:ext>
            </p:extLst>
          </p:nvPr>
        </p:nvGraphicFramePr>
        <p:xfrm>
          <a:off x="507237" y="2304122"/>
          <a:ext cx="1726563" cy="813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000" b="1" spc="-9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34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∨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4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 </a:t>
                      </a:r>
                      <a:r>
                        <a:rPr sz="1000" b="1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→</a:t>
                      </a:r>
                      <a:r>
                        <a:rPr sz="1000" b="1" spc="-1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2305050" y="2093211"/>
                <a:ext cx="2303145" cy="105772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algn="just">
                  <a:lnSpc>
                    <a:spcPts val="1200"/>
                  </a:lnSpc>
                  <a:spcBef>
                    <a:spcPts val="95"/>
                  </a:spcBef>
                </a:pPr>
                <a:r>
                  <a:rPr sz="1000" spc="-10" dirty="0">
                    <a:latin typeface="Tahoma"/>
                    <a:cs typeface="Tahoma"/>
                  </a:rPr>
                  <a:t>Como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-20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coluna </a:t>
                </a:r>
                <a:r>
                  <a:rPr sz="1000" spc="-45" dirty="0">
                    <a:latin typeface="Tahoma"/>
                    <a:cs typeface="Tahoma"/>
                  </a:rPr>
                  <a:t>correspondente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spc="-50" dirty="0">
                    <a:latin typeface="Tahoma"/>
                    <a:cs typeface="Tahoma"/>
                  </a:rPr>
                  <a:t>a</a:t>
                </a:r>
                <a:endParaRPr sz="1000" dirty="0">
                  <a:latin typeface="Tahoma"/>
                  <a:cs typeface="Tahoma"/>
                </a:endParaRPr>
              </a:p>
              <a:p>
                <a:pPr marL="12700" algn="just">
                  <a:lnSpc>
                    <a:spcPts val="1195"/>
                  </a:lnSpc>
                </a:pP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p</a:t>
                </a:r>
                <a:r>
                  <a:rPr sz="1000" b="1" i="1" spc="-5" dirty="0">
                    <a:solidFill>
                      <a:srgbClr val="002060"/>
                    </a:solidFill>
                    <a:latin typeface="Arial"/>
                    <a:cs typeface="Arial"/>
                  </a:rPr>
                  <a:t> </a:t>
                </a:r>
                <a:r>
                  <a:rPr sz="1000" b="1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→</a:t>
                </a:r>
                <a:r>
                  <a:rPr sz="1000" b="1" spc="-35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q</a:t>
                </a:r>
                <a:r>
                  <a:rPr sz="1000" b="1" i="1" spc="50" dirty="0">
                    <a:solidFill>
                      <a:srgbClr val="002060"/>
                    </a:solidFill>
                    <a:latin typeface="Arial"/>
                    <a:cs typeface="Arial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e</a:t>
                </a:r>
                <a:r>
                  <a:rPr sz="1000" spc="-2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-20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coluna </a:t>
                </a:r>
                <a:r>
                  <a:rPr sz="1000" spc="-45" dirty="0">
                    <a:latin typeface="Tahoma"/>
                    <a:cs typeface="Tahoma"/>
                  </a:rPr>
                  <a:t>correspondente</a:t>
                </a:r>
                <a:r>
                  <a:rPr sz="1000" spc="-25" dirty="0">
                    <a:latin typeface="Tahoma"/>
                    <a:cs typeface="Tahoma"/>
                  </a:rPr>
                  <a:t> </a:t>
                </a:r>
                <a:r>
                  <a:rPr sz="1000" spc="-50" dirty="0">
                    <a:latin typeface="Tahoma"/>
                    <a:cs typeface="Tahoma"/>
                  </a:rPr>
                  <a:t>a</a:t>
                </a:r>
                <a:endParaRPr sz="1000" dirty="0">
                  <a:latin typeface="Tahoma"/>
                  <a:cs typeface="Tahoma"/>
                </a:endParaRPr>
              </a:p>
              <a:p>
                <a:pPr marL="12700" marR="81280" algn="just">
                  <a:lnSpc>
                    <a:spcPts val="1200"/>
                  </a:lnSpc>
                  <a:spcBef>
                    <a:spcPts val="40"/>
                  </a:spcBef>
                </a:pPr>
                <a:r>
                  <a:rPr sz="1000" b="1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i="1" dirty="0">
                    <a:solidFill>
                      <a:srgbClr val="7030A0"/>
                    </a:solidFill>
                    <a:latin typeface="Arial"/>
                    <a:cs typeface="Arial"/>
                  </a:rPr>
                  <a:t>p</a:t>
                </a:r>
                <a:r>
                  <a:rPr sz="1000" b="1" spc="-340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∨</a:t>
                </a:r>
                <a:r>
                  <a:rPr sz="1000" b="1" spc="-55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rgbClr val="7030A0"/>
                    </a:solidFill>
                    <a:latin typeface="Arial"/>
                    <a:cs typeface="Arial"/>
                  </a:rPr>
                  <a:t>q</a:t>
                </a:r>
                <a:r>
                  <a:rPr sz="1000" b="1" i="1" spc="70" dirty="0">
                    <a:solidFill>
                      <a:srgbClr val="7030A0"/>
                    </a:solidFill>
                    <a:latin typeface="Arial"/>
                    <a:cs typeface="Arial"/>
                  </a:rPr>
                  <a:t> </a:t>
                </a:r>
                <a:r>
                  <a:rPr sz="1000" spc="-50" dirty="0">
                    <a:latin typeface="Tahoma"/>
                    <a:cs typeface="Tahoma"/>
                  </a:rPr>
                  <a:t>possuem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65" dirty="0">
                    <a:latin typeface="Tahoma"/>
                    <a:cs typeface="Tahoma"/>
                  </a:rPr>
                  <a:t>sempre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o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55" dirty="0">
                    <a:latin typeface="Tahoma"/>
                    <a:cs typeface="Tahoma"/>
                  </a:rPr>
                  <a:t>mesmo </a:t>
                </a:r>
                <a:r>
                  <a:rPr sz="1000" spc="-25" dirty="0">
                    <a:latin typeface="Tahoma"/>
                    <a:cs typeface="Tahoma"/>
                  </a:rPr>
                  <a:t>valor</a:t>
                </a:r>
                <a:r>
                  <a:rPr sz="1000" spc="-45" dirty="0">
                    <a:latin typeface="Tahoma"/>
                    <a:cs typeface="Tahoma"/>
                  </a:rPr>
                  <a:t> </a:t>
                </a:r>
                <a:r>
                  <a:rPr sz="1000" spc="-10" dirty="0" err="1">
                    <a:latin typeface="Tahoma"/>
                    <a:cs typeface="Tahoma"/>
                  </a:rPr>
                  <a:t>verdade</a:t>
                </a:r>
                <a:r>
                  <a:rPr sz="1000" spc="-10" dirty="0">
                    <a:latin typeface="Tahoma"/>
                    <a:cs typeface="Tahoma"/>
                  </a:rPr>
                  <a:t>,</a:t>
                </a:r>
                <a:r>
                  <a:rPr lang="pt-BR" sz="1000" dirty="0">
                    <a:latin typeface="Tahoma"/>
                    <a:cs typeface="Tahoma"/>
                  </a:rPr>
                  <a:t> </a:t>
                </a:r>
                <a:r>
                  <a:rPr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(</a:t>
                </a:r>
                <a:r>
                  <a:rPr sz="1000" b="1" i="1" dirty="0" err="1">
                    <a:solidFill>
                      <a:srgbClr val="0000FF"/>
                    </a:solidFill>
                    <a:latin typeface="Arial"/>
                    <a:cs typeface="Arial"/>
                  </a:rPr>
                  <a:t>p</a:t>
                </a:r>
                <a:r>
                  <a:rPr sz="1000" b="1" dirty="0" err="1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→</a:t>
                </a:r>
                <a:r>
                  <a:rPr sz="1000" b="1" i="1" dirty="0" err="1">
                    <a:solidFill>
                      <a:srgbClr val="0000FF"/>
                    </a:solidFill>
                    <a:latin typeface="Arial"/>
                    <a:cs typeface="Arial"/>
                  </a:rPr>
                  <a:t>q</a:t>
                </a:r>
                <a:r>
                  <a:rPr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)</a:t>
                </a:r>
                <a:r>
                  <a:rPr sz="1000" b="1" spc="-50" dirty="0">
                    <a:solidFill>
                      <a:srgbClr val="0000FF"/>
                    </a:solidFill>
                    <a:latin typeface="Tahoma"/>
                    <a:cs typeface="Tahoma"/>
                  </a:rPr>
                  <a:t> </a:t>
                </a:r>
                <a:r>
                  <a:rPr sz="1000" b="1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↔</a:t>
                </a:r>
                <a:r>
                  <a:rPr sz="1000" b="1" spc="-1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(</a:t>
                </a:r>
                <a:r>
                  <a:rPr sz="1000" b="1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p</a:t>
                </a:r>
                <a:r>
                  <a:rPr sz="1000" b="1" spc="-340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∨</a:t>
                </a:r>
                <a:r>
                  <a:rPr sz="1000" b="1" spc="-5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q</a:t>
                </a:r>
                <a:r>
                  <a:rPr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)</a:t>
                </a:r>
                <a:r>
                  <a:rPr sz="1000" b="1" spc="-25" dirty="0">
                    <a:solidFill>
                      <a:srgbClr val="0000FF"/>
                    </a:solidFill>
                    <a:latin typeface="Tahoma"/>
                    <a:cs typeface="Tahoma"/>
                  </a:rPr>
                  <a:t> </a:t>
                </a:r>
                <a:r>
                  <a:rPr sz="1000" spc="-595" dirty="0">
                    <a:latin typeface="Tahoma"/>
                    <a:cs typeface="Tahoma"/>
                  </a:rPr>
                  <a:t>´</a:t>
                </a:r>
                <a:r>
                  <a:rPr sz="1000" spc="-65" dirty="0">
                    <a:latin typeface="Tahoma"/>
                    <a:cs typeface="Tahoma"/>
                  </a:rPr>
                  <a:t>e</a:t>
                </a:r>
                <a:r>
                  <a:rPr sz="1000" spc="20" dirty="0">
                    <a:latin typeface="Tahoma"/>
                    <a:cs typeface="Tahoma"/>
                  </a:rPr>
                  <a:t> </a:t>
                </a:r>
                <a:r>
                  <a:rPr sz="1000" spc="-25" dirty="0" err="1">
                    <a:latin typeface="Tahoma"/>
                    <a:cs typeface="Tahoma"/>
                  </a:rPr>
                  <a:t>uma</a:t>
                </a:r>
                <a:r>
                  <a:rPr lang="pt-BR" sz="1000" spc="-25" dirty="0">
                    <a:latin typeface="Tahoma"/>
                    <a:cs typeface="Tahoma"/>
                  </a:rPr>
                  <a:t> tautologia</a:t>
                </a:r>
                <a:endParaRPr sz="1000" dirty="0">
                  <a:latin typeface="Tahoma"/>
                  <a:cs typeface="Tahoma"/>
                </a:endParaRPr>
              </a:p>
              <a:p>
                <a:pPr marL="12700" algn="just">
                  <a:lnSpc>
                    <a:spcPct val="100000"/>
                  </a:lnSpc>
                  <a:spcBef>
                    <a:spcPts val="560"/>
                  </a:spcBef>
                </a:pPr>
                <a:r>
                  <a:rPr sz="1000" spc="-10" dirty="0">
                    <a:latin typeface="Tahoma"/>
                    <a:cs typeface="Tahoma"/>
                  </a:rPr>
                  <a:t>Logo</a:t>
                </a:r>
                <a:r>
                  <a:rPr lang="pt-BR" sz="1000" spc="-10" dirty="0">
                    <a:latin typeface="Tahoma"/>
                    <a:cs typeface="Tahoma"/>
                  </a:rPr>
                  <a:t>:</a:t>
                </a:r>
                <a:r>
                  <a:rPr sz="1000" spc="-65" dirty="0">
                    <a:latin typeface="Tahoma"/>
                    <a:cs typeface="Tahoma"/>
                  </a:rPr>
                  <a:t> </a:t>
                </a:r>
                <a:r>
                  <a:rPr lang="pt-BR" sz="1000" spc="-65" dirty="0">
                    <a:latin typeface="Tahoma"/>
                    <a:cs typeface="Tahoma"/>
                  </a:rPr>
                  <a:t>  </a:t>
                </a:r>
                <a:r>
                  <a:rPr lang="pt-BR"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p</a:t>
                </a:r>
                <a:r>
                  <a:rPr lang="pt-BR" sz="1000" b="1" i="1" spc="5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pt-BR" sz="1000" b="1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→</a:t>
                </a:r>
                <a:r>
                  <a:rPr lang="pt-BR" sz="1000" b="1" spc="-2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lang="pt-BR"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q</a:t>
                </a:r>
                <a:r>
                  <a:rPr lang="pt-BR" sz="1000" b="1" i="1" spc="5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vertJc m:val="top"/>
                        <m:ctrlPr>
                          <a:rPr lang="ar-AE" sz="1000" b="1" i="1" spc="5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pt-BR"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 (</a:t>
                </a:r>
                <a:r>
                  <a:rPr lang="ar-AE" sz="1000" b="1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lang="pt-BR"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p</a:t>
                </a:r>
                <a:r>
                  <a:rPr lang="pt-BR" sz="1000" b="1" i="1" spc="-45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pt-BR" sz="1000" b="1" spc="-340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∨</a:t>
                </a:r>
                <a:r>
                  <a:rPr lang="pt-BR" sz="1000" b="1" spc="-5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lang="pt-BR" sz="1000" b="1" i="1" spc="-25" dirty="0">
                    <a:solidFill>
                      <a:srgbClr val="0000FF"/>
                    </a:solidFill>
                    <a:latin typeface="Arial"/>
                    <a:cs typeface="Arial"/>
                  </a:rPr>
                  <a:t>q</a:t>
                </a:r>
                <a:r>
                  <a:rPr lang="pt-BR" sz="1000" b="1" spc="-25" dirty="0">
                    <a:solidFill>
                      <a:srgbClr val="0000FF"/>
                    </a:solidFill>
                    <a:latin typeface="Tahoma"/>
                    <a:cs typeface="Tahoma"/>
                  </a:rPr>
                  <a:t>).</a:t>
                </a:r>
                <a:endParaRPr sz="1000" b="1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050" y="2093211"/>
                <a:ext cx="2303145" cy="1057725"/>
              </a:xfrm>
              <a:prstGeom prst="rect">
                <a:avLst/>
              </a:prstGeom>
              <a:blipFill>
                <a:blip r:embed="rId3"/>
                <a:stretch>
                  <a:fillRect l="-2910" t="-2299" b="-143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98412"/>
                </a:lnTo>
                <a:lnTo>
                  <a:pt x="2303996" y="98412"/>
                </a:lnTo>
                <a:lnTo>
                  <a:pt x="4607992" y="98412"/>
                </a:lnTo>
                <a:lnTo>
                  <a:pt x="4607992" y="0"/>
                </a:lnTo>
                <a:close/>
              </a:path>
            </a:pathLst>
          </a:custGeom>
          <a:solidFill>
            <a:srgbClr val="99C1AD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7507CB4-3173-99E3-7C32-9F758FFD510F}"/>
                  </a:ext>
                </a:extLst>
              </p14:cNvPr>
              <p14:cNvContentPartPr/>
              <p14:nvPr/>
            </p14:nvContentPartPr>
            <p14:xfrm>
              <a:off x="1726200" y="1505160"/>
              <a:ext cx="906120" cy="27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7507CB4-3173-99E3-7C32-9F758FFD51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6840" y="1495800"/>
                <a:ext cx="924840" cy="4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 animBg="1"/>
      <p:bldP spid="8" grpId="0"/>
      <p:bldP spid="9" grpId="0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35489" y="62283"/>
            <a:ext cx="227122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45" dirty="0"/>
              <a:t>Equiva</a:t>
            </a:r>
            <a:r>
              <a:rPr b="1" spc="-90" dirty="0"/>
              <a:t>l</a:t>
            </a:r>
            <a:r>
              <a:rPr b="1" spc="-770" dirty="0"/>
              <a:t>ˆ</a:t>
            </a:r>
            <a:r>
              <a:rPr b="1" spc="-45" dirty="0"/>
              <a:t>encias</a:t>
            </a:r>
            <a:r>
              <a:rPr b="1" spc="110" dirty="0"/>
              <a:t> </a:t>
            </a:r>
            <a:r>
              <a:rPr b="1" spc="-30" dirty="0"/>
              <a:t>l</a:t>
            </a:r>
            <a:r>
              <a:rPr b="1" spc="-800" dirty="0"/>
              <a:t>o</a:t>
            </a:r>
            <a:r>
              <a:rPr b="1" spc="-40" dirty="0"/>
              <a:t>´</a:t>
            </a:r>
            <a:r>
              <a:rPr b="1" spc="-30" dirty="0"/>
              <a:t>gicas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306" y="412584"/>
            <a:ext cx="702068" cy="155171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"/>
              </a:spcBef>
            </a:pPr>
            <a:r>
              <a:rPr sz="1000" b="1" spc="-25" dirty="0">
                <a:latin typeface="Tahoma"/>
                <a:cs typeface="Tahoma"/>
              </a:rPr>
              <a:t>Exe</a:t>
            </a:r>
            <a:r>
              <a:rPr lang="pt-BR" sz="1000" b="1" spc="-25" dirty="0" err="1">
                <a:latin typeface="Tahoma"/>
                <a:cs typeface="Tahoma"/>
              </a:rPr>
              <a:t>rcício</a:t>
            </a:r>
            <a:r>
              <a:rPr lang="pt-BR" sz="1000" b="1" spc="-25" dirty="0">
                <a:latin typeface="Tahoma"/>
                <a:cs typeface="Tahoma"/>
              </a:rPr>
              <a:t> 4</a:t>
            </a:r>
            <a:endParaRPr sz="1000" b="1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1143" y="401706"/>
            <a:ext cx="3482848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Mostre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0206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(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p</a:t>
            </a:r>
            <a:r>
              <a:rPr sz="1000" b="1" i="1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spc="-34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∨</a:t>
            </a:r>
            <a:r>
              <a:rPr sz="1000" b="1" spc="-5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)</a:t>
            </a:r>
            <a:r>
              <a:rPr sz="1000" b="1" spc="-15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7030A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dirty="0">
                <a:solidFill>
                  <a:srgbClr val="7030A0"/>
                </a:solidFill>
                <a:latin typeface="Arial"/>
                <a:cs typeface="Arial"/>
              </a:rPr>
              <a:t>p</a:t>
            </a:r>
            <a:r>
              <a:rPr sz="1000" b="1" i="1" spc="-4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000" b="1" spc="-340" dirty="0">
                <a:solidFill>
                  <a:srgbClr val="7030A0"/>
                </a:solidFill>
                <a:latin typeface="Yu Gothic UI Semilight"/>
                <a:cs typeface="Yu Gothic UI Semilight"/>
              </a:rPr>
              <a:t>∧</a:t>
            </a:r>
            <a:r>
              <a:rPr sz="1000" b="1" spc="-55" dirty="0">
                <a:solidFill>
                  <a:srgbClr val="7030A0"/>
                </a:solidFill>
                <a:latin typeface="Yu Gothic UI Semilight"/>
                <a:cs typeface="Yu Gothic UI Semilight"/>
              </a:rPr>
              <a:t> </a:t>
            </a:r>
            <a:r>
              <a:rPr sz="1000" b="1" dirty="0">
                <a:solidFill>
                  <a:srgbClr val="7030A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dirty="0">
                <a:solidFill>
                  <a:srgbClr val="7030A0"/>
                </a:solidFill>
                <a:latin typeface="Arial"/>
                <a:cs typeface="Arial"/>
              </a:rPr>
              <a:t>q</a:t>
            </a:r>
            <a:r>
              <a:rPr sz="1000" b="1" i="1" spc="5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000" spc="-75" dirty="0">
                <a:latin typeface="Tahoma"/>
                <a:cs typeface="Tahoma"/>
              </a:rPr>
              <a:t>s</a:t>
            </a:r>
            <a:r>
              <a:rPr sz="1000" spc="-605" dirty="0">
                <a:latin typeface="Tahoma"/>
                <a:cs typeface="Tahoma"/>
              </a:rPr>
              <a:t>˜</a:t>
            </a:r>
            <a:r>
              <a:rPr sz="1000" spc="-60" dirty="0">
                <a:latin typeface="Tahoma"/>
                <a:cs typeface="Tahoma"/>
              </a:rPr>
              <a:t>ao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logicamente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equivalentes.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877" y="720869"/>
            <a:ext cx="29387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Tahoma"/>
                <a:cs typeface="Tahoma"/>
              </a:rPr>
              <a:t>Solu</a:t>
            </a:r>
            <a:r>
              <a:rPr sz="1000" b="1" spc="-585" dirty="0">
                <a:latin typeface="Tahoma"/>
                <a:cs typeface="Tahoma"/>
              </a:rPr>
              <a:t>c</a:t>
            </a:r>
            <a:r>
              <a:rPr sz="1000" b="1" spc="-70" dirty="0">
                <a:latin typeface="Tahoma"/>
                <a:cs typeface="Tahoma"/>
              </a:rPr>
              <a:t>¸</a:t>
            </a:r>
            <a:r>
              <a:rPr sz="1000" b="1" spc="-600" dirty="0">
                <a:latin typeface="Tahoma"/>
                <a:cs typeface="Tahoma"/>
              </a:rPr>
              <a:t>˜</a:t>
            </a:r>
            <a:r>
              <a:rPr sz="1000" b="1" spc="-50" dirty="0">
                <a:latin typeface="Tahoma"/>
                <a:cs typeface="Tahoma"/>
              </a:rPr>
              <a:t>ao.</a:t>
            </a:r>
            <a:r>
              <a:rPr sz="1000" b="1" spc="85" dirty="0">
                <a:latin typeface="Tahoma"/>
                <a:cs typeface="Tahoma"/>
              </a:rPr>
              <a:t> </a:t>
            </a:r>
            <a:r>
              <a:rPr sz="1000" spc="-20" dirty="0" err="1">
                <a:latin typeface="Tahoma"/>
                <a:cs typeface="Tahoma"/>
              </a:rPr>
              <a:t>Tabela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lang="pt-BR" sz="1000" spc="-55" dirty="0">
                <a:latin typeface="Tahoma"/>
                <a:cs typeface="Tahoma"/>
              </a:rPr>
              <a:t>v</a:t>
            </a:r>
            <a:r>
              <a:rPr sz="1000" spc="-45" dirty="0" err="1">
                <a:latin typeface="Tahoma"/>
                <a:cs typeface="Tahoma"/>
              </a:rPr>
              <a:t>erdade</a:t>
            </a:r>
            <a:r>
              <a:rPr sz="1000" spc="-30" dirty="0">
                <a:latin typeface="Tahoma"/>
                <a:cs typeface="Tahoma"/>
              </a:rPr>
              <a:t> para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0206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(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p</a:t>
            </a:r>
            <a:r>
              <a:rPr sz="1000" b="1" i="1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000" b="1" spc="-340" dirty="0">
                <a:solidFill>
                  <a:srgbClr val="002060"/>
                </a:solidFill>
                <a:latin typeface="Yu Gothic UI Semilight"/>
                <a:cs typeface="Yu Gothic UI Semilight"/>
              </a:rPr>
              <a:t>∨</a:t>
            </a:r>
            <a:r>
              <a:rPr sz="1000" b="1" spc="-55" dirty="0">
                <a:solidFill>
                  <a:srgbClr val="002060"/>
                </a:solidFill>
                <a:latin typeface="Yu Gothic UI Semilight"/>
                <a:cs typeface="Yu Gothic UI Semilight"/>
              </a:rPr>
              <a:t> </a:t>
            </a:r>
            <a:r>
              <a:rPr sz="1000" b="1" i="1" dirty="0">
                <a:solidFill>
                  <a:srgbClr val="002060"/>
                </a:solidFill>
                <a:latin typeface="Arial"/>
                <a:cs typeface="Arial"/>
              </a:rPr>
              <a:t>q</a:t>
            </a:r>
            <a:r>
              <a:rPr sz="1000" b="1" dirty="0">
                <a:solidFill>
                  <a:srgbClr val="002060"/>
                </a:solidFill>
                <a:latin typeface="Tahoma"/>
                <a:cs typeface="Tahoma"/>
              </a:rPr>
              <a:t>)</a:t>
            </a:r>
            <a:r>
              <a:rPr sz="1000" b="1" spc="-25" dirty="0">
                <a:solidFill>
                  <a:srgbClr val="002060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7030A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dirty="0">
                <a:solidFill>
                  <a:srgbClr val="7030A0"/>
                </a:solidFill>
                <a:latin typeface="Arial"/>
                <a:cs typeface="Arial"/>
              </a:rPr>
              <a:t>p</a:t>
            </a:r>
            <a:r>
              <a:rPr sz="1000" b="1" i="1" spc="-5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000" b="1" spc="-340" dirty="0">
                <a:solidFill>
                  <a:srgbClr val="7030A0"/>
                </a:solidFill>
                <a:latin typeface="Yu Gothic UI Semilight"/>
                <a:cs typeface="Yu Gothic UI Semilight"/>
              </a:rPr>
              <a:t>∧</a:t>
            </a:r>
            <a:r>
              <a:rPr sz="1000" b="1" spc="-55" dirty="0">
                <a:solidFill>
                  <a:srgbClr val="7030A0"/>
                </a:solidFill>
                <a:latin typeface="Yu Gothic UI Semilight"/>
                <a:cs typeface="Yu Gothic UI Semilight"/>
              </a:rPr>
              <a:t> </a:t>
            </a:r>
            <a:r>
              <a:rPr sz="1000" b="1" spc="-25" dirty="0">
                <a:solidFill>
                  <a:srgbClr val="7030A0"/>
                </a:solidFill>
                <a:latin typeface="Yu Gothic UI Semilight"/>
                <a:cs typeface="Yu Gothic UI Semilight"/>
              </a:rPr>
              <a:t>¬</a:t>
            </a:r>
            <a:r>
              <a:rPr sz="1000" b="1" i="1" spc="-25" dirty="0">
                <a:solidFill>
                  <a:srgbClr val="7030A0"/>
                </a:solidFill>
                <a:latin typeface="Arial"/>
                <a:cs typeface="Arial"/>
              </a:rPr>
              <a:t>q</a:t>
            </a:r>
            <a:r>
              <a:rPr sz="1000" spc="-25" dirty="0">
                <a:latin typeface="Tahoma"/>
                <a:cs typeface="Tahoma"/>
              </a:rPr>
              <a:t>:</a:t>
            </a:r>
            <a:endParaRPr sz="1000" dirty="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788992"/>
              </p:ext>
            </p:extLst>
          </p:nvPr>
        </p:nvGraphicFramePr>
        <p:xfrm>
          <a:off x="1116799" y="969695"/>
          <a:ext cx="2621278" cy="813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055"/>
                        </a:lnSpc>
                      </a:pP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055"/>
                        </a:lnSpc>
                      </a:pPr>
                      <a:r>
                        <a:rPr sz="1000" b="1" spc="-4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000" b="1" spc="-9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34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∨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(p</a:t>
                      </a:r>
                      <a:r>
                        <a:rPr sz="1000" b="1" spc="-8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340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∨</a:t>
                      </a:r>
                      <a:r>
                        <a:rPr sz="1000" b="1" spc="-4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q)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p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00206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solidFill>
                            <a:srgbClr val="7030A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7030A0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000" b="1" spc="-90" dirty="0">
                          <a:solidFill>
                            <a:srgbClr val="7030A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340" dirty="0">
                          <a:solidFill>
                            <a:srgbClr val="7030A0"/>
                          </a:solidFill>
                          <a:latin typeface="Yu Gothic UI Semilight"/>
                          <a:cs typeface="Yu Gothic UI Semilight"/>
                        </a:rPr>
                        <a:t>∧</a:t>
                      </a:r>
                      <a:r>
                        <a:rPr sz="1000" b="1" spc="-50" dirty="0">
                          <a:solidFill>
                            <a:srgbClr val="7030A0"/>
                          </a:solidFill>
                          <a:latin typeface="Yu Gothic UI Semilight"/>
                          <a:cs typeface="Yu Gothic UI Semilight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7030A0"/>
                          </a:solidFill>
                          <a:latin typeface="Yu Gothic UI Semilight"/>
                          <a:cs typeface="Yu Gothic UI Semilight"/>
                        </a:rPr>
                        <a:t>¬</a:t>
                      </a:r>
                      <a:r>
                        <a:rPr sz="1000" b="1" spc="-25" dirty="0">
                          <a:solidFill>
                            <a:srgbClr val="7030A0"/>
                          </a:solidFill>
                          <a:latin typeface="Tahoma"/>
                          <a:cs typeface="Tahoma"/>
                        </a:rPr>
                        <a:t>q</a:t>
                      </a:r>
                      <a:endParaRPr sz="1000" b="1" dirty="0">
                        <a:solidFill>
                          <a:srgbClr val="7030A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b="1" i="1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000" b="1" dirty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175"/>
                        </a:lnSpc>
                      </a:pPr>
                      <a:r>
                        <a:rPr sz="1000" b="1" i="1" spc="-50" dirty="0">
                          <a:solidFill>
                            <a:srgbClr val="7030A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000" b="1" dirty="0">
                        <a:solidFill>
                          <a:srgbClr val="7030A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2413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b="1" i="1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000" b="1" dirty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b="1" i="1" spc="-50" dirty="0">
                          <a:solidFill>
                            <a:srgbClr val="7030A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000" b="1" dirty="0">
                        <a:solidFill>
                          <a:srgbClr val="7030A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b="1" i="1" spc="-50" dirty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000" b="1" dirty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175"/>
                        </a:lnSpc>
                      </a:pPr>
                      <a:r>
                        <a:rPr lang="pt-BR" sz="1000" i="1" spc="10" dirty="0">
                          <a:latin typeface="Arial"/>
                          <a:cs typeface="Arial"/>
                        </a:rPr>
                        <a:t>V</a:t>
                      </a:r>
                      <a:endParaRPr lang="pt-BR"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b="1" i="1" spc="-50" dirty="0">
                          <a:solidFill>
                            <a:srgbClr val="7030A0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000" b="1" dirty="0">
                        <a:solidFill>
                          <a:srgbClr val="7030A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R="889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i="1" spc="-50" dirty="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1" u="none" strike="noStrike" kern="0" cap="none" spc="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4130" lvl="0" indent="0" algn="ctr" defTabSz="914400" eaLnBrk="1" fontAlgn="auto" latinLnBrk="0" hangingPunct="1">
                        <a:lnSpc>
                          <a:spcPts val="1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1" u="none" strike="noStrike" kern="0" cap="none" spc="1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V</a:t>
                      </a:r>
                      <a:endParaRPr kumimoji="0" lang="pt-B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FB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366877" y="1823217"/>
                <a:ext cx="4127500" cy="7499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marR="65405" algn="just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dirty="0">
                    <a:latin typeface="Tahoma"/>
                    <a:cs typeface="Tahoma"/>
                  </a:rPr>
                  <a:t>Uma</a:t>
                </a:r>
                <a:r>
                  <a:rPr sz="1000" spc="-60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vez </a:t>
                </a:r>
                <a:r>
                  <a:rPr sz="1000" spc="-45" dirty="0">
                    <a:latin typeface="Tahoma"/>
                    <a:cs typeface="Tahoma"/>
                  </a:rPr>
                  <a:t>que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coluna </a:t>
                </a:r>
                <a:r>
                  <a:rPr sz="1000" spc="-45" dirty="0">
                    <a:latin typeface="Tahoma"/>
                    <a:cs typeface="Tahoma"/>
                  </a:rPr>
                  <a:t>correspondente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b="1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dirty="0">
                    <a:solidFill>
                      <a:srgbClr val="002060"/>
                    </a:solidFill>
                    <a:latin typeface="Tahoma"/>
                    <a:cs typeface="Tahoma"/>
                  </a:rPr>
                  <a:t>(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p</a:t>
                </a:r>
                <a:r>
                  <a:rPr sz="1000" b="1" i="1" spc="-55" dirty="0">
                    <a:solidFill>
                      <a:srgbClr val="002060"/>
                    </a:solidFill>
                    <a:latin typeface="Arial"/>
                    <a:cs typeface="Arial"/>
                  </a:rPr>
                  <a:t> </a:t>
                </a:r>
                <a:r>
                  <a:rPr sz="1000" b="1" spc="-340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∨</a:t>
                </a:r>
                <a:r>
                  <a:rPr sz="1000" b="1" spc="-55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q</a:t>
                </a:r>
                <a:r>
                  <a:rPr sz="1000" b="1" dirty="0">
                    <a:solidFill>
                      <a:srgbClr val="002060"/>
                    </a:solidFill>
                    <a:latin typeface="Tahoma"/>
                    <a:cs typeface="Tahoma"/>
                  </a:rPr>
                  <a:t>)</a:t>
                </a:r>
                <a:r>
                  <a:rPr sz="1000" b="1" spc="-25" dirty="0">
                    <a:solidFill>
                      <a:srgbClr val="002060"/>
                    </a:solidFill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e</a:t>
                </a:r>
                <a:r>
                  <a:rPr sz="1000" spc="-2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coluna</a:t>
                </a:r>
                <a:r>
                  <a:rPr sz="1000" spc="-30" dirty="0">
                    <a:latin typeface="Tahoma"/>
                    <a:cs typeface="Tahoma"/>
                  </a:rPr>
                  <a:t> </a:t>
                </a:r>
                <a:r>
                  <a:rPr sz="1000" spc="-40" dirty="0">
                    <a:latin typeface="Tahoma"/>
                    <a:cs typeface="Tahoma"/>
                  </a:rPr>
                  <a:t>correspondente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-40" dirty="0">
                    <a:latin typeface="Tahoma"/>
                    <a:cs typeface="Tahoma"/>
                  </a:rPr>
                  <a:t> </a:t>
                </a:r>
                <a:r>
                  <a:rPr sz="1000" b="1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i="1" dirty="0">
                    <a:solidFill>
                      <a:srgbClr val="7030A0"/>
                    </a:solidFill>
                    <a:latin typeface="Arial"/>
                    <a:cs typeface="Arial"/>
                  </a:rPr>
                  <a:t>p</a:t>
                </a:r>
                <a:r>
                  <a:rPr sz="1000" b="1" i="1" spc="-45" dirty="0">
                    <a:solidFill>
                      <a:srgbClr val="7030A0"/>
                    </a:solidFill>
                    <a:latin typeface="Arial"/>
                    <a:cs typeface="Arial"/>
                  </a:rPr>
                  <a:t> </a:t>
                </a:r>
                <a:r>
                  <a:rPr sz="1000" b="1" spc="-340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∧</a:t>
                </a:r>
                <a:r>
                  <a:rPr sz="1000" b="1" spc="-55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dirty="0">
                    <a:solidFill>
                      <a:srgbClr val="7030A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i="1" dirty="0">
                    <a:solidFill>
                      <a:srgbClr val="7030A0"/>
                    </a:solidFill>
                    <a:latin typeface="Arial"/>
                    <a:cs typeface="Arial"/>
                  </a:rPr>
                  <a:t>q</a:t>
                </a:r>
                <a:r>
                  <a:rPr sz="1000" b="1" i="1" spc="60" dirty="0">
                    <a:solidFill>
                      <a:srgbClr val="7030A0"/>
                    </a:solidFill>
                    <a:latin typeface="Arial"/>
                    <a:cs typeface="Arial"/>
                  </a:rPr>
                  <a:t> </a:t>
                </a:r>
                <a:r>
                  <a:rPr sz="1000" spc="-50" dirty="0">
                    <a:latin typeface="Tahoma"/>
                    <a:cs typeface="Tahoma"/>
                  </a:rPr>
                  <a:t>possuem</a:t>
                </a:r>
                <a:r>
                  <a:rPr sz="1000" spc="-20" dirty="0">
                    <a:latin typeface="Tahoma"/>
                    <a:cs typeface="Tahoma"/>
                  </a:rPr>
                  <a:t> </a:t>
                </a:r>
                <a:r>
                  <a:rPr sz="1000" spc="-65" dirty="0">
                    <a:latin typeface="Tahoma"/>
                    <a:cs typeface="Tahoma"/>
                  </a:rPr>
                  <a:t>sempre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o</a:t>
                </a:r>
                <a:r>
                  <a:rPr sz="1000" spc="-20" dirty="0">
                    <a:latin typeface="Tahoma"/>
                    <a:cs typeface="Tahoma"/>
                  </a:rPr>
                  <a:t> </a:t>
                </a:r>
                <a:r>
                  <a:rPr sz="1000" spc="-55" dirty="0">
                    <a:latin typeface="Tahoma"/>
                    <a:cs typeface="Tahoma"/>
                  </a:rPr>
                  <a:t>mesmo</a:t>
                </a:r>
                <a:r>
                  <a:rPr sz="1000" spc="-15" dirty="0">
                    <a:latin typeface="Tahoma"/>
                    <a:cs typeface="Tahoma"/>
                  </a:rPr>
                  <a:t> </a:t>
                </a:r>
                <a:r>
                  <a:rPr sz="1000" spc="-25" dirty="0">
                    <a:latin typeface="Tahoma"/>
                    <a:cs typeface="Tahoma"/>
                  </a:rPr>
                  <a:t>valor</a:t>
                </a:r>
                <a:r>
                  <a:rPr sz="1000" spc="-10" dirty="0">
                    <a:latin typeface="Tahoma"/>
                    <a:cs typeface="Tahoma"/>
                  </a:rPr>
                  <a:t> </a:t>
                </a:r>
                <a:r>
                  <a:rPr sz="1000" spc="-10" dirty="0" err="1">
                    <a:latin typeface="Tahoma"/>
                    <a:cs typeface="Tahoma"/>
                  </a:rPr>
                  <a:t>verdade</a:t>
                </a:r>
                <a:r>
                  <a:rPr sz="1000" spc="-10" dirty="0">
                    <a:latin typeface="Tahoma"/>
                    <a:cs typeface="Tahoma"/>
                  </a:rPr>
                  <a:t>,</a:t>
                </a:r>
                <a:endParaRPr sz="1000" dirty="0">
                  <a:latin typeface="Tahoma"/>
                  <a:cs typeface="Tahoma"/>
                </a:endParaRPr>
              </a:p>
              <a:p>
                <a:pPr marL="12700" algn="just">
                  <a:lnSpc>
                    <a:spcPts val="1190"/>
                  </a:lnSpc>
                </a:pPr>
                <a:r>
                  <a:rPr sz="1000" b="1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dirty="0">
                    <a:solidFill>
                      <a:srgbClr val="002060"/>
                    </a:solidFill>
                    <a:latin typeface="Tahoma"/>
                    <a:cs typeface="Tahoma"/>
                  </a:rPr>
                  <a:t>(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p</a:t>
                </a:r>
                <a:r>
                  <a:rPr sz="1000" b="1" i="1" spc="-70" dirty="0">
                    <a:solidFill>
                      <a:srgbClr val="002060"/>
                    </a:solidFill>
                    <a:latin typeface="Arial"/>
                    <a:cs typeface="Arial"/>
                  </a:rPr>
                  <a:t> </a:t>
                </a:r>
                <a:r>
                  <a:rPr sz="1000" b="1" spc="-340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∨</a:t>
                </a:r>
                <a:r>
                  <a:rPr sz="1000" b="1" spc="-55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q</a:t>
                </a:r>
                <a:r>
                  <a:rPr sz="1000" b="1" dirty="0">
                    <a:solidFill>
                      <a:srgbClr val="002060"/>
                    </a:solidFill>
                    <a:latin typeface="Tahoma"/>
                    <a:cs typeface="Tahoma"/>
                  </a:rPr>
                  <a:t>)</a:t>
                </a:r>
                <a:r>
                  <a:rPr sz="1000" b="1" spc="-60" dirty="0">
                    <a:solidFill>
                      <a:srgbClr val="002060"/>
                    </a:solidFill>
                    <a:latin typeface="Tahoma"/>
                    <a:cs typeface="Tahoma"/>
                  </a:rPr>
                  <a:t> </a:t>
                </a:r>
                <a:r>
                  <a:rPr sz="1000" b="1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↔</a:t>
                </a:r>
                <a:r>
                  <a:rPr sz="1000" b="1" spc="-10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dirty="0">
                    <a:solidFill>
                      <a:srgbClr val="002060"/>
                    </a:solidFill>
                    <a:latin typeface="Tahoma"/>
                    <a:cs typeface="Tahoma"/>
                  </a:rPr>
                  <a:t>(</a:t>
                </a:r>
                <a:r>
                  <a:rPr sz="1000" b="1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p</a:t>
                </a:r>
                <a:r>
                  <a:rPr sz="1000" b="1" i="1" spc="-35" dirty="0">
                    <a:solidFill>
                      <a:srgbClr val="002060"/>
                    </a:solidFill>
                    <a:latin typeface="Arial"/>
                    <a:cs typeface="Arial"/>
                  </a:rPr>
                  <a:t> </a:t>
                </a:r>
                <a:r>
                  <a:rPr sz="1000" b="1" spc="-340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∧</a:t>
                </a:r>
                <a:r>
                  <a:rPr sz="1000" b="1" spc="-55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sz="1000" b="1" dirty="0">
                    <a:solidFill>
                      <a:srgbClr val="002060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sz="1000" b="1" i="1" dirty="0">
                    <a:solidFill>
                      <a:srgbClr val="002060"/>
                    </a:solidFill>
                    <a:latin typeface="Arial"/>
                    <a:cs typeface="Arial"/>
                  </a:rPr>
                  <a:t>q</a:t>
                </a:r>
                <a:r>
                  <a:rPr sz="1000" b="1" dirty="0">
                    <a:solidFill>
                      <a:srgbClr val="002060"/>
                    </a:solidFill>
                    <a:latin typeface="Tahoma"/>
                    <a:cs typeface="Tahoma"/>
                  </a:rPr>
                  <a:t>)</a:t>
                </a:r>
                <a:r>
                  <a:rPr sz="1000" b="1" spc="-25" dirty="0">
                    <a:solidFill>
                      <a:srgbClr val="002060"/>
                    </a:solidFill>
                    <a:latin typeface="Tahoma"/>
                    <a:cs typeface="Tahoma"/>
                  </a:rPr>
                  <a:t> </a:t>
                </a:r>
                <a:r>
                  <a:rPr sz="1000" spc="-595" dirty="0">
                    <a:latin typeface="Tahoma"/>
                    <a:cs typeface="Tahoma"/>
                  </a:rPr>
                  <a:t>´</a:t>
                </a:r>
                <a:r>
                  <a:rPr sz="1000" spc="-65" dirty="0">
                    <a:latin typeface="Tahoma"/>
                    <a:cs typeface="Tahoma"/>
                  </a:rPr>
                  <a:t>e</a:t>
                </a:r>
                <a:r>
                  <a:rPr sz="1000" spc="20" dirty="0">
                    <a:latin typeface="Tahoma"/>
                    <a:cs typeface="Tahoma"/>
                  </a:rPr>
                  <a:t> </a:t>
                </a:r>
                <a:r>
                  <a:rPr sz="1000" spc="-40" dirty="0">
                    <a:latin typeface="Tahoma"/>
                    <a:cs typeface="Tahoma"/>
                  </a:rPr>
                  <a:t>uma</a:t>
                </a:r>
                <a:r>
                  <a:rPr sz="1000" spc="-5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tautologia.</a:t>
                </a:r>
                <a:endParaRPr sz="1000" dirty="0">
                  <a:latin typeface="Tahoma"/>
                  <a:cs typeface="Tahoma"/>
                </a:endParaRPr>
              </a:p>
              <a:p>
                <a:pPr marL="12700" algn="just">
                  <a:lnSpc>
                    <a:spcPct val="100000"/>
                  </a:lnSpc>
                  <a:spcBef>
                    <a:spcPts val="560"/>
                  </a:spcBef>
                  <a:tabLst>
                    <a:tab pos="4050665" algn="l"/>
                  </a:tabLst>
                </a:pPr>
                <a:r>
                  <a:rPr sz="1000" spc="-10" dirty="0">
                    <a:latin typeface="Tahoma"/>
                    <a:cs typeface="Tahoma"/>
                  </a:rPr>
                  <a:t>Logo,</a:t>
                </a:r>
                <a:r>
                  <a:rPr sz="1000" spc="-70" dirty="0">
                    <a:latin typeface="Tahoma"/>
                    <a:cs typeface="Tahoma"/>
                  </a:rPr>
                  <a:t> </a:t>
                </a:r>
                <a:r>
                  <a:rPr lang="pt-BR" sz="1000" b="1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lang="pt-BR"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(</a:t>
                </a:r>
                <a:r>
                  <a:rPr lang="pt-BR"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p</a:t>
                </a:r>
                <a:r>
                  <a:rPr lang="pt-BR" sz="1000" b="1" i="1" spc="-45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pt-BR" sz="1000" b="1" spc="-340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∨</a:t>
                </a:r>
                <a:r>
                  <a:rPr lang="pt-BR" sz="1000" b="1" spc="-5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lang="pt-BR"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q</a:t>
                </a:r>
                <a:r>
                  <a:rPr lang="pt-BR" sz="1000" b="1" dirty="0">
                    <a:solidFill>
                      <a:srgbClr val="0000FF"/>
                    </a:solidFill>
                    <a:latin typeface="Tahoma"/>
                    <a:cs typeface="Tahoma"/>
                  </a:rPr>
                  <a:t>)</a:t>
                </a:r>
                <a:r>
                  <a:rPr lang="pt-BR" sz="1000" b="1" spc="-60" dirty="0">
                    <a:solidFill>
                      <a:srgbClr val="0000FF"/>
                    </a:solidFill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pos m:val="top"/>
                        <m:vertJc m:val="top"/>
                        <m:ctrlPr>
                          <a:rPr lang="ar-AE" sz="1000" b="1" i="1" spc="-3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ar-AE" sz="1000" b="1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 ¬</a:t>
                </a:r>
                <a:r>
                  <a:rPr lang="pt-BR" sz="10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p</a:t>
                </a:r>
                <a:r>
                  <a:rPr lang="pt-BR" sz="1000" b="1" i="1" spc="-4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pt-BR" sz="1000" b="1" spc="-340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∧</a:t>
                </a:r>
                <a:r>
                  <a:rPr lang="pt-BR" sz="1000" b="1" spc="-5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 </a:t>
                </a:r>
                <a:r>
                  <a:rPr lang="pt-BR" sz="1000" b="1" spc="-25" dirty="0">
                    <a:solidFill>
                      <a:srgbClr val="0000FF"/>
                    </a:solidFill>
                    <a:latin typeface="Yu Gothic UI Semilight"/>
                    <a:cs typeface="Yu Gothic UI Semilight"/>
                  </a:rPr>
                  <a:t>¬</a:t>
                </a:r>
                <a:r>
                  <a:rPr lang="pt-BR" sz="1000" b="1" i="1" spc="-25" dirty="0">
                    <a:solidFill>
                      <a:srgbClr val="0000FF"/>
                    </a:solidFill>
                    <a:latin typeface="Arial"/>
                    <a:cs typeface="Arial"/>
                  </a:rPr>
                  <a:t>q</a:t>
                </a:r>
                <a:r>
                  <a:rPr lang="pt-BR" sz="1000" b="1" spc="-25" dirty="0">
                    <a:solidFill>
                      <a:srgbClr val="0000FF"/>
                    </a:solidFill>
                    <a:latin typeface="Tahoma"/>
                    <a:cs typeface="Tahoma"/>
                  </a:rPr>
                  <a:t>.</a:t>
                </a:r>
                <a:r>
                  <a:rPr sz="1000" dirty="0">
                    <a:latin typeface="Tahoma"/>
                    <a:cs typeface="Tahoma"/>
                  </a:rPr>
                  <a:t>	</a:t>
                </a:r>
                <a:r>
                  <a:rPr sz="1000" spc="45" dirty="0">
                    <a:solidFill>
                      <a:srgbClr val="006300"/>
                    </a:solidFill>
                    <a:latin typeface="Yu Gothic UI Semilight"/>
                    <a:cs typeface="Yu Gothic UI Semilight"/>
                  </a:rPr>
                  <a:t>•</a:t>
                </a:r>
                <a:endParaRPr sz="1000" dirty="0">
                  <a:latin typeface="Yu Gothic UI Semilight"/>
                  <a:cs typeface="Yu Gothic UI Semilight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77" y="1823217"/>
                <a:ext cx="4127500" cy="749949"/>
              </a:xfrm>
              <a:prstGeom prst="rect">
                <a:avLst/>
              </a:prstGeom>
              <a:blipFill>
                <a:blip r:embed="rId2"/>
                <a:stretch>
                  <a:fillRect l="-1625" t="-4878" r="-1329" b="-211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366877" y="2761645"/>
            <a:ext cx="191833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equiva</a:t>
            </a:r>
            <a:r>
              <a:rPr sz="1000" spc="-70" dirty="0">
                <a:latin typeface="Tahoma"/>
                <a:cs typeface="Tahoma"/>
              </a:rPr>
              <a:t>l</a:t>
            </a:r>
            <a:r>
              <a:rPr sz="1000" spc="-565" dirty="0">
                <a:latin typeface="Tahoma"/>
                <a:cs typeface="Tahoma"/>
              </a:rPr>
              <a:t>ˆ</a:t>
            </a:r>
            <a:r>
              <a:rPr sz="1000" spc="-35" dirty="0">
                <a:latin typeface="Tahoma"/>
                <a:cs typeface="Tahoma"/>
              </a:rPr>
              <a:t>encia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que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demonstramos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30" dirty="0">
                <a:latin typeface="Tahoma"/>
                <a:cs typeface="Tahoma"/>
              </a:rPr>
              <a:t>´</a:t>
            </a:r>
            <a:r>
              <a:rPr sz="1000" spc="-100" dirty="0">
                <a:latin typeface="Tahoma"/>
                <a:cs typeface="Tahoma"/>
              </a:rPr>
              <a:t>e</a:t>
            </a:r>
            <a:r>
              <a:rPr sz="1000" spc="-40" dirty="0">
                <a:latin typeface="Tahoma"/>
                <a:cs typeface="Tahoma"/>
              </a:rPr>
              <a:t> uma </a:t>
            </a:r>
            <a:r>
              <a:rPr sz="1000" spc="-35" dirty="0">
                <a:latin typeface="Tahoma"/>
                <a:cs typeface="Tahoma"/>
              </a:rPr>
              <a:t>das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Leis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de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De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Morgan</a:t>
            </a:r>
            <a:r>
              <a:rPr sz="1000" spc="-10" dirty="0">
                <a:latin typeface="Tahoma"/>
                <a:cs typeface="Tahoma"/>
              </a:rPr>
              <a:t>: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9497" y="2741401"/>
            <a:ext cx="1132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ahoma"/>
                <a:cs typeface="Tahoma"/>
              </a:rPr>
              <a:t>Leis</a:t>
            </a:r>
            <a:r>
              <a:rPr sz="1000" b="1" spc="-25" dirty="0">
                <a:latin typeface="Tahoma"/>
                <a:cs typeface="Tahoma"/>
              </a:rPr>
              <a:t> de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De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Morgan</a:t>
            </a:r>
            <a:endParaRPr sz="10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object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654753"/>
                  </p:ext>
                </p:extLst>
              </p:nvPr>
            </p:nvGraphicFramePr>
            <p:xfrm>
              <a:off x="2493797" y="2926181"/>
              <a:ext cx="1299210" cy="313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9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568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55"/>
                            </a:lnSpc>
                          </a:pPr>
                          <a:r>
                            <a:rPr sz="1000" b="1" dirty="0">
                              <a:latin typeface="Yu Gothic UI Semilight"/>
                              <a:cs typeface="Yu Gothic UI Semilight"/>
                            </a:rPr>
                            <a:t>¬</a:t>
                          </a:r>
                          <a:r>
                            <a:rPr sz="1000" b="1" dirty="0">
                              <a:latin typeface="Tahoma"/>
                              <a:cs typeface="Tahoma"/>
                            </a:rPr>
                            <a:t>(</a:t>
                          </a:r>
                          <a:r>
                            <a:rPr sz="1000" b="1" i="1" dirty="0">
                              <a:latin typeface="Arial"/>
                              <a:cs typeface="Arial"/>
                            </a:rPr>
                            <a:t>p</a:t>
                          </a:r>
                          <a:r>
                            <a:rPr sz="1000" b="1" i="1" spc="-70" dirty="0">
                              <a:latin typeface="Arial"/>
                              <a:cs typeface="Arial"/>
                            </a:rPr>
                            <a:t> </a:t>
                          </a:r>
                          <a:r>
                            <a:rPr sz="1000" b="1" spc="-340" dirty="0">
                              <a:latin typeface="Yu Gothic UI Semilight"/>
                              <a:cs typeface="Yu Gothic UI Semilight"/>
                            </a:rPr>
                            <a:t>∨</a:t>
                          </a:r>
                          <a:r>
                            <a:rPr sz="1000" b="1" spc="-55" dirty="0"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i="1" dirty="0">
                              <a:latin typeface="Arial"/>
                              <a:cs typeface="Arial"/>
                            </a:rPr>
                            <a:t>q</a:t>
                          </a:r>
                          <a:r>
                            <a:rPr sz="1000" b="1" dirty="0">
                              <a:latin typeface="Tahoma"/>
                              <a:cs typeface="Tahoma"/>
                            </a:rPr>
                            <a:t>)</a:t>
                          </a:r>
                          <a:r>
                            <a:rPr sz="1000" b="1" spc="165" dirty="0">
                              <a:latin typeface="Tahoma"/>
                              <a:cs typeface="Tahom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⇔"/>
                                  <m:pos m:val="top"/>
                                  <m:vertJc m:val="top"/>
                                  <m:ctrlPr>
                                    <a:rPr lang="ar-AE" sz="1000" b="1" i="1" spc="-3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groupChrPr>
                                <m:e/>
                              </m:groupChr>
                            </m:oMath>
                          </a14:m>
                          <a:r>
                            <a:rPr lang="ar-AE" sz="1000" b="1" dirty="0">
                              <a:solidFill>
                                <a:schemeClr val="tx2"/>
                              </a:solidFill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spc="254" dirty="0"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dirty="0">
                              <a:latin typeface="Yu Gothic UI Semilight"/>
                              <a:cs typeface="Yu Gothic UI Semilight"/>
                            </a:rPr>
                            <a:t>¬</a:t>
                          </a:r>
                          <a:r>
                            <a:rPr sz="1000" b="1" i="1" dirty="0">
                              <a:latin typeface="Arial"/>
                              <a:cs typeface="Arial"/>
                            </a:rPr>
                            <a:t>p</a:t>
                          </a:r>
                          <a:r>
                            <a:rPr sz="1000" b="1" i="1" spc="-55" dirty="0">
                              <a:latin typeface="Arial"/>
                              <a:cs typeface="Arial"/>
                            </a:rPr>
                            <a:t> </a:t>
                          </a:r>
                          <a:r>
                            <a:rPr sz="1000" b="1" spc="-340" dirty="0">
                              <a:latin typeface="Yu Gothic UI Semilight"/>
                              <a:cs typeface="Yu Gothic UI Semilight"/>
                            </a:rPr>
                            <a:t>∧</a:t>
                          </a:r>
                          <a:r>
                            <a:rPr sz="1000" b="1" spc="-55" dirty="0"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spc="-25" dirty="0">
                              <a:latin typeface="Yu Gothic UI Semilight"/>
                              <a:cs typeface="Yu Gothic UI Semilight"/>
                            </a:rPr>
                            <a:t>¬</a:t>
                          </a:r>
                          <a:r>
                            <a:rPr sz="1000" b="1" i="1" spc="-25" dirty="0">
                              <a:latin typeface="Arial"/>
                              <a:cs typeface="Arial"/>
                            </a:rPr>
                            <a:t>q</a:t>
                          </a:r>
                          <a:endParaRPr sz="1000" b="1" dirty="0">
                            <a:latin typeface="Arial"/>
                            <a:cs typeface="Arial"/>
                          </a:endParaRPr>
                        </a:p>
                      </a:txBody>
                      <a:tcPr marL="0" marR="0" marT="0" marB="0">
                        <a:lnL w="6350">
                          <a:solidFill>
                            <a:srgbClr val="000000"/>
                          </a:solidFill>
                          <a:prstDash val="solid"/>
                        </a:lnL>
                        <a:lnR w="6350">
                          <a:solidFill>
                            <a:srgbClr val="000000"/>
                          </a:solidFill>
                          <a:prstDash val="solid"/>
                        </a:lnR>
                        <a:lnT w="6350">
                          <a:solidFill>
                            <a:srgbClr val="000000"/>
                          </a:solidFill>
                          <a:prstDash val="solid"/>
                        </a:lnT>
                        <a:lnB w="635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68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055"/>
                            </a:lnSpc>
                          </a:pPr>
                          <a:r>
                            <a:rPr sz="1000" b="1" dirty="0">
                              <a:latin typeface="Yu Gothic UI Semilight"/>
                              <a:cs typeface="Yu Gothic UI Semilight"/>
                            </a:rPr>
                            <a:t>¬</a:t>
                          </a:r>
                          <a:r>
                            <a:rPr sz="1000" b="1" dirty="0">
                              <a:latin typeface="Tahoma"/>
                              <a:cs typeface="Tahoma"/>
                            </a:rPr>
                            <a:t>(</a:t>
                          </a:r>
                          <a:r>
                            <a:rPr sz="1000" b="1" i="1" dirty="0">
                              <a:latin typeface="Arial"/>
                              <a:cs typeface="Arial"/>
                            </a:rPr>
                            <a:t>p</a:t>
                          </a:r>
                          <a:r>
                            <a:rPr sz="1000" b="1" i="1" spc="-70" dirty="0">
                              <a:latin typeface="Arial"/>
                              <a:cs typeface="Arial"/>
                            </a:rPr>
                            <a:t> </a:t>
                          </a:r>
                          <a:r>
                            <a:rPr sz="1000" b="1" spc="-340" dirty="0">
                              <a:latin typeface="Yu Gothic UI Semilight"/>
                              <a:cs typeface="Yu Gothic UI Semilight"/>
                            </a:rPr>
                            <a:t>∧</a:t>
                          </a:r>
                          <a:r>
                            <a:rPr sz="1000" b="1" spc="-55" dirty="0"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i="1" dirty="0">
                              <a:latin typeface="Arial"/>
                              <a:cs typeface="Arial"/>
                            </a:rPr>
                            <a:t>q</a:t>
                          </a:r>
                          <a:r>
                            <a:rPr sz="1000" b="1" dirty="0">
                              <a:latin typeface="Tahoma"/>
                              <a:cs typeface="Tahoma"/>
                            </a:rPr>
                            <a:t>)</a:t>
                          </a:r>
                          <a:r>
                            <a:rPr sz="1000" b="1" spc="165" dirty="0">
                              <a:latin typeface="Tahoma"/>
                              <a:cs typeface="Tahom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⇔"/>
                                  <m:pos m:val="top"/>
                                  <m:vertJc m:val="top"/>
                                  <m:ctrlPr>
                                    <a:rPr lang="ar-AE" sz="1000" b="1" i="1" spc="-3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groupChrPr>
                                <m:e/>
                              </m:groupChr>
                            </m:oMath>
                          </a14:m>
                          <a:r>
                            <a:rPr lang="ar-AE" sz="1000" b="1" dirty="0">
                              <a:solidFill>
                                <a:schemeClr val="tx2"/>
                              </a:solidFill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spc="254" dirty="0"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dirty="0">
                              <a:latin typeface="Yu Gothic UI Semilight"/>
                              <a:cs typeface="Yu Gothic UI Semilight"/>
                            </a:rPr>
                            <a:t>¬</a:t>
                          </a:r>
                          <a:r>
                            <a:rPr sz="1000" b="1" i="1" dirty="0">
                              <a:latin typeface="Arial"/>
                              <a:cs typeface="Arial"/>
                            </a:rPr>
                            <a:t>p</a:t>
                          </a:r>
                          <a:r>
                            <a:rPr sz="1000" b="1" i="1" spc="-55" dirty="0">
                              <a:latin typeface="Arial"/>
                              <a:cs typeface="Arial"/>
                            </a:rPr>
                            <a:t> </a:t>
                          </a:r>
                          <a:r>
                            <a:rPr sz="1000" b="1" spc="-340" dirty="0">
                              <a:latin typeface="Yu Gothic UI Semilight"/>
                              <a:cs typeface="Yu Gothic UI Semilight"/>
                            </a:rPr>
                            <a:t>∨</a:t>
                          </a:r>
                          <a:r>
                            <a:rPr sz="1000" b="1" spc="-55" dirty="0">
                              <a:latin typeface="Yu Gothic UI Semilight"/>
                              <a:cs typeface="Yu Gothic UI Semilight"/>
                            </a:rPr>
                            <a:t> </a:t>
                          </a:r>
                          <a:r>
                            <a:rPr sz="1000" b="1" spc="-25" dirty="0">
                              <a:latin typeface="Yu Gothic UI Semilight"/>
                              <a:cs typeface="Yu Gothic UI Semilight"/>
                            </a:rPr>
                            <a:t>¬</a:t>
                          </a:r>
                          <a:r>
                            <a:rPr sz="1000" b="1" i="1" spc="-25" dirty="0">
                              <a:latin typeface="Arial"/>
                              <a:cs typeface="Arial"/>
                            </a:rPr>
                            <a:t>q</a:t>
                          </a:r>
                          <a:endParaRPr sz="1000" b="1" dirty="0">
                            <a:latin typeface="Arial"/>
                            <a:cs typeface="Arial"/>
                          </a:endParaRPr>
                        </a:p>
                      </a:txBody>
                      <a:tcPr marL="0" marR="0" marT="0" marB="0">
                        <a:lnL w="6350">
                          <a:solidFill>
                            <a:srgbClr val="000000"/>
                          </a:solidFill>
                          <a:prstDash val="solid"/>
                        </a:lnL>
                        <a:lnR w="6350">
                          <a:solidFill>
                            <a:srgbClr val="000000"/>
                          </a:solidFill>
                          <a:prstDash val="solid"/>
                        </a:lnR>
                        <a:lnT w="6350">
                          <a:solidFill>
                            <a:srgbClr val="000000"/>
                          </a:solidFill>
                          <a:prstDash val="solid"/>
                        </a:lnT>
                        <a:lnB w="635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object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654753"/>
                  </p:ext>
                </p:extLst>
              </p:nvPr>
            </p:nvGraphicFramePr>
            <p:xfrm>
              <a:off x="2493797" y="2926181"/>
              <a:ext cx="1299210" cy="313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9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5684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0" marR="0" marT="0" marB="0">
                        <a:lnL w="6350">
                          <a:solidFill>
                            <a:srgbClr val="000000"/>
                          </a:solidFill>
                          <a:prstDash val="solid"/>
                        </a:lnL>
                        <a:lnR w="6350">
                          <a:solidFill>
                            <a:srgbClr val="000000"/>
                          </a:solidFill>
                          <a:prstDash val="solid"/>
                        </a:lnR>
                        <a:lnT w="6350">
                          <a:solidFill>
                            <a:srgbClr val="000000"/>
                          </a:solidFill>
                          <a:prstDash val="solid"/>
                        </a:lnT>
                        <a:lnB w="6350">
                          <a:solidFill>
                            <a:srgbClr val="0000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467" t="-100000" r="-467" b="-1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684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0" marR="0" marT="0" marB="0">
                        <a:lnL w="6350">
                          <a:solidFill>
                            <a:srgbClr val="000000"/>
                          </a:solidFill>
                          <a:prstDash val="solid"/>
                        </a:lnL>
                        <a:lnR w="6350">
                          <a:solidFill>
                            <a:srgbClr val="000000"/>
                          </a:solidFill>
                          <a:prstDash val="solid"/>
                        </a:lnR>
                        <a:lnT w="6350">
                          <a:solidFill>
                            <a:srgbClr val="000000"/>
                          </a:solidFill>
                          <a:prstDash val="solid"/>
                        </a:lnT>
                        <a:lnB w="6350">
                          <a:solidFill>
                            <a:srgbClr val="0000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467" t="-200000" r="-467" b="-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object 12"/>
          <p:cNvSpPr/>
          <p:nvPr/>
        </p:nvSpPr>
        <p:spPr>
          <a:xfrm>
            <a:off x="0" y="3357588"/>
            <a:ext cx="4608195" cy="98425"/>
          </a:xfrm>
          <a:custGeom>
            <a:avLst/>
            <a:gdLst/>
            <a:ahLst/>
            <a:cxnLst/>
            <a:rect l="l" t="t" r="r" b="b"/>
            <a:pathLst>
              <a:path w="4608195" h="9842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98412"/>
                </a:lnTo>
                <a:lnTo>
                  <a:pt x="2303996" y="98412"/>
                </a:lnTo>
                <a:lnTo>
                  <a:pt x="4607992" y="98412"/>
                </a:lnTo>
                <a:lnTo>
                  <a:pt x="4607992" y="0"/>
                </a:lnTo>
                <a:close/>
              </a:path>
            </a:pathLst>
          </a:custGeom>
          <a:solidFill>
            <a:srgbClr val="99C1A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72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1472</Words>
  <Application>Microsoft Office PowerPoint</Application>
  <PresentationFormat>Personalizar</PresentationFormat>
  <Paragraphs>214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Yu Gothic UI Semilight</vt:lpstr>
      <vt:lpstr>Aptos</vt:lpstr>
      <vt:lpstr>Arial</vt:lpstr>
      <vt:lpstr>Calibri</vt:lpstr>
      <vt:lpstr>Cambria Math</vt:lpstr>
      <vt:lpstr>Segoe UI Symbol</vt:lpstr>
      <vt:lpstr>Tahoma</vt:lpstr>
      <vt:lpstr>Trebuchet MS</vt:lpstr>
      <vt:lpstr>Office Theme</vt:lpstr>
      <vt:lpstr>Apresentação do PowerPoint</vt:lpstr>
      <vt:lpstr>Aplica¸co˜es da lo´gica proposicional: Introdu¸c˜ao</vt:lpstr>
      <vt:lpstr>Traduzindo senten¸cas em linguagem natural</vt:lpstr>
      <vt:lpstr>Traduzindo senten¸cas em linguagem natural</vt:lpstr>
      <vt:lpstr>Especifica¸c˜ao de sistemas</vt:lpstr>
      <vt:lpstr>Especifica¸c˜ao de Sistemas</vt:lpstr>
      <vt:lpstr>Especifica¸c˜ao de sistemas</vt:lpstr>
      <vt:lpstr>Especifica¸c˜ao de sistemas</vt:lpstr>
      <vt:lpstr>Equivalˆencias Proposicionais</vt:lpstr>
      <vt:lpstr>Equivalˆencia de proposi¸co˜es: Introdu¸c˜ao</vt:lpstr>
      <vt:lpstr>Equivalˆencias lo´gicas</vt:lpstr>
      <vt:lpstr>Equivalˆencias lo´gicas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Lógica Proposicional: Aplicações, Equivalências</dc:title>
  <dc:creator>Área de Teoria DCC/UFMG</dc:creator>
  <cp:lastModifiedBy>Carlos Neto</cp:lastModifiedBy>
  <cp:revision>7</cp:revision>
  <dcterms:created xsi:type="dcterms:W3CDTF">2026-08-26T00:08:40Z</dcterms:created>
  <dcterms:modified xsi:type="dcterms:W3CDTF">2026-09-25T13:44:00Z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2024-03-12T00:00:00Z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2026-08-26T00:00:00Z</vt:filetime>
  </property>
  <property fmtid="{D5CDD505-2E9C-101B-9397-08002B2CF9AE}" pid="6" name="PTEX.Fullbanner">
    <vt:lpwstr>This is pdfTeX, Version 3.14159265-2.6-1.40.20 (TeX Live 2019/Debian) kpathsea version 6.3.1</vt:lpwstr>
  </property>
  <property fmtid="{D5CDD505-2E9C-101B-9397-08002B2CF9AE}" pid="7" name="Producer">
    <vt:lpwstr>pdfTeX-1.40.20</vt:lpwstr>
  </property>
</Properties>
</file>
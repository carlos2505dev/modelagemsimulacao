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5" r:id="rId1"/>
  </p:sldMasterIdLst>
  <p:notesMasterIdLst>
    <p:notesMasterId r:id="rId28"/>
  </p:notesMasterIdLst>
  <p:sldIdLst>
    <p:sldId id="270" r:id="rId2"/>
    <p:sldId id="258" r:id="rId3"/>
    <p:sldId id="331" r:id="rId4"/>
    <p:sldId id="352" r:id="rId5"/>
    <p:sldId id="332" r:id="rId6"/>
    <p:sldId id="334" r:id="rId7"/>
    <p:sldId id="333" r:id="rId8"/>
    <p:sldId id="353" r:id="rId9"/>
    <p:sldId id="335" r:id="rId10"/>
    <p:sldId id="336" r:id="rId11"/>
    <p:sldId id="262" r:id="rId12"/>
    <p:sldId id="337" r:id="rId13"/>
    <p:sldId id="338" r:id="rId14"/>
    <p:sldId id="339" r:id="rId15"/>
    <p:sldId id="263" r:id="rId16"/>
    <p:sldId id="340" r:id="rId17"/>
    <p:sldId id="341" r:id="rId18"/>
    <p:sldId id="342" r:id="rId19"/>
    <p:sldId id="343" r:id="rId20"/>
    <p:sldId id="344" r:id="rId21"/>
    <p:sldId id="349" r:id="rId22"/>
    <p:sldId id="350" r:id="rId23"/>
    <p:sldId id="363" r:id="rId24"/>
    <p:sldId id="364" r:id="rId25"/>
    <p:sldId id="264" r:id="rId26"/>
    <p:sldId id="36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FF"/>
    <a:srgbClr val="FFFF0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56" autoAdjust="0"/>
    <p:restoredTop sz="91571" autoAdjust="0"/>
  </p:normalViewPr>
  <p:slideViewPr>
    <p:cSldViewPr>
      <p:cViewPr varScale="1">
        <p:scale>
          <a:sx n="75" d="100"/>
          <a:sy n="75" d="100"/>
        </p:scale>
        <p:origin x="127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6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37D4792-7315-BB49-63D6-89FC13955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41861A-DE5E-8C0A-678F-D6653C480B6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D6EAE09-ED73-4FCC-964F-792ED7C78C5B}" type="datetimeFigureOut">
              <a:rPr lang="pt-BR"/>
              <a:pPr>
                <a:defRPr/>
              </a:pPr>
              <a:t>24/09/2026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38D2A1C-8096-AB68-6F43-1D127E8D9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FD7B915-35AC-7823-46EF-1250D24FF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46DBEA-5EAA-AEA4-F55E-D20E06FCC8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CC93C6-EA9C-7637-3C44-DFF877BDF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A4CD52-A730-48FB-9698-875E20D27B91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A5E6819E-05BE-83B6-2BCF-1B1CCFC204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2732DA48-F9D5-3339-5643-EB995C905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72" name="Espaço Reservado para Número de Slide 3">
            <a:extLst>
              <a:ext uri="{FF2B5EF4-FFF2-40B4-BE49-F238E27FC236}">
                <a16:creationId xmlns:a16="http://schemas.microsoft.com/office/drawing/2014/main" id="{79278615-56AD-B019-3D62-CEFF50B53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4987137-CAC2-4E40-B976-1A6337647B2E}" type="slidenum">
              <a:rPr lang="pt-BR" altLang="pt-B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Imagem de Slide 1">
            <a:extLst>
              <a:ext uri="{FF2B5EF4-FFF2-40B4-BE49-F238E27FC236}">
                <a16:creationId xmlns:a16="http://schemas.microsoft.com/office/drawing/2014/main" id="{98E26D4A-AD63-CB16-EAA6-E6F39D7B5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ço Reservado para Anotações 2">
            <a:extLst>
              <a:ext uri="{FF2B5EF4-FFF2-40B4-BE49-F238E27FC236}">
                <a16:creationId xmlns:a16="http://schemas.microsoft.com/office/drawing/2014/main" id="{788CFA77-D40F-0E41-E831-BE0E5052F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6628" name="Espaço Reservado para Número de Slide 3">
            <a:extLst>
              <a:ext uri="{FF2B5EF4-FFF2-40B4-BE49-F238E27FC236}">
                <a16:creationId xmlns:a16="http://schemas.microsoft.com/office/drawing/2014/main" id="{6A7822EC-3625-0CF6-DB40-AB412508F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9AA41D-FBC0-4B6E-96F6-A1C26344F921}" type="slidenum">
              <a:rPr lang="pt-BR" altLang="pt-B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>
            <a:extLst>
              <a:ext uri="{FF2B5EF4-FFF2-40B4-BE49-F238E27FC236}">
                <a16:creationId xmlns:a16="http://schemas.microsoft.com/office/drawing/2014/main" id="{21D28C10-A9EF-EB2F-E577-F092EC75F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Espaço Reservado para Anotações 2">
            <a:extLst>
              <a:ext uri="{FF2B5EF4-FFF2-40B4-BE49-F238E27FC236}">
                <a16:creationId xmlns:a16="http://schemas.microsoft.com/office/drawing/2014/main" id="{B514F600-1702-6C2F-E782-2791E409C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9700" name="Espaço Reservado para Número de Slide 3">
            <a:extLst>
              <a:ext uri="{FF2B5EF4-FFF2-40B4-BE49-F238E27FC236}">
                <a16:creationId xmlns:a16="http://schemas.microsoft.com/office/drawing/2014/main" id="{F3994823-D36A-DF33-F6FD-97CE5061AC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2A1B57B-3113-4CEC-A05C-5B6FB9C981AD}" type="slidenum">
              <a:rPr lang="pt-BR" altLang="pt-B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>
            <a:extLst>
              <a:ext uri="{FF2B5EF4-FFF2-40B4-BE49-F238E27FC236}">
                <a16:creationId xmlns:a16="http://schemas.microsoft.com/office/drawing/2014/main" id="{F6A36B52-7706-6DBF-61FD-DD569DC296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Espaço Reservado para Anotações 2">
            <a:extLst>
              <a:ext uri="{FF2B5EF4-FFF2-40B4-BE49-F238E27FC236}">
                <a16:creationId xmlns:a16="http://schemas.microsoft.com/office/drawing/2014/main" id="{4E365E5F-856B-C3DA-1EE4-A694390A7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0180" name="Espaço Reservado para Número de Slide 3">
            <a:extLst>
              <a:ext uri="{FF2B5EF4-FFF2-40B4-BE49-F238E27FC236}">
                <a16:creationId xmlns:a16="http://schemas.microsoft.com/office/drawing/2014/main" id="{D07A6A72-0659-1A8B-7E0C-67E452C1B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63B3245-F3AC-4DFE-9469-2D95D86137D5}" type="slidenum">
              <a:rPr lang="pt-BR" altLang="pt-B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>
              <a:defRPr/>
            </a:pPr>
            <a:fld id="{CECD4802-5D2C-4276-B049-36E713777CD4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9198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15497-2D8D-4FE0-B641-42026F113FD9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57658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>
              <a:defRPr/>
            </a:pPr>
            <a:fld id="{56FA2A48-B4EF-4043-A953-6417A26C25AE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40797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>
              <a:defRPr/>
            </a:pPr>
            <a:fld id="{73998D1F-2957-434E-95BB-97DB3C4A4406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82797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>
              <a:defRPr/>
            </a:pPr>
            <a:fld id="{9DFFE67E-DD7D-4585-B177-0FAA9E1DDF6F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7669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1980A-76A1-49EF-9767-954B1928444B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70308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62CED4-EC0B-4FB5-A0CF-5DB06A3AE6E5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34171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EEB726-04BA-48FB-A955-D2DFBBF7AD6F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2035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C2019AA9-46D3-42CF-B580-D482A6A999E8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2220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>
              <a:defRPr/>
            </a:pPr>
            <a:fld id="{BD0371CD-2415-44AB-9053-AB06C8907C28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0676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>
              <a:defRPr/>
            </a:pPr>
            <a:fld id="{532B8E0B-6C12-4F3F-A308-0CC1E6EB5B0C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368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68F9A674-3A94-49B1-80A9-D984B5030293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6109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68F9A674-3A94-49B1-80A9-D984B5030293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9268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>
              <a:defRPr/>
            </a:pPr>
            <a:fld id="{68F9A674-3A94-49B1-80A9-D984B5030293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43187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7973D9-AF57-406F-AF86-92FDDB94F031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170267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B23773-E38D-4BED-AA58-D37A17A233C8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5837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68F9A674-3A94-49B1-80A9-D984B5030293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52037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77" r:id="rId2"/>
    <p:sldLayoutId id="2147484678" r:id="rId3"/>
    <p:sldLayoutId id="2147484679" r:id="rId4"/>
    <p:sldLayoutId id="2147484680" r:id="rId5"/>
    <p:sldLayoutId id="2147484681" r:id="rId6"/>
    <p:sldLayoutId id="2147484682" r:id="rId7"/>
    <p:sldLayoutId id="2147484683" r:id="rId8"/>
    <p:sldLayoutId id="2147484684" r:id="rId9"/>
    <p:sldLayoutId id="2147484685" r:id="rId10"/>
    <p:sldLayoutId id="2147484686" r:id="rId11"/>
    <p:sldLayoutId id="2147484687" r:id="rId12"/>
    <p:sldLayoutId id="2147484688" r:id="rId13"/>
    <p:sldLayoutId id="2147484689" r:id="rId14"/>
    <p:sldLayoutId id="2147484690" r:id="rId15"/>
    <p:sldLayoutId id="214748469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damateria.com.br/tabela-verdade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DD81AE-904B-71BB-444C-D03B32857CD4}"/>
              </a:ext>
            </a:extLst>
          </p:cNvPr>
          <p:cNvSpPr/>
          <p:nvPr/>
        </p:nvSpPr>
        <p:spPr>
          <a:xfrm>
            <a:off x="407368" y="205472"/>
            <a:ext cx="111612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MODELAGEM 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SIMULAÇÃO MATEMÁTICA 2026-2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AULA 02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76531" y="507470"/>
            <a:ext cx="998396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Conceitos principais: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30" y="1757630"/>
            <a:ext cx="10436119" cy="1075723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58" y="3057151"/>
            <a:ext cx="10317191" cy="119287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8" y="4473826"/>
            <a:ext cx="10317191" cy="97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2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342DCA3-D02F-C4DC-7D5D-441C48171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908050"/>
            <a:ext cx="11880576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chemeClr val="tx1"/>
                </a:solidFill>
              </a:rPr>
              <a:t>No estudo da lógica matemática, o conceito mais básico é o de Proposição, que vem do verbo propor, ou seja, significa submeter à apreciação.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rgbClr val="7030A0"/>
                </a:solidFill>
              </a:rPr>
              <a:t>Uma proposição também é vista como uma sentença e pode ser descrita em uma linguagem (formal ou não).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rgbClr val="0070C0"/>
                </a:solidFill>
              </a:rPr>
              <a:t>Uma proposição é uma declaração afirmativa à qual se pode associar um valor verdadeiro ou falso, mas não ambos.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dirty="0">
              <a:solidFill>
                <a:schemeClr val="tx1"/>
              </a:solidFill>
            </a:endParaRPr>
          </a:p>
        </p:txBody>
      </p:sp>
      <p:sp>
        <p:nvSpPr>
          <p:cNvPr id="23555" name="CaixaDeTexto 5">
            <a:extLst>
              <a:ext uri="{FF2B5EF4-FFF2-40B4-BE49-F238E27FC236}">
                <a16:creationId xmlns:a16="http://schemas.microsoft.com/office/drawing/2014/main" id="{1EA40F7B-899C-27DD-800D-E52A54AC6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333375"/>
            <a:ext cx="3600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>
                <a:solidFill>
                  <a:schemeClr val="tx1"/>
                </a:solidFill>
              </a:rPr>
              <a:t>PROPOSIÇÕES</a:t>
            </a:r>
            <a:endParaRPr lang="pt-BR" altLang="pt-BR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754C814-BC1B-E936-A71F-C95B3F2E9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52513"/>
            <a:ext cx="11928648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Por exemplo, </a:t>
            </a:r>
            <a:r>
              <a:rPr lang="pt-BR" altLang="pt-BR" sz="2800" b="1" dirty="0">
                <a:solidFill>
                  <a:srgbClr val="0033CC"/>
                </a:solidFill>
              </a:rPr>
              <a:t>“O Brasil fica na América” </a:t>
            </a:r>
            <a:r>
              <a:rPr lang="pt-BR" altLang="pt-BR" sz="2800" b="1" dirty="0">
                <a:solidFill>
                  <a:schemeClr val="tx1"/>
                </a:solidFill>
              </a:rPr>
              <a:t>é uma proposição verdadeira (V), enquanto </a:t>
            </a:r>
            <a:r>
              <a:rPr lang="pt-BR" altLang="pt-BR" sz="2800" b="1" dirty="0">
                <a:solidFill>
                  <a:schemeClr val="accent5">
                    <a:lumMod val="75000"/>
                  </a:schemeClr>
                </a:solidFill>
              </a:rPr>
              <a:t>“A lua é de queijo” </a:t>
            </a:r>
            <a:r>
              <a:rPr lang="pt-BR" altLang="pt-BR" sz="2800" b="1" dirty="0">
                <a:solidFill>
                  <a:schemeClr val="tx1"/>
                </a:solidFill>
              </a:rPr>
              <a:t>é uma proposição falsa (F).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A proposição é o elemento básico a partir do qual os argumentos são construídos, sendo também o principal objeto de estudo na lógica proposicional</a:t>
            </a:r>
            <a:r>
              <a:rPr lang="pt-BR" altLang="pt-BR" sz="3600" b="1" dirty="0">
                <a:solidFill>
                  <a:srgbClr val="7030A0"/>
                </a:solidFill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8E07B8D-E2BB-1076-53F1-09FFD1C6B286}"/>
              </a:ext>
            </a:extLst>
          </p:cNvPr>
          <p:cNvSpPr txBox="1"/>
          <p:nvPr/>
        </p:nvSpPr>
        <p:spPr>
          <a:xfrm>
            <a:off x="119063" y="836613"/>
            <a:ext cx="11306175" cy="61247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Sentenças não declarativas não podem ser consideradas proposições pois não possuem apenas um valor associado (verdadeiro ou falso).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800" b="1" dirty="0">
              <a:latin typeface="+mn-lt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Por exemplo: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800" b="1" dirty="0">
                <a:latin typeface="+mn-lt"/>
              </a:rPr>
              <a:t>Sentenças Interrogativas: </a:t>
            </a:r>
            <a:r>
              <a:rPr lang="pt-BR" sz="2800" b="1" dirty="0">
                <a:solidFill>
                  <a:srgbClr val="7030A0"/>
                </a:solidFill>
                <a:latin typeface="+mn-lt"/>
              </a:rPr>
              <a:t>Onde você mora? Qual é o carro preto?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800" b="1" dirty="0">
                <a:latin typeface="+mn-lt"/>
              </a:rPr>
              <a:t>Sentenças Imperativas: </a:t>
            </a:r>
            <a:r>
              <a:rPr lang="pt-BR" sz="2800" b="1" dirty="0">
                <a:solidFill>
                  <a:srgbClr val="7030A0"/>
                </a:solidFill>
                <a:latin typeface="+mn-lt"/>
              </a:rPr>
              <a:t>Maria, compareça à recepção, por favor.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2800" b="1" dirty="0">
              <a:latin typeface="+mn-lt"/>
            </a:endParaRP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800" b="1" dirty="0">
                <a:latin typeface="+mn-lt"/>
              </a:rPr>
              <a:t>Sentenças Exclamativas: </a:t>
            </a:r>
            <a:r>
              <a:rPr lang="pt-BR" sz="2800" b="1" dirty="0">
                <a:solidFill>
                  <a:srgbClr val="7030A0"/>
                </a:solidFill>
                <a:latin typeface="+mn-lt"/>
              </a:rPr>
              <a:t>Todo mundo está sujeito a cometer erros!  Nossa, que foto bonita! </a:t>
            </a:r>
          </a:p>
        </p:txBody>
      </p:sp>
      <p:sp>
        <p:nvSpPr>
          <p:cNvPr id="25603" name="CaixaDeTexto 3">
            <a:extLst>
              <a:ext uri="{FF2B5EF4-FFF2-40B4-BE49-F238E27FC236}">
                <a16:creationId xmlns:a16="http://schemas.microsoft.com/office/drawing/2014/main" id="{459205A8-2AEE-697A-4E06-0CF69858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188913"/>
            <a:ext cx="22320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ATENÇÃO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A9B29C7-8F34-E926-1258-2BA5AC339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765175"/>
            <a:ext cx="11521801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Cabe ressaltar que algumas sentenças declarativas também não podem ser analisadas, principalmente quando são descritas por linguagens não formais ou quando apresentam alguma ambiguidade e não é possível atribuir um valor lógico (verdadeiro ou falso)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rgbClr val="7030A0"/>
                </a:solidFill>
              </a:rPr>
              <a:t>Por exemplo: Eu encontrei Maria com uma camisa amarela. Nesse caso, a sentença é ambígua, pois pode significar que “eu estava com uma camisa amarela” ou que “Maria estava com uma camisa amarela”.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89DD75-CA38-A755-DF99-BF3B902B6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332656"/>
            <a:ext cx="11928648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Desta forma, temos que proposições são sentenças onde é possível atribuir apenas um valor lógico: </a:t>
            </a:r>
            <a:r>
              <a:rPr lang="pt-BR" altLang="pt-BR" sz="2800" b="1" dirty="0">
                <a:solidFill>
                  <a:srgbClr val="002060"/>
                </a:solidFill>
              </a:rPr>
              <a:t>verdadeiro ou falso</a:t>
            </a:r>
            <a:r>
              <a:rPr lang="pt-BR" altLang="pt-BR" sz="2800" b="1" dirty="0">
                <a:solidFill>
                  <a:schemeClr val="tx1"/>
                </a:solidFill>
              </a:rPr>
              <a:t>. Usualmente as proposições são representadas por letras minúsculas (por exemplo: p, q, r, s, t)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Alguns exemplos de proposições válidas: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p: Carlos é professor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q: 1 &gt; 5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rgbClr val="7030A0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Se afirmarmos que a proposição p é verdadeira, ou seja, Carlos é professor, então podemos dizer que o valor lógico da proposição p é verdadeiro – ou pela equação: VL(p)=V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D86AE3C-6F6C-D499-DCB1-9E278A5A9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7" y="1196752"/>
            <a:ext cx="12072664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No caso da proposição q, é falsa pois 1 não é maior que 5, então temos que: VL(q)=F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Podemos observar que as proposições p e q assumem sempre um valor lógico e isso é válido para qualquer proposição lógica.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rgbClr val="7030A0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33CC"/>
                </a:solidFill>
              </a:rPr>
              <a:t>Não existe a possibilidade de uma proposição assumir mais de um valor lógico.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accent1"/>
                </a:solidFill>
              </a:rPr>
              <a:t>Isso se aplica porque as proposições seguem algumas propriedades que devem ser sempre obedecidas: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9801036-7931-04C4-86D2-1DF31F1F159B}"/>
              </a:ext>
            </a:extLst>
          </p:cNvPr>
          <p:cNvSpPr txBox="1"/>
          <p:nvPr/>
        </p:nvSpPr>
        <p:spPr>
          <a:xfrm>
            <a:off x="222568" y="335845"/>
            <a:ext cx="120006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3200" b="1" dirty="0">
                <a:solidFill>
                  <a:srgbClr val="002060"/>
                </a:solidFill>
                <a:latin typeface="+mn-lt"/>
              </a:rPr>
              <a:t>Princípio da identidade</a:t>
            </a:r>
            <a:r>
              <a:rPr lang="pt-BR" sz="3200" b="1" dirty="0">
                <a:latin typeface="+mn-lt"/>
              </a:rPr>
              <a:t>: </a:t>
            </a:r>
            <a:r>
              <a:rPr lang="pt-BR" sz="2800" b="1" dirty="0">
                <a:latin typeface="+mn-lt"/>
              </a:rPr>
              <a:t>tudo é idêntico a si mesmo. Por exemplo, a proposição p é igual à p (p = p), mesmo se existir p = q.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3200" b="1" dirty="0">
                <a:solidFill>
                  <a:srgbClr val="7030A0"/>
                </a:solidFill>
                <a:latin typeface="+mn-lt"/>
              </a:rPr>
              <a:t>Princípio da não-contradição: </a:t>
            </a:r>
            <a:r>
              <a:rPr lang="pt-BR" sz="2400" b="1" dirty="0">
                <a:latin typeface="+mn-lt"/>
              </a:rPr>
              <a:t>uma proposição não pode ser verdadeira e falsa ao mesmo tempo. Por exemplo, dada uma proposição p ela é ou verdadeira ou falsa e nunca assume os dois estados ao mesmo tempo.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24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b="1" dirty="0">
                <a:latin typeface="+mn-lt"/>
              </a:rPr>
              <a:t> </a:t>
            </a:r>
            <a:r>
              <a:rPr lang="pt-BR" sz="3200" b="1" dirty="0">
                <a:solidFill>
                  <a:srgbClr val="0033CC"/>
                </a:solidFill>
                <a:latin typeface="+mn-lt"/>
              </a:rPr>
              <a:t>Princípio do terceiro excluído</a:t>
            </a:r>
            <a:r>
              <a:rPr lang="pt-BR" sz="2400" b="1" dirty="0">
                <a:latin typeface="+mn-lt"/>
              </a:rPr>
              <a:t>: toda proposição ou é verdadeira ou é falsa, isto é, verifica-se sempre um destes casos e nunca um terceiro.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latin typeface="+mn-lt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/>
              <a:t>	</a:t>
            </a:r>
            <a:r>
              <a:rPr lang="pt-BR" sz="2400" b="1" dirty="0">
                <a:latin typeface="+mn-lt"/>
              </a:rPr>
              <a:t>Ou seja, neste sistema de raciocínio tem-se estabelecido somente dois 	“estados de verdade”, isto é, a “verdade” e a “não verdade” 	(“falsidade”).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2">
            <a:extLst>
              <a:ext uri="{FF2B5EF4-FFF2-40B4-BE49-F238E27FC236}">
                <a16:creationId xmlns:a16="http://schemas.microsoft.com/office/drawing/2014/main" id="{F3265025-878F-AAE6-F3A8-98896B693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404813"/>
            <a:ext cx="9721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OPERAÇÕES LÓGICAS SOBRE PROPOSIÇÕES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4ED7F4-9F02-EF53-CA27-D117D4427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44" y="1167974"/>
            <a:ext cx="11737304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Proposições podem ser consideradas simples ou compostas.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Serão proposições simples aquelas que vêm sozinhas, desacompanhadas de outras proposições.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33CC"/>
                </a:solidFill>
              </a:rPr>
              <a:t>Por exemplo, duas proposições simples: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33CC"/>
                </a:solidFill>
              </a:rPr>
              <a:t> p: O carro é azul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33CC"/>
                </a:solidFill>
              </a:rPr>
              <a:t> q: João é motorista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2060"/>
                </a:solidFill>
              </a:rPr>
              <a:t>Caso combinarmos as duas proposições, temos uma proposição composta, ou seja, duas (ou mais) proposições vêm conectadas entre si, formando uma só sentença. Por exemplo, podemos conectar as proposições p e q com conectores lógicos: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404664"/>
            <a:ext cx="12192000" cy="2550017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3331112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solidFill>
                  <a:srgbClr val="0033CC"/>
                </a:solidFill>
                <a:effectLst/>
                <a:latin typeface="Roboto"/>
              </a:rPr>
              <a:t>Na proposição "O céu é azul e as nuvens são brancas" o elemento e é um conectivo que une duas proposições. Já na proposição "O céu não é azul" o conectivo não modifica a proposição.</a:t>
            </a:r>
            <a:endParaRPr lang="pt-BR" sz="2800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09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2">
            <a:extLst>
              <a:ext uri="{FF2B5EF4-FFF2-40B4-BE49-F238E27FC236}">
                <a16:creationId xmlns:a16="http://schemas.microsoft.com/office/drawing/2014/main" id="{97D943D9-A8A9-89D7-99A1-F824F455E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363915"/>
            <a:ext cx="10514012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r: O carro é azul e João é motorista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rgbClr val="002060"/>
                </a:solidFill>
              </a:rPr>
              <a:t>Desta forma, quando pensamos, muitas vezes efetuamos cálculos (ou operações) sobre proposições.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rgbClr val="002060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 </a:t>
            </a:r>
            <a:r>
              <a:rPr lang="pt-BR" altLang="pt-BR" sz="3200" b="1" dirty="0">
                <a:solidFill>
                  <a:srgbClr val="7030A0"/>
                </a:solidFill>
              </a:rPr>
              <a:t>Esse cálculo é denominado cálculo proposicional e se assemelha à aritmética dos números.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rgbClr val="0033CC"/>
                </a:solidFill>
              </a:rPr>
              <a:t>Essas operações também resultam em um valor VERDADEIRO ou FALSO.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rgbClr val="0033CC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 </a:t>
            </a:r>
            <a:r>
              <a:rPr lang="pt-BR" altLang="pt-BR" sz="3200" b="1" dirty="0">
                <a:solidFill>
                  <a:srgbClr val="0070C0"/>
                </a:solidFill>
              </a:rPr>
              <a:t>A seguir são apresentadas as operações sobre proposições: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D798E56-AB0F-3CBD-18E4-EAEFD25E0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88913"/>
            <a:ext cx="12000655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chemeClr val="tx1"/>
                </a:solidFill>
              </a:rPr>
              <a:t>NEGAÇÃO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chemeClr val="tx1"/>
                </a:solidFill>
              </a:rPr>
              <a:t> Dada uma proposição </a:t>
            </a:r>
            <a:r>
              <a:rPr lang="pt-BR" altLang="pt-BR" sz="3600" b="1" dirty="0">
                <a:solidFill>
                  <a:srgbClr val="0070C0"/>
                </a:solidFill>
              </a:rPr>
              <a:t>p</a:t>
            </a:r>
            <a:r>
              <a:rPr lang="pt-BR" altLang="pt-BR" sz="3600" b="1" dirty="0">
                <a:solidFill>
                  <a:schemeClr val="tx1"/>
                </a:solidFill>
              </a:rPr>
              <a:t>, denomina-se a </a:t>
            </a:r>
            <a:r>
              <a:rPr lang="pt-BR" altLang="pt-BR" sz="3600" b="1" dirty="0">
                <a:solidFill>
                  <a:srgbClr val="0033CC"/>
                </a:solidFill>
              </a:rPr>
              <a:t>negação de p</a:t>
            </a:r>
            <a:r>
              <a:rPr lang="pt-BR" altLang="pt-BR" sz="3600" b="1" dirty="0">
                <a:solidFill>
                  <a:schemeClr val="tx1"/>
                </a:solidFill>
              </a:rPr>
              <a:t> a proposição representada por </a:t>
            </a:r>
            <a:r>
              <a:rPr lang="pt-BR" altLang="pt-BR" sz="3600" b="1" dirty="0">
                <a:solidFill>
                  <a:srgbClr val="7030A0"/>
                </a:solidFill>
              </a:rPr>
              <a:t>“não p”, </a:t>
            </a:r>
            <a:r>
              <a:rPr lang="pt-BR" altLang="pt-BR" sz="3600" b="1" dirty="0">
                <a:solidFill>
                  <a:schemeClr val="tx1"/>
                </a:solidFill>
              </a:rPr>
              <a:t>no qual o valor lógico é verdade quando p é falso e falso quando o valor de p é verdadeiro.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chemeClr val="tx1"/>
                </a:solidFill>
              </a:rPr>
              <a:t>Desta forma, “não p” tem o valor lógico oposto daquele de p.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chemeClr val="tx1"/>
                </a:solidFill>
              </a:rPr>
              <a:t>Simbolicamente, podemos expressar a negação de um valor p por </a:t>
            </a:r>
            <a:r>
              <a:rPr lang="pt-BR" altLang="pt-BR" sz="3600" b="1" dirty="0">
                <a:solidFill>
                  <a:srgbClr val="7030A0"/>
                </a:solidFill>
              </a:rPr>
              <a:t>~p</a:t>
            </a:r>
            <a:r>
              <a:rPr lang="pt-BR" altLang="pt-BR" sz="3600" b="1" dirty="0">
                <a:solidFill>
                  <a:schemeClr val="tx1"/>
                </a:solidFill>
              </a:rPr>
              <a:t>, que se lê “</a:t>
            </a:r>
            <a:r>
              <a:rPr lang="pt-BR" altLang="pt-BR" sz="3600" b="1" dirty="0">
                <a:solidFill>
                  <a:srgbClr val="7030A0"/>
                </a:solidFill>
              </a:rPr>
              <a:t>não p</a:t>
            </a:r>
            <a:r>
              <a:rPr lang="pt-BR" altLang="pt-BR" sz="3600" b="1" dirty="0">
                <a:solidFill>
                  <a:schemeClr val="tx1"/>
                </a:solidFill>
              </a:rPr>
              <a:t>”.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4348263-A2C0-796C-2A95-20CE511ED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836695"/>
              </p:ext>
            </p:extLst>
          </p:nvPr>
        </p:nvGraphicFramePr>
        <p:xfrm>
          <a:off x="3791744" y="1422400"/>
          <a:ext cx="5112568" cy="2235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847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p</a:t>
                      </a:r>
                    </a:p>
                  </a:txBody>
                  <a:tcPr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~p</a:t>
                      </a:r>
                    </a:p>
                  </a:txBody>
                  <a:tcPr marT="45705" marB="457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18">
                <a:tc gridSpan="2"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 marT="45705" marB="45705"/>
                </a:tc>
                <a:tc hMerge="1"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 marT="45705" marB="457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18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V</a:t>
                      </a:r>
                    </a:p>
                  </a:txBody>
                  <a:tcPr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F</a:t>
                      </a:r>
                    </a:p>
                  </a:txBody>
                  <a:tcPr marT="45705" marB="457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18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F</a:t>
                      </a:r>
                    </a:p>
                  </a:txBody>
                  <a:tcPr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V</a:t>
                      </a:r>
                    </a:p>
                  </a:txBody>
                  <a:tcPr marT="45705" marB="4570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859" name="CaixaDeTexto 4">
            <a:extLst>
              <a:ext uri="{FF2B5EF4-FFF2-40B4-BE49-F238E27FC236}">
                <a16:creationId xmlns:a16="http://schemas.microsoft.com/office/drawing/2014/main" id="{24C93562-5804-AB7F-24E2-491FD8BC2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333375"/>
            <a:ext cx="102266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O valor lógico da negação de uma proposição é, portanto, definido pela Tabela abaixo denominada tabela verdade</a:t>
            </a:r>
            <a:endParaRPr lang="pt-BR" altLang="pt-BR" sz="2800" dirty="0">
              <a:solidFill>
                <a:schemeClr val="tx1"/>
              </a:solidFill>
            </a:endParaRPr>
          </a:p>
        </p:txBody>
      </p:sp>
      <p:sp>
        <p:nvSpPr>
          <p:cNvPr id="35860" name="CaixaDeTexto 6">
            <a:extLst>
              <a:ext uri="{FF2B5EF4-FFF2-40B4-BE49-F238E27FC236}">
                <a16:creationId xmlns:a16="http://schemas.microsoft.com/office/drawing/2014/main" id="{7EF2A608-894F-8B79-8821-537895E41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4305300"/>
            <a:ext cx="610393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Assim, podemos concluir que: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 ~V = 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 ~F = 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791744" y="476959"/>
            <a:ext cx="7056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b="1" i="0" dirty="0">
                <a:solidFill>
                  <a:srgbClr val="404040"/>
                </a:solidFill>
                <a:effectLst/>
                <a:latin typeface="Roboto"/>
              </a:rPr>
              <a:t>Tabela Verdade</a:t>
            </a:r>
          </a:p>
        </p:txBody>
      </p:sp>
      <p:sp>
        <p:nvSpPr>
          <p:cNvPr id="3" name="Retângulo 2"/>
          <p:cNvSpPr/>
          <p:nvPr/>
        </p:nvSpPr>
        <p:spPr>
          <a:xfrm>
            <a:off x="516535" y="1408991"/>
            <a:ext cx="110873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b="0" i="0" dirty="0">
                <a:solidFill>
                  <a:srgbClr val="0033CC"/>
                </a:solidFill>
                <a:effectLst/>
                <a:latin typeface="Roboto"/>
              </a:rPr>
              <a:t>Quando temos proposições compostas, os valores lógicos resultantes dependem única e exclusivamente dos valores de cada proposição simples.</a:t>
            </a:r>
            <a:endParaRPr lang="pt-BR" sz="3200" dirty="0">
              <a:solidFill>
                <a:srgbClr val="0033CC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16534" y="3550053"/>
            <a:ext cx="1108732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000" b="0" i="0" dirty="0">
                <a:solidFill>
                  <a:srgbClr val="7030A0"/>
                </a:solidFill>
                <a:effectLst/>
                <a:latin typeface="Roboto"/>
              </a:rPr>
              <a:t>Diante disso, utilizamos um dispositivo chamado </a:t>
            </a:r>
            <a:r>
              <a:rPr lang="pt-BR" sz="3000" b="0" i="0" u="sng" dirty="0">
                <a:solidFill>
                  <a:srgbClr val="7030A0"/>
                </a:solidFill>
                <a:effectLst/>
                <a:latin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tabela verdade</a:t>
            </a:r>
            <a:r>
              <a:rPr lang="pt-BR" sz="3000" b="0" i="0" dirty="0">
                <a:solidFill>
                  <a:srgbClr val="7030A0"/>
                </a:solidFill>
                <a:effectLst/>
                <a:latin typeface="Roboto"/>
              </a:rPr>
              <a:t> ou tabela de verdade, onde são colocados os valores de cada proposição e de acordo com os conectivos presentes chegamos ao valor lógico final.</a:t>
            </a:r>
            <a:endParaRPr lang="pt-BR" sz="3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67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aixaDeTexto 2">
            <a:extLst>
              <a:ext uri="{FF2B5EF4-FFF2-40B4-BE49-F238E27FC236}">
                <a16:creationId xmlns:a16="http://schemas.microsoft.com/office/drawing/2014/main" id="{3DA5EA65-C275-229C-9300-6FA65EC57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692150"/>
            <a:ext cx="1180856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 dirty="0">
                <a:solidFill>
                  <a:schemeClr val="tx1"/>
                </a:solidFill>
              </a:rPr>
              <a:t>CONJUNÇÃO</a:t>
            </a: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33CC"/>
                </a:solidFill>
              </a:rPr>
              <a:t>Dada duas proposições p e q, define-se por conjunção o operador “e” (simbolicamente representado por ^), onde “p ^ q” possui o valor lógico Verdade se ambas as proposições (p e q) são verdade.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7030A0"/>
                </a:solidFill>
              </a:rPr>
              <a:t>Da mesma forma, pode possuir o valor lógico Falso se ambas as proposições (p e q) são falsas.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FF0000"/>
                </a:solidFill>
              </a:rPr>
              <a:t>Simbolicamente, a representação da conjunção entre duas proposições é representada por “</a:t>
            </a:r>
            <a:r>
              <a:rPr lang="pt-BR" altLang="pt-BR" sz="2800" b="1" dirty="0">
                <a:solidFill>
                  <a:srgbClr val="0033CC"/>
                </a:solidFill>
              </a:rPr>
              <a:t>p ^ q</a:t>
            </a:r>
            <a:r>
              <a:rPr lang="pt-BR" altLang="pt-BR" sz="2800" b="1" dirty="0">
                <a:solidFill>
                  <a:srgbClr val="FF0000"/>
                </a:solidFill>
              </a:rPr>
              <a:t>”, onde se lê “p e q”.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2">
            <a:extLst>
              <a:ext uri="{FF2B5EF4-FFF2-40B4-BE49-F238E27FC236}">
                <a16:creationId xmlns:a16="http://schemas.microsoft.com/office/drawing/2014/main" id="{5DB4CDC5-3BF1-1C08-D175-1B8D2793A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2746375"/>
            <a:ext cx="3692897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 dirty="0">
                <a:solidFill>
                  <a:schemeClr val="tx1"/>
                </a:solidFill>
              </a:rPr>
              <a:t>V ^ V = V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 dirty="0">
                <a:solidFill>
                  <a:schemeClr val="tx1"/>
                </a:solidFill>
              </a:rPr>
              <a:t>F ^ F = F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 dirty="0">
                <a:solidFill>
                  <a:schemeClr val="tx1"/>
                </a:solidFill>
              </a:rPr>
              <a:t>V ^ F = F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 dirty="0">
                <a:solidFill>
                  <a:schemeClr val="tx1"/>
                </a:solidFill>
              </a:rPr>
              <a:t>F ^ V = F</a:t>
            </a:r>
          </a:p>
        </p:txBody>
      </p:sp>
      <p:sp>
        <p:nvSpPr>
          <p:cNvPr id="37891" name="CaixaDeTexto 4">
            <a:extLst>
              <a:ext uri="{FF2B5EF4-FFF2-40B4-BE49-F238E27FC236}">
                <a16:creationId xmlns:a16="http://schemas.microsoft.com/office/drawing/2014/main" id="{3D3E7CC1-D8E9-A993-4C32-342257C9C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620713"/>
            <a:ext cx="111601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O valor lógico da conjunção de duas proposições é, portanto, definido pela tabela verdade ABAIXO.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aixaDeTexto 2">
            <a:extLst>
              <a:ext uri="{FF2B5EF4-FFF2-40B4-BE49-F238E27FC236}">
                <a16:creationId xmlns:a16="http://schemas.microsoft.com/office/drawing/2014/main" id="{B9A90168-116C-2881-844B-4B83AC4AA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620713"/>
            <a:ext cx="10872787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DISJUNÇÃO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0033CC"/>
                </a:solidFill>
              </a:rPr>
              <a:t>Dada duas proposições p e q, define-se por disjunção o operador “ou” (simbolicamente representado por v), onde “p v q” possui o valor lógico Verdade se pelo menos uma das proposições (p v q) forem verdade.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7030A0"/>
                </a:solidFill>
              </a:rPr>
              <a:t>Da mesma forma, pode possuir o valor lógico Falso se, e apenas se, ambas as proposições (p v q) forem falsas.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accent1"/>
                </a:solidFill>
              </a:rPr>
              <a:t>Simbolicamente, a representação da disjunção entre duas proposições é representada por “p v q” onde se lê “p ou q”.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aixaDeTexto 2">
            <a:extLst>
              <a:ext uri="{FF2B5EF4-FFF2-40B4-BE49-F238E27FC236}">
                <a16:creationId xmlns:a16="http://schemas.microsoft.com/office/drawing/2014/main" id="{B706176A-C2ED-835E-D8B8-B457665CE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404813"/>
            <a:ext cx="106568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O valor lógico da disjunção de duas proposições é, portanto, definido pela tabela verdade</a:t>
            </a:r>
            <a:endParaRPr lang="pt-BR" altLang="pt-BR" sz="2800" dirty="0">
              <a:solidFill>
                <a:schemeClr val="tx1"/>
              </a:solidFill>
            </a:endParaRPr>
          </a:p>
        </p:txBody>
      </p:sp>
      <p:sp>
        <p:nvSpPr>
          <p:cNvPr id="40963" name="CaixaDeTexto 4">
            <a:extLst>
              <a:ext uri="{FF2B5EF4-FFF2-40B4-BE49-F238E27FC236}">
                <a16:creationId xmlns:a16="http://schemas.microsoft.com/office/drawing/2014/main" id="{FD173E31-B33F-F76A-51FF-F2E839D29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050" y="1989138"/>
            <a:ext cx="3316982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dirty="0">
                <a:solidFill>
                  <a:schemeClr val="tx1"/>
                </a:solidFill>
              </a:rPr>
              <a:t>V </a:t>
            </a:r>
            <a:r>
              <a:rPr lang="pt-BR" altLang="pt-BR" sz="4000" dirty="0" err="1">
                <a:solidFill>
                  <a:schemeClr val="tx1"/>
                </a:solidFill>
              </a:rPr>
              <a:t>v</a:t>
            </a:r>
            <a:r>
              <a:rPr lang="pt-BR" altLang="pt-BR" sz="4000" dirty="0">
                <a:solidFill>
                  <a:schemeClr val="tx1"/>
                </a:solidFill>
              </a:rPr>
              <a:t> </a:t>
            </a:r>
            <a:r>
              <a:rPr lang="pt-BR" altLang="pt-BR" sz="4000" dirty="0" err="1">
                <a:solidFill>
                  <a:schemeClr val="tx1"/>
                </a:solidFill>
              </a:rPr>
              <a:t>V</a:t>
            </a:r>
            <a:r>
              <a:rPr lang="pt-BR" altLang="pt-BR" sz="4000" dirty="0">
                <a:solidFill>
                  <a:schemeClr val="tx1"/>
                </a:solidFill>
              </a:rPr>
              <a:t> = V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dirty="0">
                <a:solidFill>
                  <a:schemeClr val="tx1"/>
                </a:solidFill>
              </a:rPr>
              <a:t>F v F = F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dirty="0">
                <a:solidFill>
                  <a:schemeClr val="tx1"/>
                </a:solidFill>
              </a:rPr>
              <a:t>V </a:t>
            </a:r>
            <a:r>
              <a:rPr lang="pt-BR" altLang="pt-BR" sz="4000" dirty="0" err="1">
                <a:solidFill>
                  <a:schemeClr val="tx1"/>
                </a:solidFill>
              </a:rPr>
              <a:t>v</a:t>
            </a:r>
            <a:r>
              <a:rPr lang="pt-BR" altLang="pt-BR" sz="4000" dirty="0">
                <a:solidFill>
                  <a:schemeClr val="tx1"/>
                </a:solidFill>
              </a:rPr>
              <a:t> F </a:t>
            </a:r>
            <a:r>
              <a:rPr lang="pt-BR" altLang="pt-BR" sz="4000" i="1" dirty="0">
                <a:solidFill>
                  <a:schemeClr val="tx1"/>
                </a:solidFill>
              </a:rPr>
              <a:t>=</a:t>
            </a:r>
            <a:r>
              <a:rPr lang="pt-BR" altLang="pt-BR" sz="4000" dirty="0">
                <a:solidFill>
                  <a:schemeClr val="tx1"/>
                </a:solidFill>
              </a:rPr>
              <a:t> V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dirty="0">
                <a:solidFill>
                  <a:schemeClr val="tx1"/>
                </a:solidFill>
              </a:rPr>
              <a:t>F v </a:t>
            </a:r>
            <a:r>
              <a:rPr lang="pt-BR" altLang="pt-BR" sz="4000" dirty="0" err="1">
                <a:solidFill>
                  <a:schemeClr val="tx1"/>
                </a:solidFill>
              </a:rPr>
              <a:t>V</a:t>
            </a:r>
            <a:r>
              <a:rPr lang="pt-BR" altLang="pt-BR" sz="4000" dirty="0">
                <a:solidFill>
                  <a:schemeClr val="tx1"/>
                </a:solidFill>
              </a:rPr>
              <a:t> = V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58" name="CaixaDeTexto 2">
                <a:extLst>
                  <a:ext uri="{FF2B5EF4-FFF2-40B4-BE49-F238E27FC236}">
                    <a16:creationId xmlns:a16="http://schemas.microsoft.com/office/drawing/2014/main" id="{291AF9FC-B352-F599-3EEF-AA04F1B262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352" y="260648"/>
                <a:ext cx="11665295" cy="76636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600" b="1" dirty="0">
                    <a:solidFill>
                      <a:schemeClr val="tx1"/>
                    </a:solidFill>
                  </a:rPr>
                  <a:t>CONDICIONAL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3200" b="1" dirty="0">
                    <a:solidFill>
                      <a:schemeClr val="tx1"/>
                    </a:solidFill>
                  </a:rPr>
                  <a:t> </a:t>
                </a:r>
                <a:r>
                  <a:rPr lang="pt-BR" altLang="pt-BR" sz="2800" b="1" dirty="0">
                    <a:solidFill>
                      <a:srgbClr val="0033CC"/>
                    </a:solidFill>
                  </a:rPr>
                  <a:t>Dada duas proposições p e q, define-se por condicional o operador “se” (simbolicamente representado por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b="1" dirty="0">
                    <a:solidFill>
                      <a:srgbClr val="0033CC"/>
                    </a:solidFill>
                  </a:rPr>
                  <a:t>), onde “p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b="1" dirty="0">
                    <a:solidFill>
                      <a:srgbClr val="0033CC"/>
                    </a:solidFill>
                  </a:rPr>
                  <a:t> q” possui o valor lógico falso se p for verdade e q for falso.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b="1" dirty="0">
                    <a:solidFill>
                      <a:schemeClr val="accent5">
                        <a:lumMod val="50000"/>
                      </a:schemeClr>
                    </a:solidFill>
                  </a:rPr>
                  <a:t>A representação do condicional entre duas proposições é representada por “p </a:t>
                </a:r>
                <a14:m>
                  <m:oMath xmlns:m="http://schemas.openxmlformats.org/officeDocument/2006/math">
                    <m:r>
                      <a:rPr lang="pt-BR" altLang="pt-BR" sz="2800" b="1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b="1" dirty="0">
                    <a:solidFill>
                      <a:schemeClr val="accent5">
                        <a:lumMod val="50000"/>
                      </a:schemeClr>
                    </a:solidFill>
                  </a:rPr>
                  <a:t> q” onde se lê “se p então q”. </a:t>
                </a: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rgbClr val="0033CC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b="1" dirty="0">
                    <a:solidFill>
                      <a:srgbClr val="7030A0"/>
                    </a:solidFill>
                  </a:rPr>
                  <a:t>Em todos os outros casos o valor lógico sempre será verdadeiro. Assim, podemos concluir que: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dirty="0">
                    <a:solidFill>
                      <a:schemeClr val="tx1"/>
                    </a:solidFill>
                  </a:rPr>
                  <a:t>                              V </a:t>
                </a:r>
                <a14:m>
                  <m:oMath xmlns:m="http://schemas.openxmlformats.org/officeDocument/2006/math">
                    <m:r>
                      <a:rPr lang="pt-BR" altLang="pt-B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dirty="0">
                    <a:solidFill>
                      <a:schemeClr val="tx1"/>
                    </a:solidFill>
                  </a:rPr>
                  <a:t> V = V 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dirty="0">
                    <a:solidFill>
                      <a:schemeClr val="tx1"/>
                    </a:solidFill>
                  </a:rPr>
                  <a:t>                               F </a:t>
                </a:r>
                <a14:m>
                  <m:oMath xmlns:m="http://schemas.openxmlformats.org/officeDocument/2006/math">
                    <m:r>
                      <a:rPr lang="pt-BR" altLang="pt-B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dirty="0">
                    <a:solidFill>
                      <a:schemeClr val="tx1"/>
                    </a:solidFill>
                  </a:rPr>
                  <a:t> F = V 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dirty="0">
                    <a:solidFill>
                      <a:schemeClr val="tx1"/>
                    </a:solidFill>
                  </a:rPr>
                  <a:t>                               V </a:t>
                </a:r>
                <a14:m>
                  <m:oMath xmlns:m="http://schemas.openxmlformats.org/officeDocument/2006/math">
                    <m:r>
                      <a:rPr lang="pt-BR" altLang="pt-B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dirty="0">
                    <a:solidFill>
                      <a:schemeClr val="tx1"/>
                    </a:solidFill>
                  </a:rPr>
                  <a:t> F = F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dirty="0">
                    <a:solidFill>
                      <a:schemeClr val="tx1"/>
                    </a:solidFill>
                  </a:rPr>
                  <a:t>                                F </a:t>
                </a:r>
                <a14:m>
                  <m:oMath xmlns:m="http://schemas.openxmlformats.org/officeDocument/2006/math">
                    <m:r>
                      <a:rPr lang="pt-BR" altLang="pt-B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altLang="pt-BR" sz="2800" dirty="0">
                    <a:solidFill>
                      <a:schemeClr val="tx1"/>
                    </a:solidFill>
                  </a:rPr>
                  <a:t> V = V</a:t>
                </a: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rgbClr val="7030A0"/>
                  </a:solidFill>
                </a:endParaRP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rgbClr val="7030A0"/>
                  </a:solidFill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2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5058" name="CaixaDeTexto 2">
                <a:extLst>
                  <a:ext uri="{FF2B5EF4-FFF2-40B4-BE49-F238E27FC236}">
                    <a16:creationId xmlns:a16="http://schemas.microsoft.com/office/drawing/2014/main" id="{291AF9FC-B352-F599-3EEF-AA04F1B26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52" y="260648"/>
                <a:ext cx="11665295" cy="7663636"/>
              </a:xfrm>
              <a:prstGeom prst="rect">
                <a:avLst/>
              </a:prstGeom>
              <a:blipFill>
                <a:blip r:embed="rId2"/>
                <a:stretch>
                  <a:fillRect l="-1045" t="-1193" r="-10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CaixaDeTexto 2">
                <a:extLst>
                  <a:ext uri="{FF2B5EF4-FFF2-40B4-BE49-F238E27FC236}">
                    <a16:creationId xmlns:a16="http://schemas.microsoft.com/office/drawing/2014/main" id="{4B70CCC6-84A6-1F8E-704F-FEAB2F9DF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962" y="620713"/>
                <a:ext cx="11593685" cy="4955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3600" b="1" dirty="0">
                    <a:solidFill>
                      <a:schemeClr val="tx1"/>
                    </a:solidFill>
                  </a:rPr>
                  <a:t>BICONDICIONAL</a:t>
                </a: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8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b="1" dirty="0">
                    <a:solidFill>
                      <a:srgbClr val="0033CC"/>
                    </a:solidFill>
                  </a:rPr>
                  <a:t>Dada duas proposições p e q, define-se por bicondicional o operador “se e somente se” ( representado por </a:t>
                </a:r>
                <a14:m>
                  <m:oMath xmlns:m="http://schemas.openxmlformats.org/officeDocument/2006/math">
                    <m:r>
                      <a:rPr lang="pt-BR" altLang="pt-BR" sz="2800" b="1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2800" b="1" dirty="0">
                    <a:solidFill>
                      <a:srgbClr val="0033CC"/>
                    </a:solidFill>
                  </a:rPr>
                  <a:t>), onde “p</a:t>
                </a:r>
                <a14:m>
                  <m:oMath xmlns:m="http://schemas.openxmlformats.org/officeDocument/2006/math">
                    <m:r>
                      <a:rPr lang="pt-BR" altLang="pt-BR" sz="2800" b="1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2800" b="1" dirty="0">
                    <a:solidFill>
                      <a:srgbClr val="0033CC"/>
                    </a:solidFill>
                  </a:rPr>
                  <a:t>q” possui o valor lógico Verdade se ambas as proposições forem verdadeiras ou falsas.</a:t>
                </a: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800" b="1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2800" b="1" dirty="0">
                    <a:solidFill>
                      <a:srgbClr val="7030A0"/>
                    </a:solidFill>
                  </a:rPr>
                  <a:t>Em todos os outros casos o valor lógico sempre será Falso. Simbolicamente, a representação do bicondicional entre duas proposições é representada por “p </a:t>
                </a:r>
                <a14:m>
                  <m:oMath xmlns:m="http://schemas.openxmlformats.org/officeDocument/2006/math">
                    <m:r>
                      <a:rPr lang="pt-BR" altLang="pt-BR" sz="2800" b="1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2800" b="1" dirty="0">
                    <a:solidFill>
                      <a:srgbClr val="7030A0"/>
                    </a:solidFill>
                  </a:rPr>
                  <a:t> q”, onde se lê “p se e somente se q”.</a:t>
                </a:r>
              </a:p>
            </p:txBody>
          </p:sp>
        </mc:Choice>
        <mc:Fallback xmlns="">
          <p:sp>
            <p:nvSpPr>
              <p:cNvPr id="46082" name="CaixaDeTexto 2">
                <a:extLst>
                  <a:ext uri="{FF2B5EF4-FFF2-40B4-BE49-F238E27FC236}">
                    <a16:creationId xmlns:a16="http://schemas.microsoft.com/office/drawing/2014/main" id="{4B70CCC6-84A6-1F8E-704F-FEAB2F9DF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2" y="620713"/>
                <a:ext cx="11593685" cy="4955203"/>
              </a:xfrm>
              <a:prstGeom prst="rect">
                <a:avLst/>
              </a:prstGeom>
              <a:blipFill>
                <a:blip r:embed="rId2"/>
                <a:stretch>
                  <a:fillRect l="-1104" t="-1845" r="-1052" b="-25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aixaDeTexto 2">
            <a:extLst>
              <a:ext uri="{FF2B5EF4-FFF2-40B4-BE49-F238E27FC236}">
                <a16:creationId xmlns:a16="http://schemas.microsoft.com/office/drawing/2014/main" id="{F8952A1F-36D4-2E84-2A02-7D9419C11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548680"/>
            <a:ext cx="972026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O valor lógico do bicondicional de duas proposições é, portanto, definido pela tabela verdade a seguir: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CaixaDeTexto 4">
                <a:extLst>
                  <a:ext uri="{FF2B5EF4-FFF2-40B4-BE49-F238E27FC236}">
                    <a16:creationId xmlns:a16="http://schemas.microsoft.com/office/drawing/2014/main" id="{D00588E9-6062-0D7D-93E1-9ED0F869C3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3752" y="2132856"/>
                <a:ext cx="3332857" cy="280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anose="05040102010807070707" pitchFamily="18" charset="2"/>
                  <a:buChar char=""/>
                  <a:defRPr sz="1200">
                    <a:solidFill>
                      <a:srgbClr val="404040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4400" dirty="0">
                    <a:solidFill>
                      <a:schemeClr val="tx1"/>
                    </a:solidFill>
                  </a:rPr>
                  <a:t>V </a:t>
                </a:r>
                <a14:m>
                  <m:oMath xmlns:m="http://schemas.openxmlformats.org/officeDocument/2006/math">
                    <m:r>
                      <a:rPr lang="pt-BR" altLang="pt-BR" sz="4400" b="1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4400" dirty="0">
                    <a:solidFill>
                      <a:schemeClr val="tx1"/>
                    </a:solidFill>
                  </a:rPr>
                  <a:t> V = V 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4400" dirty="0">
                    <a:solidFill>
                      <a:schemeClr val="tx1"/>
                    </a:solidFill>
                  </a:rPr>
                  <a:t>F </a:t>
                </a:r>
                <a14:m>
                  <m:oMath xmlns:m="http://schemas.openxmlformats.org/officeDocument/2006/math">
                    <m:r>
                      <a:rPr lang="pt-BR" altLang="pt-BR" sz="4400" b="1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4400" dirty="0">
                    <a:solidFill>
                      <a:schemeClr val="tx1"/>
                    </a:solidFill>
                  </a:rPr>
                  <a:t> F = V 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4400" dirty="0">
                    <a:solidFill>
                      <a:schemeClr val="tx1"/>
                    </a:solidFill>
                  </a:rPr>
                  <a:t>V </a:t>
                </a:r>
                <a14:m>
                  <m:oMath xmlns:m="http://schemas.openxmlformats.org/officeDocument/2006/math">
                    <m:r>
                      <a:rPr lang="pt-BR" altLang="pt-BR" sz="4400" b="1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4400" dirty="0">
                    <a:solidFill>
                      <a:schemeClr val="tx1"/>
                    </a:solidFill>
                  </a:rPr>
                  <a:t> F = F 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pt-BR" altLang="pt-BR" sz="4400" dirty="0">
                    <a:solidFill>
                      <a:schemeClr val="tx1"/>
                    </a:solidFill>
                  </a:rPr>
                  <a:t>F </a:t>
                </a:r>
                <a14:m>
                  <m:oMath xmlns:m="http://schemas.openxmlformats.org/officeDocument/2006/math">
                    <m:r>
                      <a:rPr lang="pt-BR" altLang="pt-BR" sz="4400" b="1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pt-BR" altLang="pt-BR" sz="4400" dirty="0">
                    <a:solidFill>
                      <a:schemeClr val="tx1"/>
                    </a:solidFill>
                  </a:rPr>
                  <a:t> V = F </a:t>
                </a:r>
              </a:p>
            </p:txBody>
          </p:sp>
        </mc:Choice>
        <mc:Fallback xmlns="">
          <p:sp>
            <p:nvSpPr>
              <p:cNvPr id="47107" name="CaixaDeTexto 4">
                <a:extLst>
                  <a:ext uri="{FF2B5EF4-FFF2-40B4-BE49-F238E27FC236}">
                    <a16:creationId xmlns:a16="http://schemas.microsoft.com/office/drawing/2014/main" id="{D00588E9-6062-0D7D-93E1-9ED0F869C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752" y="2132856"/>
                <a:ext cx="3332857" cy="2800350"/>
              </a:xfrm>
              <a:prstGeom prst="rect">
                <a:avLst/>
              </a:prstGeom>
              <a:blipFill>
                <a:blip r:embed="rId2"/>
                <a:stretch>
                  <a:fillRect l="-7495" t="-4575" b="-95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aixaDeTexto 4">
            <a:extLst>
              <a:ext uri="{FF2B5EF4-FFF2-40B4-BE49-F238E27FC236}">
                <a16:creationId xmlns:a16="http://schemas.microsoft.com/office/drawing/2014/main" id="{15C399B9-DE96-50F4-48C3-5EF162AD2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493713"/>
            <a:ext cx="11449050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 dirty="0">
                <a:solidFill>
                  <a:schemeClr val="tx1"/>
                </a:solidFill>
              </a:rPr>
              <a:t>TABELA VERDADE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rgbClr val="0033CC"/>
                </a:solidFill>
              </a:rPr>
              <a:t>As tabelas verdade mostram como determinamos o valor de verdade de sentenças formadas com os operadores da lógica vistos anteriormente.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rgbClr val="0033CC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solidFill>
                  <a:schemeClr val="tx1"/>
                </a:solidFill>
              </a:rPr>
              <a:t> </a:t>
            </a:r>
            <a:r>
              <a:rPr lang="pt-BR" altLang="pt-BR" sz="2800" b="1" dirty="0">
                <a:solidFill>
                  <a:srgbClr val="7030A0"/>
                </a:solidFill>
              </a:rPr>
              <a:t>As tabelas de verdade exprimem o significado dos operadores relevantes para a lógica proposicional clássica. São representadas por tabelas, como o próprio nome já diz, onde, no lado esquerdo da tabela de verdade, temos as sentenças a partir das quais a sentença composta foi formada 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aixaDeTexto 4">
            <a:extLst>
              <a:ext uri="{FF2B5EF4-FFF2-40B4-BE49-F238E27FC236}">
                <a16:creationId xmlns:a16="http://schemas.microsoft.com/office/drawing/2014/main" id="{5F18EC5A-6D0E-5A14-A655-CCD64EA54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88641"/>
            <a:ext cx="11809312" cy="704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A construção de uma tabela verdade envolve os operadores apresentados anteriormente e a combinação de várias proposições simples, que, por sua vez, tornam-se uma única proposição composta.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200" b="1" dirty="0">
                <a:solidFill>
                  <a:srgbClr val="7030A0"/>
                </a:solidFill>
              </a:rPr>
              <a:t>Desta forma, é possível construir a tabela verdade para qualquer proposição composta usando os operadores lógicos.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pt-BR" altLang="pt-BR" sz="3200" b="1" dirty="0">
                <a:solidFill>
                  <a:schemeClr val="tx1"/>
                </a:solidFill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pt-BR" altLang="pt-BR" sz="3600" b="1" dirty="0">
                <a:solidFill>
                  <a:srgbClr val="002060"/>
                </a:solidFill>
              </a:rPr>
              <a:t>O </a:t>
            </a:r>
            <a:r>
              <a:rPr lang="pt-BR" altLang="pt-BR" sz="3200" b="1" dirty="0">
                <a:solidFill>
                  <a:srgbClr val="002060"/>
                </a:solidFill>
              </a:rPr>
              <a:t>resultado de uma proposição composta será verdadeiro (V) ou falso (F).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pt-BR" altLang="pt-BR" sz="3200" b="1" dirty="0">
                <a:solidFill>
                  <a:srgbClr val="0033CC"/>
                </a:solidFill>
              </a:rPr>
              <a:t> O número de linhas da tabela verdade de uma proposição composta depende do número de proposições simples.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510639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000" b="0" i="0" dirty="0">
                <a:solidFill>
                  <a:srgbClr val="404040"/>
                </a:solidFill>
                <a:effectLst/>
                <a:latin typeface="Roboto"/>
              </a:rPr>
              <a:t>Em uma tabela verdade, o número de linhas e de colunas dependerá da quantidade de proposições simples que formam a proposição composta, sendo que em cada coluna é colocada uma proposição.</a:t>
            </a:r>
            <a:endParaRPr lang="pt-BR" sz="3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827" y="1987967"/>
            <a:ext cx="7052346" cy="456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3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F7EB489-7D2F-9BD5-F6A9-61E645B85EEE}"/>
                  </a:ext>
                </a:extLst>
              </p:cNvPr>
              <p:cNvSpPr txBox="1"/>
              <p:nvPr/>
            </p:nvSpPr>
            <p:spPr>
              <a:xfrm>
                <a:off x="623888" y="333375"/>
                <a:ext cx="11568112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pt-BR" sz="3600" b="1" dirty="0">
                    <a:latin typeface="+mn-lt"/>
                  </a:rPr>
                  <a:t>EXERCÍCIO</a:t>
                </a:r>
                <a:r>
                  <a:rPr lang="pt-BR" sz="3600" dirty="0">
                    <a:latin typeface="+mn-lt"/>
                  </a:rPr>
                  <a:t>: CONSTRUA A TABELA VERDADE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sz="3600" dirty="0"/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pt-BR" sz="3600" dirty="0">
                    <a:latin typeface="+mn-lt"/>
                  </a:rPr>
                  <a:t> 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pt-BR" sz="3600" dirty="0">
                    <a:latin typeface="+mn-lt"/>
                  </a:rPr>
                  <a:t>A) ~(p ^ ~q) 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sz="3600" dirty="0"/>
              </a:p>
              <a:p>
                <a:pPr>
                  <a:defRPr/>
                </a:pPr>
                <a:r>
                  <a:rPr lang="pt-BR" sz="3600" dirty="0">
                    <a:latin typeface="+mn-lt"/>
                  </a:rPr>
                  <a:t>B) (p v ~t) </a:t>
                </a:r>
                <a14:m>
                  <m:oMath xmlns:m="http://schemas.openxmlformats.org/officeDocument/2006/math">
                    <m:r>
                      <a:rPr lang="pt-BR" altLang="pt-BR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sz="3600" dirty="0">
                    <a:latin typeface="+mn-lt"/>
                  </a:rPr>
                  <a:t> (q ^ ~t)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F7EB489-7D2F-9BD5-F6A9-61E645B85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88" y="333375"/>
                <a:ext cx="11568112" cy="3416320"/>
              </a:xfrm>
              <a:prstGeom prst="rect">
                <a:avLst/>
              </a:prstGeom>
              <a:blipFill>
                <a:blip r:embed="rId2"/>
                <a:stretch>
                  <a:fillRect l="-1581" t="-2857" b="-58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0CA85FC-C404-6B6D-A7B5-A3460A2E1F4D}"/>
                  </a:ext>
                </a:extLst>
              </p:cNvPr>
              <p:cNvSpPr txBox="1"/>
              <p:nvPr/>
            </p:nvSpPr>
            <p:spPr>
              <a:xfrm>
                <a:off x="479376" y="4293096"/>
                <a:ext cx="10009112" cy="1421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altLang="pt-BR" sz="2800" b="1" dirty="0">
                    <a:solidFill>
                      <a:schemeClr val="tx1"/>
                    </a:solidFill>
                  </a:rPr>
                  <a:t>OBSERVAÇÃO: a tabela verdade de uma proposição composta representada por n proposições simples possui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
                        <a:fld id="{825F15A7-03F4-43D7-82C5-3E23DA2F108C}" type="mathplaceholder">
                          <a:rPr lang="pt-BR" alt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a:t>Digite a equação aqui.</a:t>
                        </a:fld>
                      </m:t>
                    </m:r>
                  </m:oMath>
                </a14:m>
                <a:r>
                  <a:rPr lang="pt-BR" altLang="pt-BR" sz="2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pt-BR" altLang="pt-BR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pt-BR" altLang="pt-BR" sz="2800" b="1" dirty="0">
                    <a:solidFill>
                      <a:schemeClr val="tx1"/>
                    </a:solidFill>
                  </a:rPr>
                  <a:t> linhas.</a:t>
                </a:r>
                <a:endParaRPr lang="pt-BR" sz="2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0CA85FC-C404-6B6D-A7B5-A3460A2E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4293096"/>
                <a:ext cx="10009112" cy="1421864"/>
              </a:xfrm>
              <a:prstGeom prst="rect">
                <a:avLst/>
              </a:prstGeom>
              <a:blipFill>
                <a:blip r:embed="rId3"/>
                <a:stretch>
                  <a:fillRect l="-1279" t="-4292" b="-85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5589</TotalTime>
  <Words>1718</Words>
  <Application>Microsoft Office PowerPoint</Application>
  <PresentationFormat>Widescreen</PresentationFormat>
  <Paragraphs>158</Paragraphs>
  <Slides>26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 Math</vt:lpstr>
      <vt:lpstr>Century Gothic</vt:lpstr>
      <vt:lpstr>Roboto</vt:lpstr>
      <vt:lpstr>Wingdings 3</vt:lpstr>
      <vt:lpstr>Cacho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Instituto de Matematica</dc:creator>
  <cp:lastModifiedBy>Carlos Neto</cp:lastModifiedBy>
  <cp:revision>185</cp:revision>
  <dcterms:created xsi:type="dcterms:W3CDTF">2002-07-25T12:58:08Z</dcterms:created>
  <dcterms:modified xsi:type="dcterms:W3CDTF">2026-09-24T19:59:17Z</dcterms:modified>
</cp:coreProperties>
</file>